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발표는 소액 전자상거래 사기 피해자가 형사 신고 이후 배상명령과 별도 민사 절차, 강제집행 사이에서 겪을 수 있는 반복 입력과 절차 확인 부담을 줄이는 제품 가설을 다룹니다. 첫째 접수와 추적 단계에서 피해 사실과 증거를 한 번 입력합니다. 사용자가 붙여넣은 공식 통지에서 사건번호와 기관, 일정을 추출해 원문과 나란히 보여주고 사용자가 직접 확인합니다. 둘째 증거와 서류 준비 단계에서 원본을 보존하고 추출 결과를 직접 검토합니다. 셋째 배상명령 또는 별도 민사 준비 단계에서 현재 절차에 맞는 준비 화면을 제시합니다. 넷째 강제집행 관리 단계에서 집행권원 이후 재산명시, 압류와 추심 절차를 추적합니다. 이 여정이 실제 절차 이탈을 줄인다는 주장은 아직 검증되지 않았고, 대표성 있는 사용자 조사 결과도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가상 사용자 김민우는 중고거래 플랫폼에서 45만 원을 송금한 뒤 판매자와 연락이 끊겼습니다. 손에 남은 자료는 대화 캡처, 이체확인증, 판매자 전화번호와 계좌번호입니다. ECRM에서는 신고자료를 사전 작성할 수 있고 공식 안내상 원칙적으로 경찰서 출석과 진술이 필요합니다. 다수 피해 사이버사기에서 다른 피해자의 방문 진술이 확인되는 등 안내된 예외에는 출석 없이 수사가 진행될 수 있지만 담당 수사관이 다시 출석을 요구할 수 있습니다. 이후 공식 통지를 받고 배상명령과 별도 민사 절차, 강제집행을 검토하는 흐름을 가정합니다. 이 시나리오는 실제 피해자 행동을 입증한 조사 결과가 아니라 제품 화면과 절차 확인 부담을 설명하기 위한 가상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서비스의 전체 흐름은 네 단계입니다. 접수와 추적에서는 피해 사실과 증거를 한 번 입력하고, 사용자가 붙여넣은 공식 통지에서 사건번호와 기관, 일정 후보를 원문과 나란히 보여줍니다. 증거와 서류 준비에서는 원본과 파생 데이터를 분리하고 추출 결과를 사용자가 직접 승인합니다. 배상명령과 별도 민사 준비에서는 형사공판 계속 여부와 법정 요건을 확인해 서로 다른 준비 화면을 보여줍니다. 화면 전환은 법률 절차의 자동 이관이 아니라 확인된 데이터의 재사용입니다. 강제집행에서는 집행권원의 종류와 확인된 재산에 따라 조건부 경로를 표시합니다. 제품은 공공기관과의 직접 API 연동이나 자동 제출을 전제로 하지 않으며 로그인, 본인인증과 최종 제출은 사용자가 수행합니다.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단계의 목적은 피해 정보의 파편화와 중복 입력을 줄이는 것입니다. 사용자는 거래 플랫폼, 결제 수단, 피해 금액과 입금 일시를 한 화면에서 입력합니다. 상대방 계좌번호와 전화번호, 대화 캡처와 이체확인증도 직접 업로드합니다. 입력 화면은 각 항목을 범주별로 구분하고 필수와 선택을 표시합니다. 입력한 사실은 하나의 사건 카드가 되어 배상명령과 별도 민사 준비, 강제집행 단계에서 다시 사용됩니다. 사용자가 공식 통지를 붙여넣으면 사건번호와 기관, 담당 부서와 날짜의 추출 후보를 원문 옆에 보여줍니다. 각 필드는 원문과 일치, 수정 필요, 확인 보류 중 하나로 승인합니다. 제품은 입력 사실을 구조화할 뿐 편취 고의나 사기죄 성립 여부를 단정하지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증거 Dossier에서는 원본 저장 영역과 추출 영역을 분리합니다. 대화 캡처와 이체확인증이 들어오면 원본은 변경하지 않고 입고 시점의 SHA-256 값을 기록합니다. 추출은 계좌번호와 금액, 날짜와 인명을 대상으로 하며 원본 이미지의 해당 영역과 나란히 보여줍니다. 사용자는 모든 핵심 필드를 대조하고 직접 승인해야 다음 단계로 진행합니다. 서로 다른 자료의 날짜나 금액이 충돌하면 하나로 합치거나 임의로 선택하지 않고 불일치 상태로 유지합니다. 증거 패킷은 원본 목록, 승인된 텍스트, 시간순 사실표, 미확인 항목과 제출 준비 사본으로 구성합니다. 제품은 완성된 개별 고소장이나 소장을 자율 작성하지 않습니다. 해시와 계보 관리는 시스템 입고 이후의 변경 탐지에 한정되며 원본 진정성이나 법정 증거능력을 자동으로 입증하지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메시지 분석기의 핵심은 사용자 붙여넣기와 명시적 확인입니다. 화면 왼쪽에는 경찰, 검찰 또는 법원의 통지 원문을 그대로 표시하고 오른쪽에는 기관명, 사건번호, 담당 재판부, 날짜와 현재 단계 후보를 배치합니다. 각 필드는 원문과 일치, 수정 필요, 확인 보류 중 하나로만 선택할 수 있고 미승인 상태이면 다음 단계로 진행하지 않습니다. 원문에 없는 사건번호나 법원명이 타임라인에 반영될 위험을 낮추기 위한 제품 안전장치이며, 그 효과는 아직 검증되지 않았습니다. 공공 전산망에 접속하지 않는다는 문장은 외부 API가 존재하지 않는다는 사실 주장이 아니라 본 제품의 설계 범위 선언입니다. S018은 이번 감사에서 웹방화벽으로 본문 확인이 불가능했으므로 API 존재나 자동제출 가능성의 근거로 사용하지 않습니다. 제품은 사용자가 붙여넣은 내용만 처리합니다.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증거 정리 이후 제품은 두 준비 경로를 구분합니다. 형법상 사기죄 등 대상 범죄의 제1심 또는 제2심 형사공판이 계속 중이면 Track A에서 배상명령 신청 시기와 범위를 확인합니다. 별도 민사 절차가 필요하면 Track B에서 지급명령 또는 소액사건 준비 정보를 보여줍니다. 이는 적용 경로를 자동 결정하거나 법률 절차를 자동 이관하는 기능이 아닙니다. 사용자가 이미 확인한 사실과 증거를 다른 준비 화면에서 다시 활용하는 데이터 재사용입니다. 두 트랙 모두 Stage 1과 2에서 승인한 피해 사실과 증거 패킷을 표시하고, 각 절차에 추가로 필요한 필드만 보완하게 합니다. 사건별 판단과 신청서 최종 작성, 제출은 사용자 또는 자격 있는 전문가가 수행합니다.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A의 핵심은 배상명령 신청 시기와 신청 범위, B3002의 정확한 성격입니다. 형법상 사기죄 등 법정 대상 범죄에 관한 제1심 또는 제2심 형사공판이 계속 중이면 그 심급의 변론종결 전까지 신청할 수 있습니다. 같은 피해에 관한 민사 손해배상청구가 다른 법원에 계속 중이면 중복 신청할 수 없습니다. 피해자 인적사항이나 피해금액이 불명확하거나 책임 범위가 명백하지 않은 경우 등에는 법원이 신청을 각하할 수 있습니다. 대법원 예규 제3조가 B3002를 전산양식 번호로 확인하지만 S086은 양식 다운로드 링크가 아니라 예규 XML입니다. S087은 이번 감사에서 본문을 확인하지 못한 metadata-only 레코드이므로 현재 양식모음 화면, 검색 기능 또는 전자제출 가능성의 근거로 사용하지 않습니다. 사용자는 본문 확인이 가능한 공식 법원 창구나 관할 법원에서 최신 신청서와 사건별 제출 방법을 직접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B에서는 지급명령과 소액사건의 요건을 비교합니다. 지급명령은 일정한 금액의 지급청구에 이용할 수 있지만 대한민국에서 공시송달 외의 방법으로 송달할 수 있어야 합니다. 채무자가 지급명령을 송달받은 날부터 2주 이내에 적법하게 이의하면 그 범위에서 지급명령은 효력을 잃고 신청 시점에 소가 제기된 것으로 봅니다. 이의가 없거나 이의가 취하 또는 각하되어 확정된 지급명령만 확정판결과 같은 효력을 가집니다. 소액사건은 제소 당시 소송목적의 값이 3,000만 원을 초과하지 않는 금전 등의 지급을 목적으로 하는 제1심 민사사건입니다. 제품은 주소, 송달, 관할과 비용 정보를 제공하지만 지급명령 또는 소액사건 적용 여부를 자동 확정하지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경로 전환은 법률 절차의 자동 이관이 아니라 확인된 데이터의 재사용입니다. 배상명령 신청이 각하되거나 별도 민사 절차가 필요한 경우 Track B 준비 화면으로 이동할 수 있습니다. 다만 각하된 동일 배상신청은 다시 할 수 없습니다. 전환 버튼을 누르면 사건 카드의 피해 사실, 상대방 단서, 이체 내역과 증거 패킷을 유지한 채 다음 화면으로 이동합니다. 화면 상단에는 기존 확인 데이터 재사용 중 상태를 표시해 정보의 출처를 계속 확인할 수 있게 합니다. 제품은 소송을 자동화하거나 경로를 대신 결정하지 않습니다. 각 공공 절차의 적용 여부와 추가 입력, 문서 최종 작성과 제출은 사용자 또는 자격 있는 전문가에게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증거 패킷은 원본 파일과 식별 정보, 사용자가 확인한 OCR 텍스트, 시간순 사실표, 불일치와 미확인 항목, 제출 준비 사본으로 구성합니다. 서로 다른 자료에서 날짜나 금액이 충돌하면 하나로 합치지 않습니다. 사용자가 모든 핵심 필드를 원본과 대조하고 승인해야 내보낼 수 있습니다. SHA-256은 입고 이후 동일한 바이트열인지 비교하는 데 사용하며 작성자나 사건 관련성, 입고 전 진정성을 증명하지 않습니다. 일반 서버 수신시각은 RFC 3161 타임스탬프가 아닙니다. 신뢰할 수 있는 TSA가 발급한 토큰도 해당 메시지 임프린트가 genTime 이전에 존재했다는 점을 지원할 뿐 파일 생성시각이나 사건 발생시각을 증명하지 않습니다. PROV-O와 BagIt도 내용의 진실성이나 법정 증거능력을 보장하지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확정 지급명령, 집행력 있는 민사판결, 확정 또는 가집행 가능한 배상명령을 확보해도 피해금이 자동 지급되지는 않습니다. 채무자가 자발적으로 지급하지 않으면 별도 강제집행이 필요할 수 있습니다. 재산명시와 재산조회, 채권압류와 추심은 모든 사건에서 반드시 차례대로 거치는 고정 순서가 아닙니다. 이미 압류할 재산과 제3채무자를 알고 있다면 재산명시를 거치지 않고 해당 재산에 대한 집행을 검토할 수 있습니다. 재산조회는 재산명시 결과 부족이나 법정 불응 사유 등 제74조 요건을 확인해야 합니다. 압류금지채권과 생계비계좌 범위는 법률과 시행령, 채무자의 상황에 따라 달라지므로 제품은 특정 금액을 고정해 표시하지 않습니다. 대시보드는 회수 가능성을 예측하거나 보장하지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기능 범위는 적법성이 확정된 허용 영역이 아니라 위험을 낮추기 위한 보수적 제품정책입니다. 실제 운영형태에는 별도 법률검토가 필요합니다. 제품은 사용자 입력 사실의 기계적 구조화, 원본과 OCR 대조, 일반 절차와 공공 양식 안내로 범위를 제한합니다. 편취 고의나 사기 성립 단정, 승소와 회수 예측, 개별 완성 법률서면 작성, 공공기관 대리 제출은 금지합니다. 핵심 필드는 사용자가 직접 승인합니다. 개인정보 처리위탁은 제26조에 따른 문서화와 공개, 감독이 필요하지만 그 이유만으로 정보주체 동의가 항상 필요한 것은 아닙니다. 국외 이전은 제28조의8의 근거별 고지·동의·처리방침과 보호조치 요건을 구분해 충족해야 합니다. 삭제 요청도 즉시 파기와 같지 않으며 대상과 법정 예외를 확인한 뒤 조치와 결과 통지를 수행합니다.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구현은 보수적 경계를 먼저 정의하고, 실제 사용자 가치와 안전성을 단계적으로 검증합니다. Phase 0에서는 보수적 설계 범위, 사용자 확인과 금지 기능을 요구사항으로 고정하고 데이터 계약을 정합니다. Phase 1에서는 원본 보존, 입고 시점 해시, 한국어 OCR과 사용자 승인을 갖춘 증거 정리 MVP를 만듭니다. Phase 2에서는 공식 통지 붙여넣기, 사건 단계 타임라인, 두 준비 경로와 공공기관 Handoff를 구현합니다. Phase 3에서는 집행권원의 종류와 확인된 재산에 따른 조건부 경로를 관리합니다. Phase 4에서 법률 전문가의 기능 경계 검토와 피해자 사용성 검토, 오안내 사례 점검과 개인정보 감사를 수행합니다. Go/No-Go는 달성한 성과가 아니라 출시 전에 검증할 안전 조건이며, 단정 출력과 자동 제출 오인 문구가 0건이어야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연구의 제품 가설은 반복 입력과 절차 확인 부담을 줄이는 내비게이션이 피해자의 절차 수행을 지원할 수 있다는 것입니다. 형사 신고와 배상명령, 별도 민사 절차, 강제집행은 서로 다른 요건과 공식 창구를 가지므로 하나의 자동 절차로 합치지 않습니다. 사용자가 한 번 입력한 사건 정보와 증거를 다음 준비 화면에서 재사용하고, 공식 통지는 원문과 추출 결과를 나란히 제시해 직접 확인하게 합니다. 경로 전환은 법률 절차의 자동 이관이 아니라 확인된 데이터의 재사용입니다. 이 연구는 실제 절차 이탈 감소, 처리기간 단축, 승소 또는 회수율 개선을 입증하지 않았습니다. 102개 출처 레코드와 보충 근거 S103도 사용자 행동, 시장 수요 또는 제품 효과를 입증하지 않습니다. 다음 단계는 사용자 연구와 제한된 시범 운영입니다.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5F7"/>
        </a:solidFill>
      </p:bgPr>
    </p:bg>
    <p:spTree>
      <p:nvGrpSpPr>
        <p:cNvPr id="1" name=""/>
        <p:cNvGrpSpPr/>
        <p:nvPr/>
      </p:nvGrpSpPr>
      <p:grpSpPr>
        <a:xfrm>
          <a:off x="0" y="0"/>
          <a:ext cx="0" cy="0"/>
          <a:chOff x="0" y="0"/>
          <a:chExt cx="0" cy="0"/>
        </a:xfrm>
      </p:grpSpPr>
      <p:sp>
        <p:nvSpPr>
          <p:cNvPr id="2" name="Shape 0"/>
          <p:cNvSpPr/>
          <p:nvPr/>
        </p:nvSpPr>
        <p:spPr>
          <a:xfrm>
            <a:off x="594360" y="6437376"/>
            <a:ext cx="11000232" cy="0"/>
          </a:xfrm>
          <a:prstGeom prst="line">
            <a:avLst/>
          </a:prstGeom>
          <a:noFill/>
          <a:ln w="7620">
            <a:solidFill>
              <a:srgbClr val="D2D2D7"/>
            </a:solidFill>
            <a:prstDash val="solid"/>
          </a:ln>
        </p:spPr>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2997FF"/>
                </a:solidFill>
                <a:latin typeface="Noto Sans CJK KR" pitchFamily="34" charset="0"/>
                <a:ea typeface="Noto Sans CJK KR" pitchFamily="34" charset="-122"/>
                <a:cs typeface="Noto Sans CJK KR" pitchFamily="34" charset="-120"/>
              </a:rPr>
              <a:t>소액 전자상거래 사기 피해자를 위한</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Noto Sans CJK KR" pitchFamily="34" charset="0"/>
                <a:ea typeface="Noto Sans CJK KR" pitchFamily="34" charset="-122"/>
                <a:cs typeface="Noto Sans CJK KR" pitchFamily="34" charset="-120"/>
              </a:rPr>
              <a:t>사용자 통제형 AI 절차 내비게이터</a:t>
            </a:r>
            <a:endParaRPr lang="en-US" sz="30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D2D2D7"/>
                </a:solidFill>
                <a:latin typeface="Noto Sans CJK KR" pitchFamily="34" charset="0"/>
                <a:ea typeface="Noto Sans CJK KR" pitchFamily="34" charset="-122"/>
                <a:cs typeface="Noto Sans CJK KR" pitchFamily="34" charset="-120"/>
              </a:rPr>
              <a:t>형사 신고부터 강제집행까지 다음 행동을 확인하도록 설계합니다.</a:t>
            </a:r>
            <a:endParaRPr lang="en-US" sz="1750" dirty="0"/>
          </a:p>
        </p:txBody>
      </p:sp>
      <p:sp>
        <p:nvSpPr>
          <p:cNvPr id="5" name="Shape 3"/>
          <p:cNvSpPr/>
          <p:nvPr/>
        </p:nvSpPr>
        <p:spPr>
          <a:xfrm>
            <a:off x="594360" y="2331720"/>
            <a:ext cx="3532632" cy="1078992"/>
          </a:xfrm>
          <a:prstGeom prst="roundRect">
            <a:avLst>
              <a:gd name="adj" fmla="val 10169"/>
            </a:avLst>
          </a:prstGeom>
          <a:solidFill>
            <a:srgbClr val="171719"/>
          </a:solidFill>
          <a:ln w="8890">
            <a:solidFill>
              <a:srgbClr val="333336"/>
            </a:solidFill>
            <a:prstDash val="solid"/>
          </a:ln>
        </p:spPr>
      </p:sp>
      <p:sp>
        <p:nvSpPr>
          <p:cNvPr id="6" name="Text 4"/>
          <p:cNvSpPr/>
          <p:nvPr/>
        </p:nvSpPr>
        <p:spPr>
          <a:xfrm>
            <a:off x="7589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01</a:t>
            </a:r>
            <a:endParaRPr lang="en-US" sz="900" dirty="0"/>
          </a:p>
        </p:txBody>
      </p:sp>
      <p:sp>
        <p:nvSpPr>
          <p:cNvPr id="7" name="Text 5"/>
          <p:cNvSpPr/>
          <p:nvPr/>
        </p:nvSpPr>
        <p:spPr>
          <a:xfrm>
            <a:off x="7589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FFFFFF"/>
                </a:solidFill>
                <a:latin typeface="Noto Sans CJK KR" pitchFamily="34" charset="0"/>
                <a:ea typeface="Noto Sans CJK KR" pitchFamily="34" charset="-122"/>
                <a:cs typeface="Noto Sans CJK KR" pitchFamily="34" charset="-120"/>
              </a:rPr>
              <a:t>피해 사실과 증거를 한 번만 입력합니다</a:t>
            </a:r>
            <a:endParaRPr lang="en-US" sz="1250" dirty="0"/>
          </a:p>
        </p:txBody>
      </p:sp>
      <p:sp>
        <p:nvSpPr>
          <p:cNvPr id="8" name="Shape 6"/>
          <p:cNvSpPr/>
          <p:nvPr/>
        </p:nvSpPr>
        <p:spPr>
          <a:xfrm>
            <a:off x="4328160" y="2331720"/>
            <a:ext cx="3532632" cy="1078992"/>
          </a:xfrm>
          <a:prstGeom prst="roundRect">
            <a:avLst>
              <a:gd name="adj" fmla="val 10169"/>
            </a:avLst>
          </a:prstGeom>
          <a:solidFill>
            <a:srgbClr val="171719"/>
          </a:solidFill>
          <a:ln w="8890">
            <a:solidFill>
              <a:srgbClr val="333336"/>
            </a:solidFill>
            <a:prstDash val="solid"/>
          </a:ln>
        </p:spPr>
      </p:sp>
      <p:sp>
        <p:nvSpPr>
          <p:cNvPr id="9" name="Text 7"/>
          <p:cNvSpPr/>
          <p:nvPr/>
        </p:nvSpPr>
        <p:spPr>
          <a:xfrm>
            <a:off x="44927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02</a:t>
            </a:r>
            <a:endParaRPr lang="en-US" sz="900" dirty="0"/>
          </a:p>
        </p:txBody>
      </p:sp>
      <p:sp>
        <p:nvSpPr>
          <p:cNvPr id="10" name="Text 8"/>
          <p:cNvSpPr/>
          <p:nvPr/>
        </p:nvSpPr>
        <p:spPr>
          <a:xfrm>
            <a:off x="44927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FFFFFF"/>
                </a:solidFill>
                <a:latin typeface="Noto Sans CJK KR" pitchFamily="34" charset="0"/>
                <a:ea typeface="Noto Sans CJK KR" pitchFamily="34" charset="-122"/>
                <a:cs typeface="Noto Sans CJK KR" pitchFamily="34" charset="-120"/>
              </a:rPr>
              <a:t>배상명령·민사·집행 준비를 함께 추적합니다</a:t>
            </a:r>
            <a:endParaRPr lang="en-US" sz="1250" dirty="0"/>
          </a:p>
        </p:txBody>
      </p:sp>
      <p:sp>
        <p:nvSpPr>
          <p:cNvPr id="11" name="Shape 9"/>
          <p:cNvSpPr/>
          <p:nvPr/>
        </p:nvSpPr>
        <p:spPr>
          <a:xfrm>
            <a:off x="8061960" y="2331720"/>
            <a:ext cx="3532632" cy="1078992"/>
          </a:xfrm>
          <a:prstGeom prst="roundRect">
            <a:avLst>
              <a:gd name="adj" fmla="val 10169"/>
            </a:avLst>
          </a:prstGeom>
          <a:solidFill>
            <a:srgbClr val="171719"/>
          </a:solidFill>
          <a:ln w="8890">
            <a:solidFill>
              <a:srgbClr val="333336"/>
            </a:solidFill>
            <a:prstDash val="solid"/>
          </a:ln>
        </p:spPr>
      </p:sp>
      <p:sp>
        <p:nvSpPr>
          <p:cNvPr id="12" name="Text 10"/>
          <p:cNvSpPr/>
          <p:nvPr/>
        </p:nvSpPr>
        <p:spPr>
          <a:xfrm>
            <a:off x="82265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03</a:t>
            </a:r>
            <a:endParaRPr lang="en-US" sz="900" dirty="0"/>
          </a:p>
        </p:txBody>
      </p:sp>
      <p:sp>
        <p:nvSpPr>
          <p:cNvPr id="13" name="Text 11"/>
          <p:cNvSpPr/>
          <p:nvPr/>
        </p:nvSpPr>
        <p:spPr>
          <a:xfrm>
            <a:off x="82265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FFFFFF"/>
                </a:solidFill>
                <a:latin typeface="Noto Sans CJK KR" pitchFamily="34" charset="0"/>
                <a:ea typeface="Noto Sans CJK KR" pitchFamily="34" charset="-122"/>
                <a:cs typeface="Noto Sans CJK KR" pitchFamily="34" charset="-120"/>
              </a:rPr>
              <a:t>사용자가 판단하고 제품이 정리합니다</a:t>
            </a:r>
            <a:endParaRPr lang="en-US" sz="1250" dirty="0"/>
          </a:p>
        </p:txBody>
      </p:sp>
      <p:sp>
        <p:nvSpPr>
          <p:cNvPr id="14" name="Shape 12"/>
          <p:cNvSpPr/>
          <p:nvPr/>
        </p:nvSpPr>
        <p:spPr>
          <a:xfrm>
            <a:off x="1097280" y="4352544"/>
            <a:ext cx="10003536" cy="0"/>
          </a:xfrm>
          <a:prstGeom prst="line">
            <a:avLst/>
          </a:prstGeom>
          <a:noFill/>
          <a:ln w="38100">
            <a:solidFill>
              <a:srgbClr val="2997FF"/>
            </a:solidFill>
            <a:prstDash val="solid"/>
          </a:ln>
        </p:spPr>
      </p:sp>
      <p:sp>
        <p:nvSpPr>
          <p:cNvPr id="15" name="Shape 13"/>
          <p:cNvSpPr/>
          <p:nvPr/>
        </p:nvSpPr>
        <p:spPr>
          <a:xfrm>
            <a:off x="905256" y="4178808"/>
            <a:ext cx="347472" cy="347472"/>
          </a:xfrm>
          <a:prstGeom prst="ellipse">
            <a:avLst/>
          </a:prstGeom>
          <a:solidFill>
            <a:srgbClr val="2997FF"/>
          </a:solidFill>
          <a:ln w="12700">
            <a:solidFill>
              <a:srgbClr val="2997FF"/>
            </a:solidFill>
            <a:prstDash val="solid"/>
          </a:ln>
        </p:spPr>
      </p:sp>
      <p:sp>
        <p:nvSpPr>
          <p:cNvPr id="16" name="Text 14"/>
          <p:cNvSpPr/>
          <p:nvPr/>
        </p:nvSpPr>
        <p:spPr>
          <a:xfrm>
            <a:off x="90525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1</a:t>
            </a:r>
            <a:endParaRPr lang="en-US" sz="1000" dirty="0"/>
          </a:p>
        </p:txBody>
      </p:sp>
      <p:sp>
        <p:nvSpPr>
          <p:cNvPr id="17" name="Text 15"/>
          <p:cNvSpPr/>
          <p:nvPr/>
        </p:nvSpPr>
        <p:spPr>
          <a:xfrm>
            <a:off x="74980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Noto Sans CJK KR" pitchFamily="34" charset="0"/>
                <a:ea typeface="Noto Sans CJK KR" pitchFamily="34" charset="-122"/>
                <a:cs typeface="Noto Sans CJK KR" pitchFamily="34" charset="-120"/>
              </a:rPr>
              <a:t>접수·추적</a:t>
            </a:r>
            <a:endParaRPr lang="en-US" sz="1050" dirty="0"/>
          </a:p>
        </p:txBody>
      </p:sp>
      <p:sp>
        <p:nvSpPr>
          <p:cNvPr id="18" name="Shape 16"/>
          <p:cNvSpPr/>
          <p:nvPr/>
        </p:nvSpPr>
        <p:spPr>
          <a:xfrm>
            <a:off x="3602736" y="4178808"/>
            <a:ext cx="347472" cy="347472"/>
          </a:xfrm>
          <a:prstGeom prst="ellipse">
            <a:avLst/>
          </a:prstGeom>
          <a:solidFill>
            <a:srgbClr val="2997FF"/>
          </a:solidFill>
          <a:ln w="12700">
            <a:solidFill>
              <a:srgbClr val="2997FF"/>
            </a:solidFill>
            <a:prstDash val="solid"/>
          </a:ln>
        </p:spPr>
      </p:sp>
      <p:sp>
        <p:nvSpPr>
          <p:cNvPr id="19" name="Text 17"/>
          <p:cNvSpPr/>
          <p:nvPr/>
        </p:nvSpPr>
        <p:spPr>
          <a:xfrm>
            <a:off x="360273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2</a:t>
            </a:r>
            <a:endParaRPr lang="en-US" sz="1000" dirty="0"/>
          </a:p>
        </p:txBody>
      </p:sp>
      <p:sp>
        <p:nvSpPr>
          <p:cNvPr id="20" name="Text 18"/>
          <p:cNvSpPr/>
          <p:nvPr/>
        </p:nvSpPr>
        <p:spPr>
          <a:xfrm>
            <a:off x="344728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Noto Sans CJK KR" pitchFamily="34" charset="0"/>
                <a:ea typeface="Noto Sans CJK KR" pitchFamily="34" charset="-122"/>
                <a:cs typeface="Noto Sans CJK KR" pitchFamily="34" charset="-120"/>
              </a:rPr>
              <a:t>증거·서류 준비</a:t>
            </a:r>
            <a:endParaRPr lang="en-US" sz="1050" dirty="0"/>
          </a:p>
        </p:txBody>
      </p:sp>
      <p:sp>
        <p:nvSpPr>
          <p:cNvPr id="21" name="Shape 19"/>
          <p:cNvSpPr/>
          <p:nvPr/>
        </p:nvSpPr>
        <p:spPr>
          <a:xfrm>
            <a:off x="6300216" y="4178808"/>
            <a:ext cx="347472" cy="347472"/>
          </a:xfrm>
          <a:prstGeom prst="ellipse">
            <a:avLst/>
          </a:prstGeom>
          <a:solidFill>
            <a:srgbClr val="2997FF"/>
          </a:solidFill>
          <a:ln w="12700">
            <a:solidFill>
              <a:srgbClr val="2997FF"/>
            </a:solidFill>
            <a:prstDash val="solid"/>
          </a:ln>
        </p:spPr>
      </p:sp>
      <p:sp>
        <p:nvSpPr>
          <p:cNvPr id="22" name="Text 20"/>
          <p:cNvSpPr/>
          <p:nvPr/>
        </p:nvSpPr>
        <p:spPr>
          <a:xfrm>
            <a:off x="630021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3</a:t>
            </a:r>
            <a:endParaRPr lang="en-US" sz="1000" dirty="0"/>
          </a:p>
        </p:txBody>
      </p:sp>
      <p:sp>
        <p:nvSpPr>
          <p:cNvPr id="23" name="Text 21"/>
          <p:cNvSpPr/>
          <p:nvPr/>
        </p:nvSpPr>
        <p:spPr>
          <a:xfrm>
            <a:off x="614476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Noto Sans CJK KR" pitchFamily="34" charset="0"/>
                <a:ea typeface="Noto Sans CJK KR" pitchFamily="34" charset="-122"/>
                <a:cs typeface="Noto Sans CJK KR" pitchFamily="34" charset="-120"/>
              </a:rPr>
              <a:t>배상명령·별도 민사 준비</a:t>
            </a:r>
            <a:endParaRPr lang="en-US" sz="1050" dirty="0"/>
          </a:p>
        </p:txBody>
      </p:sp>
      <p:sp>
        <p:nvSpPr>
          <p:cNvPr id="24" name="Shape 22"/>
          <p:cNvSpPr/>
          <p:nvPr/>
        </p:nvSpPr>
        <p:spPr>
          <a:xfrm>
            <a:off x="8997696" y="4178808"/>
            <a:ext cx="347472" cy="347472"/>
          </a:xfrm>
          <a:prstGeom prst="ellipse">
            <a:avLst/>
          </a:prstGeom>
          <a:solidFill>
            <a:srgbClr val="2997FF"/>
          </a:solidFill>
          <a:ln w="12700">
            <a:solidFill>
              <a:srgbClr val="2997FF"/>
            </a:solidFill>
            <a:prstDash val="solid"/>
          </a:ln>
        </p:spPr>
      </p:sp>
      <p:sp>
        <p:nvSpPr>
          <p:cNvPr id="25" name="Text 23"/>
          <p:cNvSpPr/>
          <p:nvPr/>
        </p:nvSpPr>
        <p:spPr>
          <a:xfrm>
            <a:off x="899769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4</a:t>
            </a:r>
            <a:endParaRPr lang="en-US" sz="1000" dirty="0"/>
          </a:p>
        </p:txBody>
      </p:sp>
      <p:sp>
        <p:nvSpPr>
          <p:cNvPr id="26" name="Text 24"/>
          <p:cNvSpPr/>
          <p:nvPr/>
        </p:nvSpPr>
        <p:spPr>
          <a:xfrm>
            <a:off x="884224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Noto Sans CJK KR" pitchFamily="34" charset="0"/>
                <a:ea typeface="Noto Sans CJK KR" pitchFamily="34" charset="-122"/>
                <a:cs typeface="Noto Sans CJK KR" pitchFamily="34" charset="-120"/>
              </a:rPr>
              <a:t>강제집행 관리</a:t>
            </a:r>
            <a:endParaRPr lang="en-US" sz="1050" dirty="0"/>
          </a:p>
        </p:txBody>
      </p:sp>
      <p:sp>
        <p:nvSpPr>
          <p:cNvPr id="27" name="Shape 25"/>
          <p:cNvSpPr/>
          <p:nvPr/>
        </p:nvSpPr>
        <p:spPr>
          <a:xfrm>
            <a:off x="594360" y="6345936"/>
            <a:ext cx="11000232" cy="0"/>
          </a:xfrm>
          <a:prstGeom prst="line">
            <a:avLst/>
          </a:prstGeom>
          <a:noFill/>
          <a:ln w="7620">
            <a:solidFill>
              <a:srgbClr val="333336"/>
            </a:solidFill>
            <a:prstDash val="solid"/>
          </a:ln>
        </p:spPr>
      </p:sp>
      <p:sp>
        <p:nvSpPr>
          <p:cNvPr id="28" name="Text 26"/>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S001</a:t>
            </a:r>
            <a:endParaRPr lang="en-US" sz="900" dirty="0"/>
          </a:p>
        </p:txBody>
      </p:sp>
      <p:sp>
        <p:nvSpPr>
          <p:cNvPr id="29" name="Text 27"/>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30" name="Text 28"/>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S002</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아직 검증되지 않은 제품 가설</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신고 이후에는 무엇을 해야 할까</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형사 신고 자체가 피해금의 자동 환급을 발생시키지는 않습니다.</a:t>
            </a:r>
            <a:endParaRPr lang="en-US" sz="1750" dirty="0"/>
          </a:p>
        </p:txBody>
      </p:sp>
      <p:sp>
        <p:nvSpPr>
          <p:cNvPr id="5" name="Shape 3"/>
          <p:cNvSpPr/>
          <p:nvPr/>
        </p:nvSpPr>
        <p:spPr>
          <a:xfrm>
            <a:off x="594360" y="2331720"/>
            <a:ext cx="3532632" cy="1078992"/>
          </a:xfrm>
          <a:prstGeom prst="roundRect">
            <a:avLst>
              <a:gd name="adj" fmla="val 10169"/>
            </a:avLst>
          </a:prstGeom>
          <a:solidFill>
            <a:srgbClr val="FFFFFF"/>
          </a:solidFill>
          <a:ln w="8890">
            <a:solidFill>
              <a:srgbClr val="D2D2D7"/>
            </a:solidFill>
            <a:prstDash val="solid"/>
          </a:ln>
        </p:spPr>
      </p:sp>
      <p:sp>
        <p:nvSpPr>
          <p:cNvPr id="6" name="Text 4"/>
          <p:cNvSpPr/>
          <p:nvPr/>
        </p:nvSpPr>
        <p:spPr>
          <a:xfrm>
            <a:off x="7589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01</a:t>
            </a:r>
            <a:endParaRPr lang="en-US" sz="900" dirty="0"/>
          </a:p>
        </p:txBody>
      </p:sp>
      <p:sp>
        <p:nvSpPr>
          <p:cNvPr id="7" name="Text 5"/>
          <p:cNvSpPr/>
          <p:nvPr/>
        </p:nvSpPr>
        <p:spPr>
          <a:xfrm>
            <a:off x="7589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1D1D1F"/>
                </a:solidFill>
                <a:latin typeface="Noto Sans CJK KR" pitchFamily="34" charset="0"/>
                <a:ea typeface="Noto Sans CJK KR" pitchFamily="34" charset="-122"/>
                <a:cs typeface="Noto Sans CJK KR" pitchFamily="34" charset="-120"/>
              </a:rPr>
              <a:t>가상 사례: 45만 원을 송금한 뒤 판매자가 연락을 끊었다고 가정합니다</a:t>
            </a:r>
            <a:endParaRPr lang="en-US" sz="1250" dirty="0"/>
          </a:p>
        </p:txBody>
      </p:sp>
      <p:sp>
        <p:nvSpPr>
          <p:cNvPr id="8" name="Shape 6"/>
          <p:cNvSpPr/>
          <p:nvPr/>
        </p:nvSpPr>
        <p:spPr>
          <a:xfrm>
            <a:off x="4328160" y="2331720"/>
            <a:ext cx="3532632" cy="1078992"/>
          </a:xfrm>
          <a:prstGeom prst="roundRect">
            <a:avLst>
              <a:gd name="adj" fmla="val 10169"/>
            </a:avLst>
          </a:prstGeom>
          <a:solidFill>
            <a:srgbClr val="FFFFFF"/>
          </a:solidFill>
          <a:ln w="8890">
            <a:solidFill>
              <a:srgbClr val="D2D2D7"/>
            </a:solidFill>
            <a:prstDash val="solid"/>
          </a:ln>
        </p:spPr>
      </p:sp>
      <p:sp>
        <p:nvSpPr>
          <p:cNvPr id="9" name="Text 7"/>
          <p:cNvSpPr/>
          <p:nvPr/>
        </p:nvSpPr>
        <p:spPr>
          <a:xfrm>
            <a:off x="44927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02</a:t>
            </a:r>
            <a:endParaRPr lang="en-US" sz="900" dirty="0"/>
          </a:p>
        </p:txBody>
      </p:sp>
      <p:sp>
        <p:nvSpPr>
          <p:cNvPr id="10" name="Text 8"/>
          <p:cNvSpPr/>
          <p:nvPr/>
        </p:nvSpPr>
        <p:spPr>
          <a:xfrm>
            <a:off x="44927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1D1D1F"/>
                </a:solidFill>
                <a:latin typeface="Noto Sans CJK KR" pitchFamily="34" charset="0"/>
                <a:ea typeface="Noto Sans CJK KR" pitchFamily="34" charset="-122"/>
                <a:cs typeface="Noto Sans CJK KR" pitchFamily="34" charset="-120"/>
              </a:rPr>
              <a:t>배상명령과 별도 민사 경로를 검토하는 흐름을 가정합니다</a:t>
            </a:r>
            <a:endParaRPr lang="en-US" sz="1250" dirty="0"/>
          </a:p>
        </p:txBody>
      </p:sp>
      <p:sp>
        <p:nvSpPr>
          <p:cNvPr id="11" name="Shape 9"/>
          <p:cNvSpPr/>
          <p:nvPr/>
        </p:nvSpPr>
        <p:spPr>
          <a:xfrm>
            <a:off x="8061960" y="2331720"/>
            <a:ext cx="3532632" cy="1078992"/>
          </a:xfrm>
          <a:prstGeom prst="roundRect">
            <a:avLst>
              <a:gd name="adj" fmla="val 10169"/>
            </a:avLst>
          </a:prstGeom>
          <a:solidFill>
            <a:srgbClr val="FFFFFF"/>
          </a:solidFill>
          <a:ln w="8890">
            <a:solidFill>
              <a:srgbClr val="D2D2D7"/>
            </a:solidFill>
            <a:prstDash val="solid"/>
          </a:ln>
        </p:spPr>
      </p:sp>
      <p:sp>
        <p:nvSpPr>
          <p:cNvPr id="12" name="Text 10"/>
          <p:cNvSpPr/>
          <p:nvPr/>
        </p:nvSpPr>
        <p:spPr>
          <a:xfrm>
            <a:off x="82265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03</a:t>
            </a:r>
            <a:endParaRPr lang="en-US" sz="900" dirty="0"/>
          </a:p>
        </p:txBody>
      </p:sp>
      <p:sp>
        <p:nvSpPr>
          <p:cNvPr id="13" name="Text 11"/>
          <p:cNvSpPr/>
          <p:nvPr/>
        </p:nvSpPr>
        <p:spPr>
          <a:xfrm>
            <a:off x="82265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1D1D1F"/>
                </a:solidFill>
                <a:latin typeface="Noto Sans CJK KR" pitchFamily="34" charset="0"/>
                <a:ea typeface="Noto Sans CJK KR" pitchFamily="34" charset="-122"/>
                <a:cs typeface="Noto Sans CJK KR" pitchFamily="34" charset="-120"/>
              </a:rPr>
              <a:t>집행권원 이후에도 별도 집행이 필요할 수 있다</a:t>
            </a:r>
            <a:endParaRPr lang="en-US" sz="1250" dirty="0"/>
          </a:p>
        </p:txBody>
      </p:sp>
      <p:sp>
        <p:nvSpPr>
          <p:cNvPr id="14" name="Shape 12"/>
          <p:cNvSpPr/>
          <p:nvPr/>
        </p:nvSpPr>
        <p:spPr>
          <a:xfrm>
            <a:off x="960120" y="3968496"/>
            <a:ext cx="10058400" cy="0"/>
          </a:xfrm>
          <a:prstGeom prst="line">
            <a:avLst/>
          </a:prstGeom>
          <a:noFill/>
          <a:ln w="27940">
            <a:solidFill>
              <a:srgbClr val="0071E3"/>
            </a:solidFill>
            <a:prstDash val="solid"/>
          </a:ln>
        </p:spPr>
      </p:sp>
      <p:sp>
        <p:nvSpPr>
          <p:cNvPr id="15" name="Shape 13"/>
          <p:cNvSpPr/>
          <p:nvPr/>
        </p:nvSpPr>
        <p:spPr>
          <a:xfrm>
            <a:off x="768096" y="3803904"/>
            <a:ext cx="329184" cy="329184"/>
          </a:xfrm>
          <a:prstGeom prst="ellipse">
            <a:avLst/>
          </a:prstGeom>
          <a:solidFill>
            <a:srgbClr val="0071E3"/>
          </a:solidFill>
          <a:ln w="12700">
            <a:solidFill>
              <a:srgbClr val="0071E3"/>
            </a:solidFill>
            <a:prstDash val="solid"/>
          </a:ln>
        </p:spPr>
      </p:sp>
      <p:sp>
        <p:nvSpPr>
          <p:cNvPr id="16" name="Text 14"/>
          <p:cNvSpPr/>
          <p:nvPr/>
        </p:nvSpPr>
        <p:spPr>
          <a:xfrm>
            <a:off x="329184" y="4261104"/>
            <a:ext cx="1207008" cy="45720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피해 발생</a:t>
            </a:r>
            <a:endParaRPr lang="en-US" sz="1100" dirty="0"/>
          </a:p>
        </p:txBody>
      </p:sp>
      <p:sp>
        <p:nvSpPr>
          <p:cNvPr id="17" name="Shape 15"/>
          <p:cNvSpPr/>
          <p:nvPr/>
        </p:nvSpPr>
        <p:spPr>
          <a:xfrm>
            <a:off x="2825496" y="3803904"/>
            <a:ext cx="329184" cy="329184"/>
          </a:xfrm>
          <a:prstGeom prst="ellipse">
            <a:avLst/>
          </a:prstGeom>
          <a:solidFill>
            <a:srgbClr val="FFFFFF"/>
          </a:solidFill>
          <a:ln w="12700">
            <a:solidFill>
              <a:srgbClr val="FFFFFF"/>
            </a:solidFill>
            <a:prstDash val="solid"/>
          </a:ln>
        </p:spPr>
      </p:sp>
      <p:sp>
        <p:nvSpPr>
          <p:cNvPr id="18" name="Shape 16"/>
          <p:cNvSpPr/>
          <p:nvPr/>
        </p:nvSpPr>
        <p:spPr>
          <a:xfrm>
            <a:off x="2898648" y="3877056"/>
            <a:ext cx="182880" cy="182880"/>
          </a:xfrm>
          <a:prstGeom prst="ellipse">
            <a:avLst/>
          </a:prstGeom>
          <a:solidFill>
            <a:srgbClr val="0071E3"/>
          </a:solidFill>
          <a:ln w="12700">
            <a:solidFill>
              <a:srgbClr val="0071E3"/>
            </a:solidFill>
            <a:prstDash val="solid"/>
          </a:ln>
        </p:spPr>
      </p:sp>
      <p:sp>
        <p:nvSpPr>
          <p:cNvPr id="19" name="Text 17"/>
          <p:cNvSpPr/>
          <p:nvPr/>
        </p:nvSpPr>
        <p:spPr>
          <a:xfrm>
            <a:off x="2386584" y="4261104"/>
            <a:ext cx="1207008" cy="45720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ECRM 사전 접수</a:t>
            </a:r>
            <a:endParaRPr lang="en-US" sz="1100" dirty="0"/>
          </a:p>
        </p:txBody>
      </p:sp>
      <p:sp>
        <p:nvSpPr>
          <p:cNvPr id="20" name="Shape 18"/>
          <p:cNvSpPr/>
          <p:nvPr/>
        </p:nvSpPr>
        <p:spPr>
          <a:xfrm>
            <a:off x="4882896" y="3803904"/>
            <a:ext cx="329184" cy="329184"/>
          </a:xfrm>
          <a:prstGeom prst="ellipse">
            <a:avLst/>
          </a:prstGeom>
          <a:solidFill>
            <a:srgbClr val="FFFFFF"/>
          </a:solidFill>
          <a:ln w="12700">
            <a:solidFill>
              <a:srgbClr val="FFFFFF"/>
            </a:solidFill>
            <a:prstDash val="solid"/>
          </a:ln>
        </p:spPr>
      </p:sp>
      <p:sp>
        <p:nvSpPr>
          <p:cNvPr id="21" name="Shape 19"/>
          <p:cNvSpPr/>
          <p:nvPr/>
        </p:nvSpPr>
        <p:spPr>
          <a:xfrm>
            <a:off x="4956048" y="3877056"/>
            <a:ext cx="182880" cy="182880"/>
          </a:xfrm>
          <a:prstGeom prst="ellipse">
            <a:avLst/>
          </a:prstGeom>
          <a:solidFill>
            <a:srgbClr val="0071E3"/>
          </a:solidFill>
          <a:ln w="12700">
            <a:solidFill>
              <a:srgbClr val="0071E3"/>
            </a:solidFill>
            <a:prstDash val="solid"/>
          </a:ln>
        </p:spPr>
      </p:sp>
      <p:sp>
        <p:nvSpPr>
          <p:cNvPr id="22" name="Text 20"/>
          <p:cNvSpPr/>
          <p:nvPr/>
        </p:nvSpPr>
        <p:spPr>
          <a:xfrm>
            <a:off x="4443984" y="4261104"/>
            <a:ext cx="1207008" cy="45720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공식 통지</a:t>
            </a:r>
            <a:endParaRPr lang="en-US" sz="1100" dirty="0"/>
          </a:p>
        </p:txBody>
      </p:sp>
      <p:sp>
        <p:nvSpPr>
          <p:cNvPr id="23" name="Shape 21"/>
          <p:cNvSpPr/>
          <p:nvPr/>
        </p:nvSpPr>
        <p:spPr>
          <a:xfrm>
            <a:off x="6940296" y="3803904"/>
            <a:ext cx="329184" cy="329184"/>
          </a:xfrm>
          <a:prstGeom prst="ellipse">
            <a:avLst/>
          </a:prstGeom>
          <a:solidFill>
            <a:srgbClr val="FFFFFF"/>
          </a:solidFill>
          <a:ln w="12700">
            <a:solidFill>
              <a:srgbClr val="FFFFFF"/>
            </a:solidFill>
            <a:prstDash val="solid"/>
          </a:ln>
        </p:spPr>
      </p:sp>
      <p:sp>
        <p:nvSpPr>
          <p:cNvPr id="24" name="Shape 22"/>
          <p:cNvSpPr/>
          <p:nvPr/>
        </p:nvSpPr>
        <p:spPr>
          <a:xfrm>
            <a:off x="7013448" y="3877056"/>
            <a:ext cx="182880" cy="182880"/>
          </a:xfrm>
          <a:prstGeom prst="ellipse">
            <a:avLst/>
          </a:prstGeom>
          <a:solidFill>
            <a:srgbClr val="0071E3"/>
          </a:solidFill>
          <a:ln w="12700">
            <a:solidFill>
              <a:srgbClr val="0071E3"/>
            </a:solidFill>
            <a:prstDash val="solid"/>
          </a:ln>
        </p:spPr>
      </p:sp>
      <p:sp>
        <p:nvSpPr>
          <p:cNvPr id="25" name="Text 23"/>
          <p:cNvSpPr/>
          <p:nvPr/>
        </p:nvSpPr>
        <p:spPr>
          <a:xfrm>
            <a:off x="6501384" y="4261104"/>
            <a:ext cx="1207008" cy="45720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배상명령 검토</a:t>
            </a:r>
            <a:endParaRPr lang="en-US" sz="1100" dirty="0"/>
          </a:p>
        </p:txBody>
      </p:sp>
      <p:sp>
        <p:nvSpPr>
          <p:cNvPr id="26" name="Shape 24"/>
          <p:cNvSpPr/>
          <p:nvPr/>
        </p:nvSpPr>
        <p:spPr>
          <a:xfrm>
            <a:off x="8997696" y="3803904"/>
            <a:ext cx="329184" cy="329184"/>
          </a:xfrm>
          <a:prstGeom prst="ellipse">
            <a:avLst/>
          </a:prstGeom>
          <a:solidFill>
            <a:srgbClr val="FFFFFF"/>
          </a:solidFill>
          <a:ln w="12700">
            <a:solidFill>
              <a:srgbClr val="FFFFFF"/>
            </a:solidFill>
            <a:prstDash val="solid"/>
          </a:ln>
        </p:spPr>
      </p:sp>
      <p:sp>
        <p:nvSpPr>
          <p:cNvPr id="27" name="Shape 25"/>
          <p:cNvSpPr/>
          <p:nvPr/>
        </p:nvSpPr>
        <p:spPr>
          <a:xfrm>
            <a:off x="9070848" y="3877056"/>
            <a:ext cx="182880" cy="182880"/>
          </a:xfrm>
          <a:prstGeom prst="ellipse">
            <a:avLst/>
          </a:prstGeom>
          <a:solidFill>
            <a:srgbClr val="0071E3"/>
          </a:solidFill>
          <a:ln w="12700">
            <a:solidFill>
              <a:srgbClr val="0071E3"/>
            </a:solidFill>
            <a:prstDash val="solid"/>
          </a:ln>
        </p:spPr>
      </p:sp>
      <p:sp>
        <p:nvSpPr>
          <p:cNvPr id="28" name="Text 26"/>
          <p:cNvSpPr/>
          <p:nvPr/>
        </p:nvSpPr>
        <p:spPr>
          <a:xfrm>
            <a:off x="8558784" y="4261104"/>
            <a:ext cx="1207008" cy="45720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별도 민사 준비</a:t>
            </a:r>
            <a:endParaRPr lang="en-US" sz="1100" dirty="0"/>
          </a:p>
        </p:txBody>
      </p:sp>
      <p:sp>
        <p:nvSpPr>
          <p:cNvPr id="29" name="Shape 27"/>
          <p:cNvSpPr/>
          <p:nvPr/>
        </p:nvSpPr>
        <p:spPr>
          <a:xfrm>
            <a:off x="11055096" y="3803904"/>
            <a:ext cx="329184" cy="329184"/>
          </a:xfrm>
          <a:prstGeom prst="ellipse">
            <a:avLst/>
          </a:prstGeom>
          <a:solidFill>
            <a:srgbClr val="FFFFFF"/>
          </a:solidFill>
          <a:ln w="12700">
            <a:solidFill>
              <a:srgbClr val="FFFFFF"/>
            </a:solidFill>
            <a:prstDash val="solid"/>
          </a:ln>
        </p:spPr>
      </p:sp>
      <p:sp>
        <p:nvSpPr>
          <p:cNvPr id="30" name="Shape 28"/>
          <p:cNvSpPr/>
          <p:nvPr/>
        </p:nvSpPr>
        <p:spPr>
          <a:xfrm>
            <a:off x="11128248" y="3877056"/>
            <a:ext cx="182880" cy="182880"/>
          </a:xfrm>
          <a:prstGeom prst="ellipse">
            <a:avLst/>
          </a:prstGeom>
          <a:solidFill>
            <a:srgbClr val="0071E3"/>
          </a:solidFill>
          <a:ln w="12700">
            <a:solidFill>
              <a:srgbClr val="0071E3"/>
            </a:solidFill>
            <a:prstDash val="solid"/>
          </a:ln>
        </p:spPr>
      </p:sp>
      <p:sp>
        <p:nvSpPr>
          <p:cNvPr id="31" name="Text 29"/>
          <p:cNvSpPr/>
          <p:nvPr/>
        </p:nvSpPr>
        <p:spPr>
          <a:xfrm>
            <a:off x="10616184" y="4261104"/>
            <a:ext cx="1207008" cy="45720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강제집행</a:t>
            </a:r>
            <a:endParaRPr lang="en-US" sz="1100" dirty="0"/>
          </a:p>
        </p:txBody>
      </p:sp>
      <p:sp>
        <p:nvSpPr>
          <p:cNvPr id="32" name="Shape 30"/>
          <p:cNvSpPr/>
          <p:nvPr/>
        </p:nvSpPr>
        <p:spPr>
          <a:xfrm>
            <a:off x="594360" y="6345936"/>
            <a:ext cx="11000232" cy="0"/>
          </a:xfrm>
          <a:prstGeom prst="line">
            <a:avLst/>
          </a:prstGeom>
          <a:noFill/>
          <a:ln w="7620">
            <a:solidFill>
              <a:srgbClr val="D2D2D7"/>
            </a:solidFill>
            <a:prstDash val="solid"/>
          </a:ln>
        </p:spPr>
      </p:sp>
      <p:sp>
        <p:nvSpPr>
          <p:cNvPr id="33" name="Text 31"/>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S001</a:t>
            </a:r>
            <a:endParaRPr lang="en-US" sz="900" dirty="0"/>
          </a:p>
        </p:txBody>
      </p:sp>
      <p:sp>
        <p:nvSpPr>
          <p:cNvPr id="34" name="Text 32"/>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5" name="Text 33"/>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S002</a:t>
            </a:r>
            <a:endParaRPr lang="en-US" sz="900" dirty="0"/>
          </a:p>
        </p:txBody>
      </p:sp>
      <p:sp>
        <p:nvSpPr>
          <p:cNvPr id="36" name="Text 34"/>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7" name="Text 35"/>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S013</a:t>
            </a:r>
            <a:endParaRPr lang="en-US" sz="900" dirty="0"/>
          </a:p>
        </p:txBody>
      </p:sp>
      <p:sp>
        <p:nvSpPr>
          <p:cNvPr id="38" name="Text 36"/>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9" name="Text 37"/>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S014</a:t>
            </a:r>
            <a:endParaRPr lang="en-US" sz="900" dirty="0"/>
          </a:p>
        </p:txBody>
      </p:sp>
      <p:sp>
        <p:nvSpPr>
          <p:cNvPr id="40" name="Text 38"/>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1" name="Text 39"/>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S032</a:t>
            </a:r>
            <a:endParaRPr lang="en-US" sz="900" dirty="0"/>
          </a:p>
        </p:txBody>
      </p:sp>
      <p:sp>
        <p:nvSpPr>
          <p:cNvPr id="42" name="Text 40"/>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3" name="Text 41"/>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S045</a:t>
            </a:r>
            <a:endParaRPr lang="en-US" sz="900" dirty="0"/>
          </a:p>
        </p:txBody>
      </p:sp>
      <p:sp>
        <p:nvSpPr>
          <p:cNvPr id="44" name="Text 42"/>
          <p:cNvSpPr/>
          <p:nvPr/>
        </p:nvSpPr>
        <p:spPr>
          <a:xfrm>
            <a:off x="594360"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S046</a:t>
            </a:r>
            <a:endParaRPr lang="en-US" sz="900" dirty="0"/>
          </a:p>
        </p:txBody>
      </p:sp>
      <p:sp>
        <p:nvSpPr>
          <p:cNvPr id="45" name="Text 43"/>
          <p:cNvSpPr/>
          <p:nvPr/>
        </p:nvSpPr>
        <p:spPr>
          <a:xfrm>
            <a:off x="1152144"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6" name="Text 44"/>
          <p:cNvSpPr/>
          <p:nvPr/>
        </p:nvSpPr>
        <p:spPr>
          <a:xfrm>
            <a:off x="1344168"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S047</a:t>
            </a:r>
            <a:endParaRPr lang="en-US" sz="900" dirty="0"/>
          </a:p>
        </p:txBody>
      </p:sp>
      <p:sp>
        <p:nvSpPr>
          <p:cNvPr id="47" name="Text 45"/>
          <p:cNvSpPr/>
          <p:nvPr/>
        </p:nvSpPr>
        <p:spPr>
          <a:xfrm>
            <a:off x="1901952"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8" name="Text 46"/>
          <p:cNvSpPr/>
          <p:nvPr/>
        </p:nvSpPr>
        <p:spPr>
          <a:xfrm>
            <a:off x="2093976"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S088</a:t>
            </a:r>
            <a:endParaRPr lang="en-US" sz="900" dirty="0"/>
          </a:p>
        </p:txBody>
      </p:sp>
      <p:sp>
        <p:nvSpPr>
          <p:cNvPr id="49" name="Text 47"/>
          <p:cNvSpPr/>
          <p:nvPr/>
        </p:nvSpPr>
        <p:spPr>
          <a:xfrm>
            <a:off x="2651760"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50" name="Text 48"/>
          <p:cNvSpPr/>
          <p:nvPr/>
        </p:nvSpPr>
        <p:spPr>
          <a:xfrm>
            <a:off x="2843784"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S101</a:t>
            </a:r>
            <a:endParaRPr lang="en-US" sz="900" dirty="0"/>
          </a:p>
        </p:txBody>
      </p:sp>
      <p:sp>
        <p:nvSpPr>
          <p:cNvPr id="51" name="Text 49"/>
          <p:cNvSpPr/>
          <p:nvPr/>
        </p:nvSpPr>
        <p:spPr>
          <a:xfrm>
            <a:off x="3401568"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52" name="Text 50"/>
          <p:cNvSpPr/>
          <p:nvPr/>
        </p:nvSpPr>
        <p:spPr>
          <a:xfrm>
            <a:off x="3593592"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S102</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서비스 전체 흐름</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한 번 입력하고 네 단계로 이어갑니다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확인된 사실과 증거를 다음 준비 화면에서 다시 사용합니다.</a:t>
            </a:r>
            <a:endParaRPr lang="en-US" sz="1750" dirty="0"/>
          </a:p>
        </p:txBody>
      </p:sp>
      <p:sp>
        <p:nvSpPr>
          <p:cNvPr id="5" name="Shape 3"/>
          <p:cNvSpPr/>
          <p:nvPr/>
        </p:nvSpPr>
        <p:spPr>
          <a:xfrm>
            <a:off x="594360" y="2331720"/>
            <a:ext cx="3532632" cy="1078992"/>
          </a:xfrm>
          <a:prstGeom prst="roundRect">
            <a:avLst>
              <a:gd name="adj" fmla="val 10169"/>
            </a:avLst>
          </a:prstGeom>
          <a:solidFill>
            <a:srgbClr val="FFFFFF"/>
          </a:solidFill>
          <a:ln w="8890">
            <a:solidFill>
              <a:srgbClr val="D2D2D7"/>
            </a:solidFill>
            <a:prstDash val="solid"/>
          </a:ln>
        </p:spPr>
      </p:sp>
      <p:sp>
        <p:nvSpPr>
          <p:cNvPr id="6" name="Text 4"/>
          <p:cNvSpPr/>
          <p:nvPr/>
        </p:nvSpPr>
        <p:spPr>
          <a:xfrm>
            <a:off x="7589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01</a:t>
            </a:r>
            <a:endParaRPr lang="en-US" sz="900" dirty="0"/>
          </a:p>
        </p:txBody>
      </p:sp>
      <p:sp>
        <p:nvSpPr>
          <p:cNvPr id="7" name="Text 5"/>
          <p:cNvSpPr/>
          <p:nvPr/>
        </p:nvSpPr>
        <p:spPr>
          <a:xfrm>
            <a:off x="7589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1D1D1F"/>
                </a:solidFill>
                <a:latin typeface="Noto Sans CJK KR" pitchFamily="34" charset="0"/>
                <a:ea typeface="Noto Sans CJK KR" pitchFamily="34" charset="-122"/>
                <a:cs typeface="Noto Sans CJK KR" pitchFamily="34" charset="-120"/>
              </a:rPr>
              <a:t>공식 통지에서 사건 정보를 추출해 확인합니다</a:t>
            </a:r>
            <a:endParaRPr lang="en-US" sz="1250" dirty="0"/>
          </a:p>
        </p:txBody>
      </p:sp>
      <p:sp>
        <p:nvSpPr>
          <p:cNvPr id="8" name="Shape 6"/>
          <p:cNvSpPr/>
          <p:nvPr/>
        </p:nvSpPr>
        <p:spPr>
          <a:xfrm>
            <a:off x="4328160" y="2331720"/>
            <a:ext cx="3532632" cy="1078992"/>
          </a:xfrm>
          <a:prstGeom prst="roundRect">
            <a:avLst>
              <a:gd name="adj" fmla="val 10169"/>
            </a:avLst>
          </a:prstGeom>
          <a:solidFill>
            <a:srgbClr val="FFFFFF"/>
          </a:solidFill>
          <a:ln w="8890">
            <a:solidFill>
              <a:srgbClr val="D2D2D7"/>
            </a:solidFill>
            <a:prstDash val="solid"/>
          </a:ln>
        </p:spPr>
      </p:sp>
      <p:sp>
        <p:nvSpPr>
          <p:cNvPr id="9" name="Text 7"/>
          <p:cNvSpPr/>
          <p:nvPr/>
        </p:nvSpPr>
        <p:spPr>
          <a:xfrm>
            <a:off x="44927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02</a:t>
            </a:r>
            <a:endParaRPr lang="en-US" sz="900" dirty="0"/>
          </a:p>
        </p:txBody>
      </p:sp>
      <p:sp>
        <p:nvSpPr>
          <p:cNvPr id="10" name="Text 8"/>
          <p:cNvSpPr/>
          <p:nvPr/>
        </p:nvSpPr>
        <p:spPr>
          <a:xfrm>
            <a:off x="44927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1D1D1F"/>
                </a:solidFill>
                <a:latin typeface="Noto Sans CJK KR" pitchFamily="34" charset="0"/>
                <a:ea typeface="Noto Sans CJK KR" pitchFamily="34" charset="-122"/>
                <a:cs typeface="Noto Sans CJK KR" pitchFamily="34" charset="-120"/>
              </a:rPr>
              <a:t>배상명령과 별도 민사 준비를 구분합니다</a:t>
            </a:r>
            <a:endParaRPr lang="en-US" sz="1250" dirty="0"/>
          </a:p>
        </p:txBody>
      </p:sp>
      <p:sp>
        <p:nvSpPr>
          <p:cNvPr id="11" name="Shape 9"/>
          <p:cNvSpPr/>
          <p:nvPr/>
        </p:nvSpPr>
        <p:spPr>
          <a:xfrm>
            <a:off x="8061960" y="2331720"/>
            <a:ext cx="3532632" cy="1078992"/>
          </a:xfrm>
          <a:prstGeom prst="roundRect">
            <a:avLst>
              <a:gd name="adj" fmla="val 10169"/>
            </a:avLst>
          </a:prstGeom>
          <a:solidFill>
            <a:srgbClr val="FFFFFF"/>
          </a:solidFill>
          <a:ln w="8890">
            <a:solidFill>
              <a:srgbClr val="D2D2D7"/>
            </a:solidFill>
            <a:prstDash val="solid"/>
          </a:ln>
        </p:spPr>
      </p:sp>
      <p:sp>
        <p:nvSpPr>
          <p:cNvPr id="12" name="Text 10"/>
          <p:cNvSpPr/>
          <p:nvPr/>
        </p:nvSpPr>
        <p:spPr>
          <a:xfrm>
            <a:off x="82265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03</a:t>
            </a:r>
            <a:endParaRPr lang="en-US" sz="900" dirty="0"/>
          </a:p>
        </p:txBody>
      </p:sp>
      <p:sp>
        <p:nvSpPr>
          <p:cNvPr id="13" name="Text 11"/>
          <p:cNvSpPr/>
          <p:nvPr/>
        </p:nvSpPr>
        <p:spPr>
          <a:xfrm>
            <a:off x="82265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1D1D1F"/>
                </a:solidFill>
                <a:latin typeface="Noto Sans CJK KR" pitchFamily="34" charset="0"/>
                <a:ea typeface="Noto Sans CJK KR" pitchFamily="34" charset="-122"/>
                <a:cs typeface="Noto Sans CJK KR" pitchFamily="34" charset="-120"/>
              </a:rPr>
              <a:t>집행권원 이후 절차는 조건별로 관리합니다</a:t>
            </a:r>
            <a:endParaRPr lang="en-US" sz="1250" dirty="0"/>
          </a:p>
        </p:txBody>
      </p:sp>
      <p:sp>
        <p:nvSpPr>
          <p:cNvPr id="14" name="Shape 12"/>
          <p:cNvSpPr/>
          <p:nvPr/>
        </p:nvSpPr>
        <p:spPr>
          <a:xfrm>
            <a:off x="1097280" y="4352544"/>
            <a:ext cx="10003536" cy="0"/>
          </a:xfrm>
          <a:prstGeom prst="line">
            <a:avLst/>
          </a:prstGeom>
          <a:noFill/>
          <a:ln w="38100">
            <a:solidFill>
              <a:srgbClr val="0071E3"/>
            </a:solidFill>
            <a:prstDash val="solid"/>
          </a:ln>
        </p:spPr>
      </p:sp>
      <p:sp>
        <p:nvSpPr>
          <p:cNvPr id="15" name="Shape 13"/>
          <p:cNvSpPr/>
          <p:nvPr/>
        </p:nvSpPr>
        <p:spPr>
          <a:xfrm>
            <a:off x="905256" y="4178808"/>
            <a:ext cx="347472" cy="347472"/>
          </a:xfrm>
          <a:prstGeom prst="ellipse">
            <a:avLst/>
          </a:prstGeom>
          <a:solidFill>
            <a:srgbClr val="0071E3"/>
          </a:solidFill>
          <a:ln w="12700">
            <a:solidFill>
              <a:srgbClr val="0071E3"/>
            </a:solidFill>
            <a:prstDash val="solid"/>
          </a:ln>
        </p:spPr>
      </p:sp>
      <p:sp>
        <p:nvSpPr>
          <p:cNvPr id="16" name="Text 14"/>
          <p:cNvSpPr/>
          <p:nvPr/>
        </p:nvSpPr>
        <p:spPr>
          <a:xfrm>
            <a:off x="90525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1</a:t>
            </a:r>
            <a:endParaRPr lang="en-US" sz="1000" dirty="0"/>
          </a:p>
        </p:txBody>
      </p:sp>
      <p:sp>
        <p:nvSpPr>
          <p:cNvPr id="17" name="Text 15"/>
          <p:cNvSpPr/>
          <p:nvPr/>
        </p:nvSpPr>
        <p:spPr>
          <a:xfrm>
            <a:off x="74980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1D1D1F"/>
                </a:solidFill>
                <a:latin typeface="Noto Sans CJK KR" pitchFamily="34" charset="0"/>
                <a:ea typeface="Noto Sans CJK KR" pitchFamily="34" charset="-122"/>
                <a:cs typeface="Noto Sans CJK KR" pitchFamily="34" charset="-120"/>
              </a:rPr>
              <a:t>접수·추적</a:t>
            </a:r>
            <a:endParaRPr lang="en-US" sz="1050" dirty="0"/>
          </a:p>
        </p:txBody>
      </p:sp>
      <p:sp>
        <p:nvSpPr>
          <p:cNvPr id="18" name="Shape 16"/>
          <p:cNvSpPr/>
          <p:nvPr/>
        </p:nvSpPr>
        <p:spPr>
          <a:xfrm>
            <a:off x="3602736" y="4178808"/>
            <a:ext cx="347472" cy="347472"/>
          </a:xfrm>
          <a:prstGeom prst="ellipse">
            <a:avLst/>
          </a:prstGeom>
          <a:solidFill>
            <a:srgbClr val="0071E3"/>
          </a:solidFill>
          <a:ln w="12700">
            <a:solidFill>
              <a:srgbClr val="0071E3"/>
            </a:solidFill>
            <a:prstDash val="solid"/>
          </a:ln>
        </p:spPr>
      </p:sp>
      <p:sp>
        <p:nvSpPr>
          <p:cNvPr id="19" name="Text 17"/>
          <p:cNvSpPr/>
          <p:nvPr/>
        </p:nvSpPr>
        <p:spPr>
          <a:xfrm>
            <a:off x="360273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2</a:t>
            </a:r>
            <a:endParaRPr lang="en-US" sz="1000" dirty="0"/>
          </a:p>
        </p:txBody>
      </p:sp>
      <p:sp>
        <p:nvSpPr>
          <p:cNvPr id="20" name="Text 18"/>
          <p:cNvSpPr/>
          <p:nvPr/>
        </p:nvSpPr>
        <p:spPr>
          <a:xfrm>
            <a:off x="344728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1D1D1F"/>
                </a:solidFill>
                <a:latin typeface="Noto Sans CJK KR" pitchFamily="34" charset="0"/>
                <a:ea typeface="Noto Sans CJK KR" pitchFamily="34" charset="-122"/>
                <a:cs typeface="Noto Sans CJK KR" pitchFamily="34" charset="-120"/>
              </a:rPr>
              <a:t>증거·서류 준비</a:t>
            </a:r>
            <a:endParaRPr lang="en-US" sz="1050" dirty="0"/>
          </a:p>
        </p:txBody>
      </p:sp>
      <p:sp>
        <p:nvSpPr>
          <p:cNvPr id="21" name="Shape 19"/>
          <p:cNvSpPr/>
          <p:nvPr/>
        </p:nvSpPr>
        <p:spPr>
          <a:xfrm>
            <a:off x="6300216" y="4178808"/>
            <a:ext cx="347472" cy="347472"/>
          </a:xfrm>
          <a:prstGeom prst="ellipse">
            <a:avLst/>
          </a:prstGeom>
          <a:solidFill>
            <a:srgbClr val="0071E3"/>
          </a:solidFill>
          <a:ln w="12700">
            <a:solidFill>
              <a:srgbClr val="0071E3"/>
            </a:solidFill>
            <a:prstDash val="solid"/>
          </a:ln>
        </p:spPr>
      </p:sp>
      <p:sp>
        <p:nvSpPr>
          <p:cNvPr id="22" name="Text 20"/>
          <p:cNvSpPr/>
          <p:nvPr/>
        </p:nvSpPr>
        <p:spPr>
          <a:xfrm>
            <a:off x="630021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3</a:t>
            </a:r>
            <a:endParaRPr lang="en-US" sz="1000" dirty="0"/>
          </a:p>
        </p:txBody>
      </p:sp>
      <p:sp>
        <p:nvSpPr>
          <p:cNvPr id="23" name="Text 21"/>
          <p:cNvSpPr/>
          <p:nvPr/>
        </p:nvSpPr>
        <p:spPr>
          <a:xfrm>
            <a:off x="614476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1D1D1F"/>
                </a:solidFill>
                <a:latin typeface="Noto Sans CJK KR" pitchFamily="34" charset="0"/>
                <a:ea typeface="Noto Sans CJK KR" pitchFamily="34" charset="-122"/>
                <a:cs typeface="Noto Sans CJK KR" pitchFamily="34" charset="-120"/>
              </a:rPr>
              <a:t>배상명령·민사</a:t>
            </a:r>
            <a:endParaRPr lang="en-US" sz="1050" dirty="0"/>
          </a:p>
        </p:txBody>
      </p:sp>
      <p:sp>
        <p:nvSpPr>
          <p:cNvPr id="24" name="Shape 22"/>
          <p:cNvSpPr/>
          <p:nvPr/>
        </p:nvSpPr>
        <p:spPr>
          <a:xfrm>
            <a:off x="8997696" y="4178808"/>
            <a:ext cx="347472" cy="347472"/>
          </a:xfrm>
          <a:prstGeom prst="ellipse">
            <a:avLst/>
          </a:prstGeom>
          <a:solidFill>
            <a:srgbClr val="0071E3"/>
          </a:solidFill>
          <a:ln w="12700">
            <a:solidFill>
              <a:srgbClr val="0071E3"/>
            </a:solidFill>
            <a:prstDash val="solid"/>
          </a:ln>
        </p:spPr>
      </p:sp>
      <p:sp>
        <p:nvSpPr>
          <p:cNvPr id="25" name="Text 23"/>
          <p:cNvSpPr/>
          <p:nvPr/>
        </p:nvSpPr>
        <p:spPr>
          <a:xfrm>
            <a:off x="8997696" y="4178808"/>
            <a:ext cx="347472" cy="34747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4</a:t>
            </a:r>
            <a:endParaRPr lang="en-US" sz="1000" dirty="0"/>
          </a:p>
        </p:txBody>
      </p:sp>
      <p:sp>
        <p:nvSpPr>
          <p:cNvPr id="26" name="Text 24"/>
          <p:cNvSpPr/>
          <p:nvPr/>
        </p:nvSpPr>
        <p:spPr>
          <a:xfrm>
            <a:off x="8842248" y="4663440"/>
            <a:ext cx="2606040" cy="502920"/>
          </a:xfrm>
          <a:prstGeom prst="rect">
            <a:avLst/>
          </a:prstGeom>
          <a:noFill/>
          <a:ln/>
        </p:spPr>
        <p:txBody>
          <a:bodyPr wrap="square" lIns="0" tIns="0" rIns="0" bIns="0" rtlCol="0" anchor="ctr">
            <a:normAutofit/>
          </a:bodyPr>
          <a:lstStyle/>
          <a:p>
            <a:pPr algn="ctr" indent="0" marL="0">
              <a:buNone/>
            </a:pPr>
            <a:r>
              <a:rPr lang="en-US" sz="1050" b="1" dirty="0">
                <a:solidFill>
                  <a:srgbClr val="1D1D1F"/>
                </a:solidFill>
                <a:latin typeface="Noto Sans CJK KR" pitchFamily="34" charset="0"/>
                <a:ea typeface="Noto Sans CJK KR" pitchFamily="34" charset="-122"/>
                <a:cs typeface="Noto Sans CJK KR" pitchFamily="34" charset="-120"/>
              </a:rPr>
              <a:t>집행 관리</a:t>
            </a:r>
            <a:endParaRPr lang="en-US" sz="1050" dirty="0"/>
          </a:p>
        </p:txBody>
      </p:sp>
      <p:sp>
        <p:nvSpPr>
          <p:cNvPr id="27" name="Shape 25"/>
          <p:cNvSpPr/>
          <p:nvPr/>
        </p:nvSpPr>
        <p:spPr>
          <a:xfrm>
            <a:off x="594360" y="6345936"/>
            <a:ext cx="11000232" cy="0"/>
          </a:xfrm>
          <a:prstGeom prst="line">
            <a:avLst/>
          </a:prstGeom>
          <a:noFill/>
          <a:ln w="7620">
            <a:solidFill>
              <a:srgbClr val="D2D2D7"/>
            </a:solidFill>
            <a:prstDash val="solid"/>
          </a:ln>
        </p:spPr>
      </p:sp>
      <p:sp>
        <p:nvSpPr>
          <p:cNvPr id="28" name="Text 26"/>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S020</a:t>
            </a:r>
            <a:endParaRPr lang="en-US" sz="900" dirty="0"/>
          </a:p>
        </p:txBody>
      </p:sp>
      <p:sp>
        <p:nvSpPr>
          <p:cNvPr id="29" name="Text 27"/>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0" name="Text 28"/>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S032</a:t>
            </a:r>
            <a:endParaRPr lang="en-US" sz="900" dirty="0"/>
          </a:p>
        </p:txBody>
      </p:sp>
      <p:sp>
        <p:nvSpPr>
          <p:cNvPr id="31" name="Text 29"/>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2" name="Text 30"/>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S035</a:t>
            </a:r>
            <a:endParaRPr lang="en-US" sz="900" dirty="0"/>
          </a:p>
        </p:txBody>
      </p:sp>
      <p:sp>
        <p:nvSpPr>
          <p:cNvPr id="33" name="Text 31"/>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4" name="Text 32"/>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S036</a:t>
            </a:r>
            <a:endParaRPr lang="en-US" sz="900" dirty="0"/>
          </a:p>
        </p:txBody>
      </p:sp>
      <p:sp>
        <p:nvSpPr>
          <p:cNvPr id="35" name="Text 33"/>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6" name="Text 34"/>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S037</a:t>
            </a:r>
            <a:endParaRPr lang="en-US" sz="900" dirty="0"/>
          </a:p>
        </p:txBody>
      </p:sp>
      <p:sp>
        <p:nvSpPr>
          <p:cNvPr id="37" name="Text 35"/>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8" name="Text 36"/>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S038</a:t>
            </a:r>
            <a:endParaRPr lang="en-US" sz="900" dirty="0"/>
          </a:p>
        </p:txBody>
      </p:sp>
      <p:sp>
        <p:nvSpPr>
          <p:cNvPr id="39" name="Text 37"/>
          <p:cNvSpPr/>
          <p:nvPr/>
        </p:nvSpPr>
        <p:spPr>
          <a:xfrm>
            <a:off x="594360"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S045</a:t>
            </a:r>
            <a:endParaRPr lang="en-US" sz="900" dirty="0"/>
          </a:p>
        </p:txBody>
      </p:sp>
      <p:sp>
        <p:nvSpPr>
          <p:cNvPr id="40" name="Text 38"/>
          <p:cNvSpPr/>
          <p:nvPr/>
        </p:nvSpPr>
        <p:spPr>
          <a:xfrm>
            <a:off x="1152144"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1" name="Text 39"/>
          <p:cNvSpPr/>
          <p:nvPr/>
        </p:nvSpPr>
        <p:spPr>
          <a:xfrm>
            <a:off x="1344168"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S046</a:t>
            </a:r>
            <a:endParaRPr lang="en-US" sz="900" dirty="0"/>
          </a:p>
        </p:txBody>
      </p:sp>
      <p:sp>
        <p:nvSpPr>
          <p:cNvPr id="42" name="Text 40"/>
          <p:cNvSpPr/>
          <p:nvPr/>
        </p:nvSpPr>
        <p:spPr>
          <a:xfrm>
            <a:off x="1901952"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3" name="Text 41"/>
          <p:cNvSpPr/>
          <p:nvPr/>
        </p:nvSpPr>
        <p:spPr>
          <a:xfrm>
            <a:off x="2093976"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S101</a:t>
            </a:r>
            <a:endParaRPr lang="en-US" sz="900" dirty="0"/>
          </a:p>
        </p:txBody>
      </p:sp>
      <p:sp>
        <p:nvSpPr>
          <p:cNvPr id="44" name="Text 42"/>
          <p:cNvSpPr/>
          <p:nvPr/>
        </p:nvSpPr>
        <p:spPr>
          <a:xfrm>
            <a:off x="2651760"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5" name="Text 43"/>
          <p:cNvSpPr/>
          <p:nvPr/>
        </p:nvSpPr>
        <p:spPr>
          <a:xfrm>
            <a:off x="2843784"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S102</a:t>
            </a:r>
            <a:endParaRPr lang="en-US" sz="900" dirty="0"/>
          </a:p>
        </p:txBody>
      </p:sp>
      <p:sp>
        <p:nvSpPr>
          <p:cNvPr id="46" name="Text 44"/>
          <p:cNvSpPr/>
          <p:nvPr/>
        </p:nvSpPr>
        <p:spPr>
          <a:xfrm>
            <a:off x="3401568"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7" name="Text 45"/>
          <p:cNvSpPr/>
          <p:nvPr/>
        </p:nvSpPr>
        <p:spPr>
          <a:xfrm>
            <a:off x="3593592"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S103</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STEP 1 · 접수·추적</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피해 정보와 증거를 한 번만 입력합니다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구조화된 사실은 하나의 사건 카드에서 이후 준비 단계로 이어집니다.</a:t>
            </a:r>
            <a:endParaRPr lang="en-US" sz="1750" dirty="0"/>
          </a:p>
        </p:txBody>
      </p:sp>
      <p:sp>
        <p:nvSpPr>
          <p:cNvPr id="5" name="Shape 3"/>
          <p:cNvSpPr/>
          <p:nvPr/>
        </p:nvSpPr>
        <p:spPr>
          <a:xfrm>
            <a:off x="594360" y="2331720"/>
            <a:ext cx="6629400" cy="3401568"/>
          </a:xfrm>
          <a:prstGeom prst="roundRect">
            <a:avLst>
              <a:gd name="adj" fmla="val 3226"/>
            </a:avLst>
          </a:prstGeom>
          <a:solidFill>
            <a:srgbClr val="FFFFFF"/>
          </a:solidFill>
          <a:ln w="8890">
            <a:solidFill>
              <a:srgbClr val="D2D2D7"/>
            </a:solidFill>
            <a:prstDash val="solid"/>
          </a:ln>
        </p:spPr>
      </p:sp>
      <p:sp>
        <p:nvSpPr>
          <p:cNvPr id="6" name="Shape 4"/>
          <p:cNvSpPr/>
          <p:nvPr/>
        </p:nvSpPr>
        <p:spPr>
          <a:xfrm>
            <a:off x="841248" y="2578608"/>
            <a:ext cx="960120" cy="329184"/>
          </a:xfrm>
          <a:prstGeom prst="roundRect">
            <a:avLst>
              <a:gd name="adj" fmla="val 33333"/>
            </a:avLst>
          </a:prstGeom>
          <a:solidFill>
            <a:srgbClr val="EAF3FC"/>
          </a:solidFill>
          <a:ln w="8890">
            <a:solidFill>
              <a:srgbClr val="EAF3FC"/>
            </a:solidFill>
            <a:prstDash val="solid"/>
          </a:ln>
        </p:spPr>
      </p:sp>
      <p:sp>
        <p:nvSpPr>
          <p:cNvPr id="7" name="Text 5"/>
          <p:cNvSpPr/>
          <p:nvPr/>
        </p:nvSpPr>
        <p:spPr>
          <a:xfrm>
            <a:off x="941832" y="2578608"/>
            <a:ext cx="75895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사건 입력</a:t>
            </a:r>
            <a:endParaRPr lang="en-US" sz="1000" dirty="0"/>
          </a:p>
        </p:txBody>
      </p:sp>
      <p:sp>
        <p:nvSpPr>
          <p:cNvPr id="8" name="Text 6"/>
          <p:cNvSpPr/>
          <p:nvPr/>
        </p:nvSpPr>
        <p:spPr>
          <a:xfrm>
            <a:off x="868680" y="3154680"/>
            <a:ext cx="1051560" cy="274320"/>
          </a:xfrm>
          <a:prstGeom prst="rect">
            <a:avLst/>
          </a:prstGeom>
          <a:noFill/>
          <a:ln/>
        </p:spPr>
        <p:txBody>
          <a:bodyPr wrap="square" lIns="0" tIns="0" rIns="0" bIns="0" rtlCol="0" anchor="ctr">
            <a:normAutofit/>
          </a:bodyPr>
          <a:lstStyle/>
          <a:p>
            <a:pPr indent="0" marL="0">
              <a:buNone/>
            </a:pPr>
            <a:r>
              <a:rPr lang="en-US" sz="1000" b="1" dirty="0">
                <a:solidFill>
                  <a:srgbClr val="6E6E73"/>
                </a:solidFill>
                <a:latin typeface="Noto Sans CJK KR" pitchFamily="34" charset="0"/>
                <a:ea typeface="Noto Sans CJK KR" pitchFamily="34" charset="-122"/>
                <a:cs typeface="Noto Sans CJK KR" pitchFamily="34" charset="-120"/>
              </a:rPr>
              <a:t>거래·결제</a:t>
            </a:r>
            <a:endParaRPr lang="en-US" sz="1000" dirty="0"/>
          </a:p>
        </p:txBody>
      </p:sp>
      <p:sp>
        <p:nvSpPr>
          <p:cNvPr id="9" name="Shape 7"/>
          <p:cNvSpPr/>
          <p:nvPr/>
        </p:nvSpPr>
        <p:spPr>
          <a:xfrm>
            <a:off x="1965960" y="3035808"/>
            <a:ext cx="4846320" cy="521208"/>
          </a:xfrm>
          <a:prstGeom prst="roundRect">
            <a:avLst>
              <a:gd name="adj" fmla="val 21053"/>
            </a:avLst>
          </a:prstGeom>
          <a:solidFill>
            <a:srgbClr val="F5F5F7"/>
          </a:solidFill>
          <a:ln w="8890">
            <a:solidFill>
              <a:srgbClr val="F5F5F7"/>
            </a:solidFill>
            <a:prstDash val="solid"/>
          </a:ln>
        </p:spPr>
      </p:sp>
      <p:sp>
        <p:nvSpPr>
          <p:cNvPr id="10" name="Text 8"/>
          <p:cNvSpPr/>
          <p:nvPr/>
        </p:nvSpPr>
        <p:spPr>
          <a:xfrm>
            <a:off x="2194560" y="3035808"/>
            <a:ext cx="4389120" cy="521208"/>
          </a:xfrm>
          <a:prstGeom prst="rect">
            <a:avLst/>
          </a:prstGeom>
          <a:noFill/>
          <a:ln/>
        </p:spPr>
        <p:txBody>
          <a:bodyPr wrap="square" lIns="0" tIns="0" rIns="0" bIns="0" rtlCol="0" anchor="ctr">
            <a:normAutofit/>
          </a:bodyPr>
          <a:lstStyle/>
          <a:p>
            <a:pPr indent="0" marL="0">
              <a:buNone/>
            </a:pPr>
            <a:r>
              <a:rPr lang="en-US" sz="1200" b="1" dirty="0">
                <a:solidFill>
                  <a:srgbClr val="1D1D1F"/>
                </a:solidFill>
                <a:latin typeface="Noto Sans CJK KR" pitchFamily="34" charset="0"/>
                <a:ea typeface="Noto Sans CJK KR" pitchFamily="34" charset="-122"/>
                <a:cs typeface="Noto Sans CJK KR" pitchFamily="34" charset="-120"/>
              </a:rPr>
              <a:t>중고거래 · 계좌이체 · 450,000원</a:t>
            </a:r>
            <a:endParaRPr lang="en-US" sz="1200" dirty="0"/>
          </a:p>
        </p:txBody>
      </p:sp>
      <p:sp>
        <p:nvSpPr>
          <p:cNvPr id="11" name="Text 9"/>
          <p:cNvSpPr/>
          <p:nvPr/>
        </p:nvSpPr>
        <p:spPr>
          <a:xfrm>
            <a:off x="868680" y="3867912"/>
            <a:ext cx="1051560" cy="274320"/>
          </a:xfrm>
          <a:prstGeom prst="rect">
            <a:avLst/>
          </a:prstGeom>
          <a:noFill/>
          <a:ln/>
        </p:spPr>
        <p:txBody>
          <a:bodyPr wrap="square" lIns="0" tIns="0" rIns="0" bIns="0" rtlCol="0" anchor="ctr">
            <a:normAutofit/>
          </a:bodyPr>
          <a:lstStyle/>
          <a:p>
            <a:pPr indent="0" marL="0">
              <a:buNone/>
            </a:pPr>
            <a:r>
              <a:rPr lang="en-US" sz="1000" b="1" dirty="0">
                <a:solidFill>
                  <a:srgbClr val="6E6E73"/>
                </a:solidFill>
                <a:latin typeface="Noto Sans CJK KR" pitchFamily="34" charset="0"/>
                <a:ea typeface="Noto Sans CJK KR" pitchFamily="34" charset="-122"/>
                <a:cs typeface="Noto Sans CJK KR" pitchFamily="34" charset="-120"/>
              </a:rPr>
              <a:t>상대방 단서</a:t>
            </a:r>
            <a:endParaRPr lang="en-US" sz="1000" dirty="0"/>
          </a:p>
        </p:txBody>
      </p:sp>
      <p:sp>
        <p:nvSpPr>
          <p:cNvPr id="12" name="Shape 10"/>
          <p:cNvSpPr/>
          <p:nvPr/>
        </p:nvSpPr>
        <p:spPr>
          <a:xfrm>
            <a:off x="1965960" y="3749040"/>
            <a:ext cx="4846320" cy="521208"/>
          </a:xfrm>
          <a:prstGeom prst="roundRect">
            <a:avLst>
              <a:gd name="adj" fmla="val 21053"/>
            </a:avLst>
          </a:prstGeom>
          <a:solidFill>
            <a:srgbClr val="F5F5F7"/>
          </a:solidFill>
          <a:ln w="8890">
            <a:solidFill>
              <a:srgbClr val="F5F5F7"/>
            </a:solidFill>
            <a:prstDash val="solid"/>
          </a:ln>
        </p:spPr>
      </p:sp>
      <p:sp>
        <p:nvSpPr>
          <p:cNvPr id="13" name="Text 11"/>
          <p:cNvSpPr/>
          <p:nvPr/>
        </p:nvSpPr>
        <p:spPr>
          <a:xfrm>
            <a:off x="2194560" y="3749040"/>
            <a:ext cx="4389120" cy="521208"/>
          </a:xfrm>
          <a:prstGeom prst="rect">
            <a:avLst/>
          </a:prstGeom>
          <a:noFill/>
          <a:ln/>
        </p:spPr>
        <p:txBody>
          <a:bodyPr wrap="square" lIns="0" tIns="0" rIns="0" bIns="0" rtlCol="0" anchor="ctr">
            <a:normAutofit/>
          </a:bodyPr>
          <a:lstStyle/>
          <a:p>
            <a:pPr indent="0" marL="0">
              <a:buNone/>
            </a:pPr>
            <a:r>
              <a:rPr lang="en-US" sz="1200" b="1" dirty="0">
                <a:solidFill>
                  <a:srgbClr val="1D1D1F"/>
                </a:solidFill>
                <a:latin typeface="Noto Sans CJK KR" pitchFamily="34" charset="0"/>
                <a:ea typeface="Noto Sans CJK KR" pitchFamily="34" charset="-122"/>
                <a:cs typeface="Noto Sans CJK KR" pitchFamily="34" charset="-120"/>
              </a:rPr>
              <a:t>계좌번호 · 전화번호 · 판매자명</a:t>
            </a:r>
            <a:endParaRPr lang="en-US" sz="1200" dirty="0"/>
          </a:p>
        </p:txBody>
      </p:sp>
      <p:sp>
        <p:nvSpPr>
          <p:cNvPr id="14" name="Text 12"/>
          <p:cNvSpPr/>
          <p:nvPr/>
        </p:nvSpPr>
        <p:spPr>
          <a:xfrm>
            <a:off x="868680" y="4581144"/>
            <a:ext cx="1051560" cy="274320"/>
          </a:xfrm>
          <a:prstGeom prst="rect">
            <a:avLst/>
          </a:prstGeom>
          <a:noFill/>
          <a:ln/>
        </p:spPr>
        <p:txBody>
          <a:bodyPr wrap="square" lIns="0" tIns="0" rIns="0" bIns="0" rtlCol="0" anchor="ctr">
            <a:normAutofit/>
          </a:bodyPr>
          <a:lstStyle/>
          <a:p>
            <a:pPr indent="0" marL="0">
              <a:buNone/>
            </a:pPr>
            <a:r>
              <a:rPr lang="en-US" sz="1000" b="1" dirty="0">
                <a:solidFill>
                  <a:srgbClr val="6E6E73"/>
                </a:solidFill>
                <a:latin typeface="Noto Sans CJK KR" pitchFamily="34" charset="0"/>
                <a:ea typeface="Noto Sans CJK KR" pitchFamily="34" charset="-122"/>
                <a:cs typeface="Noto Sans CJK KR" pitchFamily="34" charset="-120"/>
              </a:rPr>
              <a:t>증거 파일</a:t>
            </a:r>
            <a:endParaRPr lang="en-US" sz="1000" dirty="0"/>
          </a:p>
        </p:txBody>
      </p:sp>
      <p:sp>
        <p:nvSpPr>
          <p:cNvPr id="15" name="Shape 13"/>
          <p:cNvSpPr/>
          <p:nvPr/>
        </p:nvSpPr>
        <p:spPr>
          <a:xfrm>
            <a:off x="1965960" y="4462272"/>
            <a:ext cx="4846320" cy="521208"/>
          </a:xfrm>
          <a:prstGeom prst="roundRect">
            <a:avLst>
              <a:gd name="adj" fmla="val 21053"/>
            </a:avLst>
          </a:prstGeom>
          <a:solidFill>
            <a:srgbClr val="F5F5F7"/>
          </a:solidFill>
          <a:ln w="8890">
            <a:solidFill>
              <a:srgbClr val="F5F5F7"/>
            </a:solidFill>
            <a:prstDash val="solid"/>
          </a:ln>
        </p:spPr>
      </p:sp>
      <p:sp>
        <p:nvSpPr>
          <p:cNvPr id="16" name="Text 14"/>
          <p:cNvSpPr/>
          <p:nvPr/>
        </p:nvSpPr>
        <p:spPr>
          <a:xfrm>
            <a:off x="2194560" y="4462272"/>
            <a:ext cx="4389120" cy="521208"/>
          </a:xfrm>
          <a:prstGeom prst="rect">
            <a:avLst/>
          </a:prstGeom>
          <a:noFill/>
          <a:ln/>
        </p:spPr>
        <p:txBody>
          <a:bodyPr wrap="square" lIns="0" tIns="0" rIns="0" bIns="0" rtlCol="0" anchor="ctr">
            <a:normAutofit/>
          </a:bodyPr>
          <a:lstStyle/>
          <a:p>
            <a:pPr indent="0" marL="0">
              <a:buNone/>
            </a:pPr>
            <a:r>
              <a:rPr lang="en-US" sz="1200" b="1" dirty="0">
                <a:solidFill>
                  <a:srgbClr val="1D1D1F"/>
                </a:solidFill>
                <a:latin typeface="Noto Sans CJK KR" pitchFamily="34" charset="0"/>
                <a:ea typeface="Noto Sans CJK KR" pitchFamily="34" charset="-122"/>
                <a:cs typeface="Noto Sans CJK KR" pitchFamily="34" charset="-120"/>
              </a:rPr>
              <a:t>대화 캡처 8 · 이체확인증 1</a:t>
            </a:r>
            <a:endParaRPr lang="en-US" sz="1200" dirty="0"/>
          </a:p>
        </p:txBody>
      </p:sp>
      <p:sp>
        <p:nvSpPr>
          <p:cNvPr id="17" name="Shape 15"/>
          <p:cNvSpPr/>
          <p:nvPr/>
        </p:nvSpPr>
        <p:spPr>
          <a:xfrm>
            <a:off x="7479792" y="2331720"/>
            <a:ext cx="4114800" cy="3401568"/>
          </a:xfrm>
          <a:prstGeom prst="roundRect">
            <a:avLst>
              <a:gd name="adj" fmla="val 3226"/>
            </a:avLst>
          </a:prstGeom>
          <a:solidFill>
            <a:srgbClr val="101D2B"/>
          </a:solidFill>
          <a:ln w="8890">
            <a:solidFill>
              <a:srgbClr val="101D2B"/>
            </a:solidFill>
            <a:prstDash val="solid"/>
          </a:ln>
        </p:spPr>
      </p:sp>
      <p:sp>
        <p:nvSpPr>
          <p:cNvPr id="18" name="Text 16"/>
          <p:cNvSpPr/>
          <p:nvPr/>
        </p:nvSpPr>
        <p:spPr>
          <a:xfrm>
            <a:off x="7772400" y="2615184"/>
            <a:ext cx="3520440" cy="36576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Noto Sans CJK KR" pitchFamily="34" charset="0"/>
                <a:ea typeface="Noto Sans CJK KR" pitchFamily="34" charset="-122"/>
                <a:cs typeface="Noto Sans CJK KR" pitchFamily="34" charset="-120"/>
              </a:rPr>
              <a:t>사건 카드</a:t>
            </a:r>
            <a:endParaRPr lang="en-US" sz="1800" dirty="0"/>
          </a:p>
        </p:txBody>
      </p:sp>
      <p:sp>
        <p:nvSpPr>
          <p:cNvPr id="19" name="Text 17"/>
          <p:cNvSpPr/>
          <p:nvPr/>
        </p:nvSpPr>
        <p:spPr>
          <a:xfrm>
            <a:off x="7772400" y="3246120"/>
            <a:ext cx="3246120" cy="822960"/>
          </a:xfrm>
          <a:prstGeom prst="rect">
            <a:avLst/>
          </a:prstGeom>
          <a:noFill/>
          <a:ln/>
        </p:spPr>
        <p:txBody>
          <a:bodyPr wrap="square" lIns="0" tIns="0" rIns="0" bIns="0" rtlCol="0" anchor="t">
            <a:normAutofit/>
          </a:bodyPr>
          <a:lstStyle/>
          <a:p>
            <a:pPr indent="0" marL="0">
              <a:buNone/>
            </a:pPr>
            <a:r>
              <a:rPr lang="en-US" sz="1400" b="1" dirty="0">
                <a:solidFill>
                  <a:srgbClr val="D2D2D7"/>
                </a:solidFill>
                <a:latin typeface="Noto Sans CJK KR" pitchFamily="34" charset="0"/>
                <a:ea typeface="Noto Sans CJK KR" pitchFamily="34" charset="-122"/>
                <a:cs typeface="Noto Sans CJK KR" pitchFamily="34" charset="-120"/>
              </a:rPr>
              <a:t>피해 사실과 승인된 증거를</a:t>
            </a:r>
            <a:endParaRPr lang="en-US" sz="1400" dirty="0"/>
          </a:p>
          <a:p>
            <a:pPr indent="0" marL="0">
              <a:buNone/>
            </a:pPr>
            <a:r>
              <a:rPr lang="en-US" sz="1400" b="1" dirty="0">
                <a:solidFill>
                  <a:srgbClr val="D2D2D7"/>
                </a:solidFill>
                <a:latin typeface="Noto Sans CJK KR" pitchFamily="34" charset="0"/>
                <a:ea typeface="Noto Sans CJK KR" pitchFamily="34" charset="-122"/>
                <a:cs typeface="Noto Sans CJK KR" pitchFamily="34" charset="-120"/>
              </a:rPr>
              <a:t>하나의 작업공간에서 재사용</a:t>
            </a:r>
            <a:endParaRPr lang="en-US" sz="1400" dirty="0"/>
          </a:p>
        </p:txBody>
      </p:sp>
      <p:sp>
        <p:nvSpPr>
          <p:cNvPr id="20" name="Shape 18"/>
          <p:cNvSpPr/>
          <p:nvPr/>
        </p:nvSpPr>
        <p:spPr>
          <a:xfrm>
            <a:off x="7772400" y="4882896"/>
            <a:ext cx="1417320" cy="329184"/>
          </a:xfrm>
          <a:prstGeom prst="roundRect">
            <a:avLst>
              <a:gd name="adj" fmla="val 33333"/>
            </a:avLst>
          </a:prstGeom>
          <a:solidFill>
            <a:srgbClr val="172B42"/>
          </a:solidFill>
          <a:ln w="8890">
            <a:solidFill>
              <a:srgbClr val="172B42"/>
            </a:solidFill>
            <a:prstDash val="solid"/>
          </a:ln>
        </p:spPr>
      </p:sp>
      <p:sp>
        <p:nvSpPr>
          <p:cNvPr id="21" name="Text 19"/>
          <p:cNvSpPr/>
          <p:nvPr/>
        </p:nvSpPr>
        <p:spPr>
          <a:xfrm>
            <a:off x="7872984" y="4882896"/>
            <a:ext cx="1216152"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타임라인 준비</a:t>
            </a:r>
            <a:endParaRPr lang="en-US" sz="1000" dirty="0"/>
          </a:p>
        </p:txBody>
      </p:sp>
      <p:sp>
        <p:nvSpPr>
          <p:cNvPr id="22" name="Shape 20"/>
          <p:cNvSpPr/>
          <p:nvPr/>
        </p:nvSpPr>
        <p:spPr>
          <a:xfrm>
            <a:off x="9372600" y="4882896"/>
            <a:ext cx="1417320" cy="329184"/>
          </a:xfrm>
          <a:prstGeom prst="roundRect">
            <a:avLst>
              <a:gd name="adj" fmla="val 33333"/>
            </a:avLst>
          </a:prstGeom>
          <a:solidFill>
            <a:srgbClr val="172B42"/>
          </a:solidFill>
          <a:ln w="8890">
            <a:solidFill>
              <a:srgbClr val="172B42"/>
            </a:solidFill>
            <a:prstDash val="solid"/>
          </a:ln>
        </p:spPr>
      </p:sp>
      <p:sp>
        <p:nvSpPr>
          <p:cNvPr id="23" name="Text 21"/>
          <p:cNvSpPr/>
          <p:nvPr/>
        </p:nvSpPr>
        <p:spPr>
          <a:xfrm>
            <a:off x="9473184" y="4882896"/>
            <a:ext cx="1216152"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미승인 차단</a:t>
            </a:r>
            <a:endParaRPr lang="en-US" sz="1000" dirty="0"/>
          </a:p>
        </p:txBody>
      </p:sp>
      <p:sp>
        <p:nvSpPr>
          <p:cNvPr id="24" name="Shape 22"/>
          <p:cNvSpPr/>
          <p:nvPr/>
        </p:nvSpPr>
        <p:spPr>
          <a:xfrm>
            <a:off x="594360" y="6345936"/>
            <a:ext cx="11000232" cy="0"/>
          </a:xfrm>
          <a:prstGeom prst="line">
            <a:avLst/>
          </a:prstGeom>
          <a:noFill/>
          <a:ln w="7620">
            <a:solidFill>
              <a:srgbClr val="D2D2D7"/>
            </a:solidFill>
            <a:prstDash val="solid"/>
          </a:ln>
        </p:spPr>
      </p:sp>
      <p:sp>
        <p:nvSpPr>
          <p:cNvPr id="25" name="Text 23"/>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S013</a:t>
            </a:r>
            <a:endParaRPr lang="en-US" sz="900" dirty="0"/>
          </a:p>
        </p:txBody>
      </p:sp>
      <p:sp>
        <p:nvSpPr>
          <p:cNvPr id="26" name="Text 24"/>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S014</a:t>
            </a:r>
            <a:endParaRPr lang="en-US" sz="900" dirty="0"/>
          </a:p>
        </p:txBody>
      </p:sp>
      <p:sp>
        <p:nvSpPr>
          <p:cNvPr id="28" name="Text 26"/>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S059</a:t>
            </a:r>
            <a:endParaRPr lang="en-US" sz="900" dirty="0"/>
          </a:p>
        </p:txBody>
      </p:sp>
      <p:sp>
        <p:nvSpPr>
          <p:cNvPr id="30" name="Text 28"/>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1" name="Text 29"/>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S075</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STEP 2 · 증거·서류 준비</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원본은 보존하고 필요한 정보만 추출합니다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원본과 파생 데이터를 분리하고 모든 핵심 필드를 사용자가 승인합니다.</a:t>
            </a:r>
            <a:endParaRPr lang="en-US" sz="1750" dirty="0"/>
          </a:p>
        </p:txBody>
      </p:sp>
      <p:sp>
        <p:nvSpPr>
          <p:cNvPr id="5" name="Shape 3"/>
          <p:cNvSpPr/>
          <p:nvPr/>
        </p:nvSpPr>
        <p:spPr>
          <a:xfrm>
            <a:off x="960120" y="3886200"/>
            <a:ext cx="10012680" cy="0"/>
          </a:xfrm>
          <a:prstGeom prst="line">
            <a:avLst/>
          </a:prstGeom>
          <a:noFill/>
          <a:ln w="17780">
            <a:solidFill>
              <a:srgbClr val="0071E3"/>
            </a:solidFill>
            <a:prstDash val="solid"/>
          </a:ln>
        </p:spPr>
      </p:sp>
      <p:sp>
        <p:nvSpPr>
          <p:cNvPr id="6" name="Shape 4"/>
          <p:cNvSpPr/>
          <p:nvPr/>
        </p:nvSpPr>
        <p:spPr>
          <a:xfrm>
            <a:off x="594360" y="2514600"/>
            <a:ext cx="2626614" cy="2148840"/>
          </a:xfrm>
          <a:prstGeom prst="roundRect">
            <a:avLst>
              <a:gd name="adj" fmla="val 5106"/>
            </a:avLst>
          </a:prstGeom>
          <a:solidFill>
            <a:srgbClr val="111111"/>
          </a:solidFill>
          <a:ln w="8890">
            <a:solidFill>
              <a:srgbClr val="111111"/>
            </a:solidFill>
            <a:prstDash val="solid"/>
          </a:ln>
        </p:spPr>
      </p:sp>
      <p:sp>
        <p:nvSpPr>
          <p:cNvPr id="7" name="Text 5"/>
          <p:cNvSpPr/>
          <p:nvPr/>
        </p:nvSpPr>
        <p:spPr>
          <a:xfrm>
            <a:off x="758952" y="2706624"/>
            <a:ext cx="2297430" cy="292608"/>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01</a:t>
            </a:r>
            <a:endParaRPr lang="en-US" sz="900" dirty="0"/>
          </a:p>
        </p:txBody>
      </p:sp>
      <p:sp>
        <p:nvSpPr>
          <p:cNvPr id="8" name="Text 6"/>
          <p:cNvSpPr/>
          <p:nvPr/>
        </p:nvSpPr>
        <p:spPr>
          <a:xfrm>
            <a:off x="758952" y="3246120"/>
            <a:ext cx="2297430" cy="64008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Noto Sans CJK KR" pitchFamily="34" charset="0"/>
                <a:ea typeface="Noto Sans CJK KR" pitchFamily="34" charset="-122"/>
                <a:cs typeface="Noto Sans CJK KR" pitchFamily="34" charset="-120"/>
              </a:rPr>
              <a:t>원본 파일</a:t>
            </a:r>
            <a:endParaRPr lang="en-US" sz="1400" dirty="0"/>
          </a:p>
        </p:txBody>
      </p:sp>
      <p:sp>
        <p:nvSpPr>
          <p:cNvPr id="9" name="Text 7"/>
          <p:cNvSpPr/>
          <p:nvPr/>
        </p:nvSpPr>
        <p:spPr>
          <a:xfrm>
            <a:off x="758952" y="4069080"/>
            <a:ext cx="2297430" cy="457200"/>
          </a:xfrm>
          <a:prstGeom prst="rect">
            <a:avLst/>
          </a:prstGeom>
          <a:noFill/>
          <a:ln/>
        </p:spPr>
        <p:txBody>
          <a:bodyPr wrap="square" lIns="0" tIns="0" rIns="0" bIns="0" rtlCol="0" anchor="t">
            <a:normAutofit/>
          </a:bodyPr>
          <a:lstStyle/>
          <a:p>
            <a:pPr algn="ctr" indent="0" marL="0">
              <a:buNone/>
            </a:pPr>
            <a:r>
              <a:rPr lang="en-US" sz="950" b="1" dirty="0">
                <a:solidFill>
                  <a:srgbClr val="D2D2D7"/>
                </a:solidFill>
                <a:latin typeface="Noto Sans CJK KR" pitchFamily="34" charset="0"/>
                <a:ea typeface="Noto Sans CJK KR" pitchFamily="34" charset="-122"/>
                <a:cs typeface="Noto Sans CJK KR" pitchFamily="34" charset="-120"/>
              </a:rPr>
              <a:t>chat_01.png</a:t>
            </a:r>
            <a:endParaRPr lang="en-US" sz="950" dirty="0"/>
          </a:p>
          <a:p>
            <a:pPr algn="ctr" indent="0" marL="0">
              <a:buNone/>
            </a:pPr>
            <a:r>
              <a:rPr lang="en-US" sz="950" b="1" dirty="0">
                <a:solidFill>
                  <a:srgbClr val="D2D2D7"/>
                </a:solidFill>
                <a:latin typeface="Noto Sans CJK KR" pitchFamily="34" charset="0"/>
                <a:ea typeface="Noto Sans CJK KR" pitchFamily="34" charset="-122"/>
                <a:cs typeface="Noto Sans CJK KR" pitchFamily="34" charset="-120"/>
              </a:rPr>
              <a:t>SHA-256 기록</a:t>
            </a:r>
            <a:endParaRPr lang="en-US" sz="950" dirty="0"/>
          </a:p>
        </p:txBody>
      </p:sp>
      <p:sp>
        <p:nvSpPr>
          <p:cNvPr id="10" name="Shape 8"/>
          <p:cNvSpPr/>
          <p:nvPr/>
        </p:nvSpPr>
        <p:spPr>
          <a:xfrm>
            <a:off x="3385566" y="2834640"/>
            <a:ext cx="2626614" cy="2148840"/>
          </a:xfrm>
          <a:prstGeom prst="roundRect">
            <a:avLst>
              <a:gd name="adj" fmla="val 5106"/>
            </a:avLst>
          </a:prstGeom>
          <a:solidFill>
            <a:srgbClr val="FFFFFF"/>
          </a:solidFill>
          <a:ln w="8890">
            <a:solidFill>
              <a:srgbClr val="D2D2D7"/>
            </a:solidFill>
            <a:prstDash val="solid"/>
          </a:ln>
        </p:spPr>
      </p:sp>
      <p:sp>
        <p:nvSpPr>
          <p:cNvPr id="11" name="Text 9"/>
          <p:cNvSpPr/>
          <p:nvPr/>
        </p:nvSpPr>
        <p:spPr>
          <a:xfrm>
            <a:off x="3550158" y="3026664"/>
            <a:ext cx="2297430"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02</a:t>
            </a:r>
            <a:endParaRPr lang="en-US" sz="900" dirty="0"/>
          </a:p>
        </p:txBody>
      </p:sp>
      <p:sp>
        <p:nvSpPr>
          <p:cNvPr id="12" name="Text 10"/>
          <p:cNvSpPr/>
          <p:nvPr/>
        </p:nvSpPr>
        <p:spPr>
          <a:xfrm>
            <a:off x="3550158" y="3566160"/>
            <a:ext cx="2297430"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OCR 추출</a:t>
            </a:r>
            <a:endParaRPr lang="en-US" sz="1400" dirty="0"/>
          </a:p>
        </p:txBody>
      </p:sp>
      <p:sp>
        <p:nvSpPr>
          <p:cNvPr id="13" name="Text 11"/>
          <p:cNvSpPr/>
          <p:nvPr/>
        </p:nvSpPr>
        <p:spPr>
          <a:xfrm>
            <a:off x="3550158" y="4389120"/>
            <a:ext cx="2297430"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금액·계좌·일시</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필드 추출</a:t>
            </a:r>
            <a:endParaRPr lang="en-US" sz="950" dirty="0"/>
          </a:p>
        </p:txBody>
      </p:sp>
      <p:sp>
        <p:nvSpPr>
          <p:cNvPr id="14" name="Shape 12"/>
          <p:cNvSpPr/>
          <p:nvPr/>
        </p:nvSpPr>
        <p:spPr>
          <a:xfrm>
            <a:off x="6176772" y="2514600"/>
            <a:ext cx="2626614" cy="2148840"/>
          </a:xfrm>
          <a:prstGeom prst="roundRect">
            <a:avLst>
              <a:gd name="adj" fmla="val 5106"/>
            </a:avLst>
          </a:prstGeom>
          <a:solidFill>
            <a:srgbClr val="FFFFFF"/>
          </a:solidFill>
          <a:ln w="8890">
            <a:solidFill>
              <a:srgbClr val="D2D2D7"/>
            </a:solidFill>
            <a:prstDash val="solid"/>
          </a:ln>
        </p:spPr>
      </p:sp>
      <p:sp>
        <p:nvSpPr>
          <p:cNvPr id="15" name="Text 13"/>
          <p:cNvSpPr/>
          <p:nvPr/>
        </p:nvSpPr>
        <p:spPr>
          <a:xfrm>
            <a:off x="6341364" y="2706624"/>
            <a:ext cx="2297430"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03</a:t>
            </a:r>
            <a:endParaRPr lang="en-US" sz="900" dirty="0"/>
          </a:p>
        </p:txBody>
      </p:sp>
      <p:sp>
        <p:nvSpPr>
          <p:cNvPr id="16" name="Text 14"/>
          <p:cNvSpPr/>
          <p:nvPr/>
        </p:nvSpPr>
        <p:spPr>
          <a:xfrm>
            <a:off x="6341364" y="3246120"/>
            <a:ext cx="2297430"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사용자 승인</a:t>
            </a:r>
            <a:endParaRPr lang="en-US" sz="1400" dirty="0"/>
          </a:p>
        </p:txBody>
      </p:sp>
      <p:sp>
        <p:nvSpPr>
          <p:cNvPr id="17" name="Text 15"/>
          <p:cNvSpPr/>
          <p:nvPr/>
        </p:nvSpPr>
        <p:spPr>
          <a:xfrm>
            <a:off x="6341364" y="4069080"/>
            <a:ext cx="2297430"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핵심 필드</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12개 승인</a:t>
            </a:r>
            <a:endParaRPr lang="en-US" sz="950" dirty="0"/>
          </a:p>
        </p:txBody>
      </p:sp>
      <p:sp>
        <p:nvSpPr>
          <p:cNvPr id="18" name="Shape 16"/>
          <p:cNvSpPr/>
          <p:nvPr/>
        </p:nvSpPr>
        <p:spPr>
          <a:xfrm>
            <a:off x="8967978" y="2834640"/>
            <a:ext cx="2626614" cy="2148840"/>
          </a:xfrm>
          <a:prstGeom prst="roundRect">
            <a:avLst>
              <a:gd name="adj" fmla="val 5106"/>
            </a:avLst>
          </a:prstGeom>
          <a:solidFill>
            <a:srgbClr val="FFFFFF"/>
          </a:solidFill>
          <a:ln w="8890">
            <a:solidFill>
              <a:srgbClr val="D2D2D7"/>
            </a:solidFill>
            <a:prstDash val="solid"/>
          </a:ln>
        </p:spPr>
      </p:sp>
      <p:sp>
        <p:nvSpPr>
          <p:cNvPr id="19" name="Text 17"/>
          <p:cNvSpPr/>
          <p:nvPr/>
        </p:nvSpPr>
        <p:spPr>
          <a:xfrm>
            <a:off x="9132570" y="3026664"/>
            <a:ext cx="2297430"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04</a:t>
            </a:r>
            <a:endParaRPr lang="en-US" sz="900" dirty="0"/>
          </a:p>
        </p:txBody>
      </p:sp>
      <p:sp>
        <p:nvSpPr>
          <p:cNvPr id="20" name="Text 18"/>
          <p:cNvSpPr/>
          <p:nvPr/>
        </p:nvSpPr>
        <p:spPr>
          <a:xfrm>
            <a:off x="9132570" y="3566160"/>
            <a:ext cx="2297430"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증거 패킷</a:t>
            </a:r>
            <a:endParaRPr lang="en-US" sz="1400" dirty="0"/>
          </a:p>
        </p:txBody>
      </p:sp>
      <p:sp>
        <p:nvSpPr>
          <p:cNvPr id="21" name="Text 19"/>
          <p:cNvSpPr/>
          <p:nvPr/>
        </p:nvSpPr>
        <p:spPr>
          <a:xfrm>
            <a:off x="9132570" y="4389120"/>
            <a:ext cx="2297430"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원본 9 · 사실표</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미확인 0</a:t>
            </a:r>
            <a:endParaRPr lang="en-US" sz="950" dirty="0"/>
          </a:p>
        </p:txBody>
      </p:sp>
      <p:sp>
        <p:nvSpPr>
          <p:cNvPr id="22" name="Shape 20"/>
          <p:cNvSpPr/>
          <p:nvPr/>
        </p:nvSpPr>
        <p:spPr>
          <a:xfrm>
            <a:off x="594360" y="6345936"/>
            <a:ext cx="11000232" cy="0"/>
          </a:xfrm>
          <a:prstGeom prst="line">
            <a:avLst/>
          </a:prstGeom>
          <a:noFill/>
          <a:ln w="7620">
            <a:solidFill>
              <a:srgbClr val="D2D2D7"/>
            </a:solidFill>
            <a:prstDash val="solid"/>
          </a:ln>
        </p:spPr>
      </p:sp>
      <p:sp>
        <p:nvSpPr>
          <p:cNvPr id="23" name="Text 21"/>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S063</a:t>
            </a:r>
            <a:endParaRPr lang="en-US" sz="900" dirty="0"/>
          </a:p>
        </p:txBody>
      </p:sp>
      <p:sp>
        <p:nvSpPr>
          <p:cNvPr id="24" name="Text 22"/>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5" name="Text 23"/>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S064</a:t>
            </a:r>
            <a:endParaRPr lang="en-US" sz="900" dirty="0"/>
          </a:p>
        </p:txBody>
      </p:sp>
      <p:sp>
        <p:nvSpPr>
          <p:cNvPr id="26" name="Text 24"/>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S065</a:t>
            </a:r>
            <a:endParaRPr lang="en-US" sz="900" dirty="0"/>
          </a:p>
        </p:txBody>
      </p:sp>
      <p:sp>
        <p:nvSpPr>
          <p:cNvPr id="28" name="Text 26"/>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S067</a:t>
            </a:r>
            <a:endParaRPr lang="en-US" sz="900" dirty="0"/>
          </a:p>
        </p:txBody>
      </p:sp>
      <p:sp>
        <p:nvSpPr>
          <p:cNvPr id="30" name="Text 28"/>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1" name="Text 29"/>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S068</a:t>
            </a:r>
            <a:endParaRPr lang="en-US" sz="900" dirty="0"/>
          </a:p>
        </p:txBody>
      </p:sp>
      <p:sp>
        <p:nvSpPr>
          <p:cNvPr id="32" name="Text 30"/>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3" name="Text 31"/>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S078</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STEP 2 · 사건 추적</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공식 통지를 붙여넣으면 현재 단계를 보여줍니다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사건번호·기관·기일 후보를 추출하고 사용자가 원문과 직접 대조합니다.</a:t>
            </a:r>
            <a:endParaRPr lang="en-US" sz="1750" dirty="0"/>
          </a:p>
        </p:txBody>
      </p:sp>
      <p:sp>
        <p:nvSpPr>
          <p:cNvPr id="5" name="Shape 3"/>
          <p:cNvSpPr/>
          <p:nvPr/>
        </p:nvSpPr>
        <p:spPr>
          <a:xfrm>
            <a:off x="594360" y="2331720"/>
            <a:ext cx="4800600" cy="3401568"/>
          </a:xfrm>
          <a:prstGeom prst="roundRect">
            <a:avLst>
              <a:gd name="adj" fmla="val 3226"/>
            </a:avLst>
          </a:prstGeom>
          <a:solidFill>
            <a:srgbClr val="FFFFFF"/>
          </a:solidFill>
          <a:ln w="8890">
            <a:solidFill>
              <a:srgbClr val="D2D2D7"/>
            </a:solidFill>
            <a:prstDash val="solid"/>
          </a:ln>
        </p:spPr>
      </p:sp>
      <p:sp>
        <p:nvSpPr>
          <p:cNvPr id="6" name="Shape 4"/>
          <p:cNvSpPr/>
          <p:nvPr/>
        </p:nvSpPr>
        <p:spPr>
          <a:xfrm>
            <a:off x="822960" y="2560320"/>
            <a:ext cx="1005840" cy="329184"/>
          </a:xfrm>
          <a:prstGeom prst="roundRect">
            <a:avLst>
              <a:gd name="adj" fmla="val 33333"/>
            </a:avLst>
          </a:prstGeom>
          <a:solidFill>
            <a:srgbClr val="EAF3FC"/>
          </a:solidFill>
          <a:ln w="8890">
            <a:solidFill>
              <a:srgbClr val="EAF3FC"/>
            </a:solidFill>
            <a:prstDash val="solid"/>
          </a:ln>
        </p:spPr>
      </p:sp>
      <p:sp>
        <p:nvSpPr>
          <p:cNvPr id="7" name="Text 5"/>
          <p:cNvSpPr/>
          <p:nvPr/>
        </p:nvSpPr>
        <p:spPr>
          <a:xfrm>
            <a:off x="923544" y="2560320"/>
            <a:ext cx="8046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통지 원문</a:t>
            </a:r>
            <a:endParaRPr lang="en-US" sz="1000" dirty="0"/>
          </a:p>
        </p:txBody>
      </p:sp>
      <p:sp>
        <p:nvSpPr>
          <p:cNvPr id="8" name="Text 6"/>
          <p:cNvSpPr/>
          <p:nvPr/>
        </p:nvSpPr>
        <p:spPr>
          <a:xfrm>
            <a:off x="868680" y="3108960"/>
            <a:ext cx="4069080" cy="1554480"/>
          </a:xfrm>
          <a:prstGeom prst="rect">
            <a:avLst/>
          </a:prstGeom>
          <a:noFill/>
          <a:ln/>
        </p:spPr>
        <p:txBody>
          <a:bodyPr wrap="square" lIns="0" tIns="0" rIns="0" bIns="0" rtlCol="0" anchor="t">
            <a:normAutofit/>
          </a:bodyPr>
          <a:lstStyle/>
          <a:p>
            <a:pPr indent="0" marL="0">
              <a:buNone/>
            </a:pPr>
            <a:r>
              <a:rPr lang="en-US" sz="1600" b="1" dirty="0">
                <a:solidFill>
                  <a:srgbClr val="1D1D1F"/>
                </a:solidFill>
                <a:latin typeface="Noto Sans CJK KR" pitchFamily="34" charset="0"/>
                <a:ea typeface="Noto Sans CJK KR" pitchFamily="34" charset="-122"/>
                <a:cs typeface="Noto Sans CJK KR" pitchFamily="34" charset="-120"/>
              </a:rPr>
              <a:t>서울중앙지방법원</a:t>
            </a:r>
            <a:endParaRPr lang="en-US" sz="1600" dirty="0"/>
          </a:p>
          <a:p>
            <a:pPr indent="0" marL="0">
              <a:buNone/>
            </a:pPr>
            <a:r>
              <a:rPr lang="en-US" sz="1600" b="1" dirty="0">
                <a:solidFill>
                  <a:srgbClr val="1D1D1F"/>
                </a:solidFill>
                <a:latin typeface="Noto Sans CJK KR" pitchFamily="34" charset="0"/>
                <a:ea typeface="Noto Sans CJK KR" pitchFamily="34" charset="-122"/>
                <a:cs typeface="Noto Sans CJK KR" pitchFamily="34" charset="-120"/>
              </a:rPr>
              <a:t>2026고단 0000</a:t>
            </a:r>
            <a:endParaRPr lang="en-US" sz="1600" dirty="0"/>
          </a:p>
          <a:p>
            <a:pPr indent="0" marL="0">
              <a:buNone/>
            </a:pPr>
            <a:r>
              <a:rPr lang="en-US" sz="1600" b="1" dirty="0">
                <a:solidFill>
                  <a:srgbClr val="1D1D1F"/>
                </a:solidFill>
                <a:latin typeface="Noto Sans CJK KR" pitchFamily="34" charset="0"/>
                <a:ea typeface="Noto Sans CJK KR" pitchFamily="34" charset="-122"/>
                <a:cs typeface="Noto Sans CJK KR" pitchFamily="34" charset="-120"/>
              </a:rPr>
              <a:t>공판기일 2026. 9. 3.</a:t>
            </a:r>
            <a:endParaRPr lang="en-US" sz="1600" dirty="0"/>
          </a:p>
        </p:txBody>
      </p:sp>
      <p:sp>
        <p:nvSpPr>
          <p:cNvPr id="9" name="Shape 7"/>
          <p:cNvSpPr/>
          <p:nvPr/>
        </p:nvSpPr>
        <p:spPr>
          <a:xfrm>
            <a:off x="5650992" y="2331720"/>
            <a:ext cx="5943600" cy="3401568"/>
          </a:xfrm>
          <a:prstGeom prst="roundRect">
            <a:avLst>
              <a:gd name="adj" fmla="val 3226"/>
            </a:avLst>
          </a:prstGeom>
          <a:solidFill>
            <a:srgbClr val="FFFFFF"/>
          </a:solidFill>
          <a:ln w="8890">
            <a:solidFill>
              <a:srgbClr val="D2D2D7"/>
            </a:solidFill>
            <a:prstDash val="solid"/>
          </a:ln>
        </p:spPr>
      </p:sp>
      <p:sp>
        <p:nvSpPr>
          <p:cNvPr id="10" name="Shape 8"/>
          <p:cNvSpPr/>
          <p:nvPr/>
        </p:nvSpPr>
        <p:spPr>
          <a:xfrm>
            <a:off x="5897880" y="2560320"/>
            <a:ext cx="1005840" cy="329184"/>
          </a:xfrm>
          <a:prstGeom prst="roundRect">
            <a:avLst>
              <a:gd name="adj" fmla="val 33333"/>
            </a:avLst>
          </a:prstGeom>
          <a:solidFill>
            <a:srgbClr val="EAF3FC"/>
          </a:solidFill>
          <a:ln w="8890">
            <a:solidFill>
              <a:srgbClr val="EAF3FC"/>
            </a:solidFill>
            <a:prstDash val="solid"/>
          </a:ln>
        </p:spPr>
      </p:sp>
      <p:sp>
        <p:nvSpPr>
          <p:cNvPr id="11" name="Text 9"/>
          <p:cNvSpPr/>
          <p:nvPr/>
        </p:nvSpPr>
        <p:spPr>
          <a:xfrm>
            <a:off x="5998464" y="2560320"/>
            <a:ext cx="8046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추출 후보</a:t>
            </a:r>
            <a:endParaRPr lang="en-US" sz="1000" dirty="0"/>
          </a:p>
        </p:txBody>
      </p:sp>
      <p:sp>
        <p:nvSpPr>
          <p:cNvPr id="12" name="Shape 10"/>
          <p:cNvSpPr/>
          <p:nvPr/>
        </p:nvSpPr>
        <p:spPr>
          <a:xfrm>
            <a:off x="5897880" y="3063240"/>
            <a:ext cx="5440680" cy="530352"/>
          </a:xfrm>
          <a:prstGeom prst="roundRect">
            <a:avLst>
              <a:gd name="adj" fmla="val 20690"/>
            </a:avLst>
          </a:prstGeom>
          <a:solidFill>
            <a:srgbClr val="EAF3FC"/>
          </a:solidFill>
          <a:ln w="8890">
            <a:solidFill>
              <a:srgbClr val="FFFFFF"/>
            </a:solidFill>
            <a:prstDash val="solid"/>
          </a:ln>
        </p:spPr>
      </p:sp>
      <p:sp>
        <p:nvSpPr>
          <p:cNvPr id="13" name="Text 11"/>
          <p:cNvSpPr/>
          <p:nvPr/>
        </p:nvSpPr>
        <p:spPr>
          <a:xfrm>
            <a:off x="6126480" y="3063240"/>
            <a:ext cx="914400" cy="530352"/>
          </a:xfrm>
          <a:prstGeom prst="rect">
            <a:avLst/>
          </a:prstGeom>
          <a:noFill/>
          <a:ln/>
        </p:spPr>
        <p:txBody>
          <a:bodyPr wrap="square" lIns="0" tIns="0" rIns="0" bIns="0" rtlCol="0" anchor="ctr">
            <a:normAutofit/>
          </a:bodyPr>
          <a:lstStyle/>
          <a:p>
            <a:pPr indent="0" marL="0">
              <a:buNone/>
            </a:pPr>
            <a:r>
              <a:rPr lang="en-US" sz="1000" b="1" dirty="0">
                <a:solidFill>
                  <a:srgbClr val="6E6E73"/>
                </a:solidFill>
                <a:latin typeface="Noto Sans CJK KR" pitchFamily="34" charset="0"/>
                <a:ea typeface="Noto Sans CJK KR" pitchFamily="34" charset="-122"/>
                <a:cs typeface="Noto Sans CJK KR" pitchFamily="34" charset="-120"/>
              </a:rPr>
              <a:t>사건번호</a:t>
            </a:r>
            <a:endParaRPr lang="en-US" sz="1000" dirty="0"/>
          </a:p>
        </p:txBody>
      </p:sp>
      <p:sp>
        <p:nvSpPr>
          <p:cNvPr id="14" name="Text 12"/>
          <p:cNvSpPr/>
          <p:nvPr/>
        </p:nvSpPr>
        <p:spPr>
          <a:xfrm>
            <a:off x="7086600" y="3063240"/>
            <a:ext cx="2606040" cy="530352"/>
          </a:xfrm>
          <a:prstGeom prst="rect">
            <a:avLst/>
          </a:prstGeom>
          <a:noFill/>
          <a:ln/>
        </p:spPr>
        <p:txBody>
          <a:bodyPr wrap="square" lIns="0" tIns="0" rIns="0" bIns="0" rtlCol="0" anchor="ctr">
            <a:normAutofit/>
          </a:bodyPr>
          <a:lstStyle/>
          <a:p>
            <a:pPr indent="0" marL="0">
              <a:buNone/>
            </a:pPr>
            <a:r>
              <a:rPr lang="en-US" sz="1200" b="1" dirty="0">
                <a:solidFill>
                  <a:srgbClr val="1D1D1F"/>
                </a:solidFill>
                <a:latin typeface="Noto Sans CJK KR" pitchFamily="34" charset="0"/>
                <a:ea typeface="Noto Sans CJK KR" pitchFamily="34" charset="-122"/>
                <a:cs typeface="Noto Sans CJK KR" pitchFamily="34" charset="-120"/>
              </a:rPr>
              <a:t>2026고단0000</a:t>
            </a:r>
            <a:endParaRPr lang="en-US" sz="1200" dirty="0"/>
          </a:p>
        </p:txBody>
      </p:sp>
      <p:sp>
        <p:nvSpPr>
          <p:cNvPr id="15" name="Text 13"/>
          <p:cNvSpPr/>
          <p:nvPr/>
        </p:nvSpPr>
        <p:spPr>
          <a:xfrm>
            <a:off x="10012680" y="3063240"/>
            <a:ext cx="1005840" cy="530352"/>
          </a:xfrm>
          <a:prstGeom prst="rect">
            <a:avLst/>
          </a:prstGeom>
          <a:noFill/>
          <a:ln/>
        </p:spPr>
        <p:txBody>
          <a:bodyPr wrap="square" lIns="0" tIns="0" rIns="0" bIns="0" rtlCol="0" anchor="ctr">
            <a:normAutofit/>
          </a:bodyPr>
          <a:lstStyle/>
          <a:p>
            <a:pPr algn="r" indent="0" marL="0">
              <a:buNone/>
            </a:pPr>
            <a:r>
              <a:rPr lang="en-US" sz="1000" b="1" dirty="0">
                <a:solidFill>
                  <a:srgbClr val="0071E3"/>
                </a:solidFill>
                <a:latin typeface="Noto Sans CJK KR" pitchFamily="34" charset="0"/>
                <a:ea typeface="Noto Sans CJK KR" pitchFamily="34" charset="-122"/>
                <a:cs typeface="Noto Sans CJK KR" pitchFamily="34" charset="-120"/>
              </a:rPr>
              <a:t>확인</a:t>
            </a:r>
            <a:endParaRPr lang="en-US" sz="1000" dirty="0"/>
          </a:p>
        </p:txBody>
      </p:sp>
      <p:sp>
        <p:nvSpPr>
          <p:cNvPr id="16" name="Shape 14"/>
          <p:cNvSpPr/>
          <p:nvPr/>
        </p:nvSpPr>
        <p:spPr>
          <a:xfrm>
            <a:off x="5897880" y="3767328"/>
            <a:ext cx="5440680" cy="530352"/>
          </a:xfrm>
          <a:prstGeom prst="roundRect">
            <a:avLst>
              <a:gd name="adj" fmla="val 20690"/>
            </a:avLst>
          </a:prstGeom>
          <a:solidFill>
            <a:srgbClr val="EAF3FC"/>
          </a:solidFill>
          <a:ln w="8890">
            <a:solidFill>
              <a:srgbClr val="FFFFFF"/>
            </a:solidFill>
            <a:prstDash val="solid"/>
          </a:ln>
        </p:spPr>
      </p:sp>
      <p:sp>
        <p:nvSpPr>
          <p:cNvPr id="17" name="Text 15"/>
          <p:cNvSpPr/>
          <p:nvPr/>
        </p:nvSpPr>
        <p:spPr>
          <a:xfrm>
            <a:off x="6126480" y="3767328"/>
            <a:ext cx="914400" cy="530352"/>
          </a:xfrm>
          <a:prstGeom prst="rect">
            <a:avLst/>
          </a:prstGeom>
          <a:noFill/>
          <a:ln/>
        </p:spPr>
        <p:txBody>
          <a:bodyPr wrap="square" lIns="0" tIns="0" rIns="0" bIns="0" rtlCol="0" anchor="ctr">
            <a:normAutofit/>
          </a:bodyPr>
          <a:lstStyle/>
          <a:p>
            <a:pPr indent="0" marL="0">
              <a:buNone/>
            </a:pPr>
            <a:r>
              <a:rPr lang="en-US" sz="1000" b="1" dirty="0">
                <a:solidFill>
                  <a:srgbClr val="6E6E73"/>
                </a:solidFill>
                <a:latin typeface="Noto Sans CJK KR" pitchFamily="34" charset="0"/>
                <a:ea typeface="Noto Sans CJK KR" pitchFamily="34" charset="-122"/>
                <a:cs typeface="Noto Sans CJK KR" pitchFamily="34" charset="-120"/>
              </a:rPr>
              <a:t>기관</a:t>
            </a:r>
            <a:endParaRPr lang="en-US" sz="1000" dirty="0"/>
          </a:p>
        </p:txBody>
      </p:sp>
      <p:sp>
        <p:nvSpPr>
          <p:cNvPr id="18" name="Text 16"/>
          <p:cNvSpPr/>
          <p:nvPr/>
        </p:nvSpPr>
        <p:spPr>
          <a:xfrm>
            <a:off x="7086600" y="3767328"/>
            <a:ext cx="2606040" cy="530352"/>
          </a:xfrm>
          <a:prstGeom prst="rect">
            <a:avLst/>
          </a:prstGeom>
          <a:noFill/>
          <a:ln/>
        </p:spPr>
        <p:txBody>
          <a:bodyPr wrap="square" lIns="0" tIns="0" rIns="0" bIns="0" rtlCol="0" anchor="ctr">
            <a:normAutofit/>
          </a:bodyPr>
          <a:lstStyle/>
          <a:p>
            <a:pPr indent="0" marL="0">
              <a:buNone/>
            </a:pPr>
            <a:r>
              <a:rPr lang="en-US" sz="1200" b="1" dirty="0">
                <a:solidFill>
                  <a:srgbClr val="1D1D1F"/>
                </a:solidFill>
                <a:latin typeface="Noto Sans CJK KR" pitchFamily="34" charset="0"/>
                <a:ea typeface="Noto Sans CJK KR" pitchFamily="34" charset="-122"/>
                <a:cs typeface="Noto Sans CJK KR" pitchFamily="34" charset="-120"/>
              </a:rPr>
              <a:t>서울중앙지법</a:t>
            </a:r>
            <a:endParaRPr lang="en-US" sz="1200" dirty="0"/>
          </a:p>
        </p:txBody>
      </p:sp>
      <p:sp>
        <p:nvSpPr>
          <p:cNvPr id="19" name="Text 17"/>
          <p:cNvSpPr/>
          <p:nvPr/>
        </p:nvSpPr>
        <p:spPr>
          <a:xfrm>
            <a:off x="10012680" y="3767328"/>
            <a:ext cx="1005840" cy="530352"/>
          </a:xfrm>
          <a:prstGeom prst="rect">
            <a:avLst/>
          </a:prstGeom>
          <a:noFill/>
          <a:ln/>
        </p:spPr>
        <p:txBody>
          <a:bodyPr wrap="square" lIns="0" tIns="0" rIns="0" bIns="0" rtlCol="0" anchor="ctr">
            <a:normAutofit/>
          </a:bodyPr>
          <a:lstStyle/>
          <a:p>
            <a:pPr algn="r" indent="0" marL="0">
              <a:buNone/>
            </a:pPr>
            <a:r>
              <a:rPr lang="en-US" sz="1000" b="1" dirty="0">
                <a:solidFill>
                  <a:srgbClr val="0071E3"/>
                </a:solidFill>
                <a:latin typeface="Noto Sans CJK KR" pitchFamily="34" charset="0"/>
                <a:ea typeface="Noto Sans CJK KR" pitchFamily="34" charset="-122"/>
                <a:cs typeface="Noto Sans CJK KR" pitchFamily="34" charset="-120"/>
              </a:rPr>
              <a:t>확인</a:t>
            </a:r>
            <a:endParaRPr lang="en-US" sz="1000" dirty="0"/>
          </a:p>
        </p:txBody>
      </p:sp>
      <p:sp>
        <p:nvSpPr>
          <p:cNvPr id="20" name="Shape 18"/>
          <p:cNvSpPr/>
          <p:nvPr/>
        </p:nvSpPr>
        <p:spPr>
          <a:xfrm>
            <a:off x="5897880" y="4471416"/>
            <a:ext cx="5440680" cy="530352"/>
          </a:xfrm>
          <a:prstGeom prst="roundRect">
            <a:avLst>
              <a:gd name="adj" fmla="val 20690"/>
            </a:avLst>
          </a:prstGeom>
          <a:solidFill>
            <a:srgbClr val="F5F5F7"/>
          </a:solidFill>
          <a:ln w="8890">
            <a:solidFill>
              <a:srgbClr val="FFFFFF"/>
            </a:solidFill>
            <a:prstDash val="solid"/>
          </a:ln>
        </p:spPr>
      </p:sp>
      <p:sp>
        <p:nvSpPr>
          <p:cNvPr id="21" name="Text 19"/>
          <p:cNvSpPr/>
          <p:nvPr/>
        </p:nvSpPr>
        <p:spPr>
          <a:xfrm>
            <a:off x="6126480" y="4471416"/>
            <a:ext cx="914400" cy="530352"/>
          </a:xfrm>
          <a:prstGeom prst="rect">
            <a:avLst/>
          </a:prstGeom>
          <a:noFill/>
          <a:ln/>
        </p:spPr>
        <p:txBody>
          <a:bodyPr wrap="square" lIns="0" tIns="0" rIns="0" bIns="0" rtlCol="0" anchor="ctr">
            <a:normAutofit/>
          </a:bodyPr>
          <a:lstStyle/>
          <a:p>
            <a:pPr indent="0" marL="0">
              <a:buNone/>
            </a:pPr>
            <a:r>
              <a:rPr lang="en-US" sz="1000" b="1" dirty="0">
                <a:solidFill>
                  <a:srgbClr val="6E6E73"/>
                </a:solidFill>
                <a:latin typeface="Noto Sans CJK KR" pitchFamily="34" charset="0"/>
                <a:ea typeface="Noto Sans CJK KR" pitchFamily="34" charset="-122"/>
                <a:cs typeface="Noto Sans CJK KR" pitchFamily="34" charset="-120"/>
              </a:rPr>
              <a:t>공판기일</a:t>
            </a:r>
            <a:endParaRPr lang="en-US" sz="1000" dirty="0"/>
          </a:p>
        </p:txBody>
      </p:sp>
      <p:sp>
        <p:nvSpPr>
          <p:cNvPr id="22" name="Text 20"/>
          <p:cNvSpPr/>
          <p:nvPr/>
        </p:nvSpPr>
        <p:spPr>
          <a:xfrm>
            <a:off x="7086600" y="4471416"/>
            <a:ext cx="2606040" cy="530352"/>
          </a:xfrm>
          <a:prstGeom prst="rect">
            <a:avLst/>
          </a:prstGeom>
          <a:noFill/>
          <a:ln/>
        </p:spPr>
        <p:txBody>
          <a:bodyPr wrap="square" lIns="0" tIns="0" rIns="0" bIns="0" rtlCol="0" anchor="ctr">
            <a:normAutofit/>
          </a:bodyPr>
          <a:lstStyle/>
          <a:p>
            <a:pPr indent="0" marL="0">
              <a:buNone/>
            </a:pPr>
            <a:r>
              <a:rPr lang="en-US" sz="1200" b="1" dirty="0">
                <a:solidFill>
                  <a:srgbClr val="1D1D1F"/>
                </a:solidFill>
                <a:latin typeface="Noto Sans CJK KR" pitchFamily="34" charset="0"/>
                <a:ea typeface="Noto Sans CJK KR" pitchFamily="34" charset="-122"/>
                <a:cs typeface="Noto Sans CJK KR" pitchFamily="34" charset="-120"/>
              </a:rPr>
              <a:t>2026. 9. 3.</a:t>
            </a:r>
            <a:endParaRPr lang="en-US" sz="1200" dirty="0"/>
          </a:p>
        </p:txBody>
      </p:sp>
      <p:sp>
        <p:nvSpPr>
          <p:cNvPr id="23" name="Text 21"/>
          <p:cNvSpPr/>
          <p:nvPr/>
        </p:nvSpPr>
        <p:spPr>
          <a:xfrm>
            <a:off x="10012680" y="4471416"/>
            <a:ext cx="1005840" cy="530352"/>
          </a:xfrm>
          <a:prstGeom prst="rect">
            <a:avLst/>
          </a:prstGeom>
          <a:noFill/>
          <a:ln/>
        </p:spPr>
        <p:txBody>
          <a:bodyPr wrap="square" lIns="0" tIns="0" rIns="0" bIns="0" rtlCol="0" anchor="ctr">
            <a:normAutofit/>
          </a:bodyPr>
          <a:lstStyle/>
          <a:p>
            <a:pPr algn="r" indent="0" marL="0">
              <a:buNone/>
            </a:pPr>
            <a:r>
              <a:rPr lang="en-US" sz="1000" b="1" dirty="0">
                <a:solidFill>
                  <a:srgbClr val="6E6E73"/>
                </a:solidFill>
                <a:latin typeface="Noto Sans CJK KR" pitchFamily="34" charset="0"/>
                <a:ea typeface="Noto Sans CJK KR" pitchFamily="34" charset="-122"/>
                <a:cs typeface="Noto Sans CJK KR" pitchFamily="34" charset="-120"/>
              </a:rPr>
              <a:t>보류</a:t>
            </a:r>
            <a:endParaRPr lang="en-US" sz="1000" dirty="0"/>
          </a:p>
        </p:txBody>
      </p:sp>
      <p:sp>
        <p:nvSpPr>
          <p:cNvPr id="24" name="Shape 22"/>
          <p:cNvSpPr/>
          <p:nvPr/>
        </p:nvSpPr>
        <p:spPr>
          <a:xfrm>
            <a:off x="594360" y="6345936"/>
            <a:ext cx="11000232" cy="0"/>
          </a:xfrm>
          <a:prstGeom prst="line">
            <a:avLst/>
          </a:prstGeom>
          <a:noFill/>
          <a:ln w="7620">
            <a:solidFill>
              <a:srgbClr val="D2D2D7"/>
            </a:solidFill>
            <a:prstDash val="solid"/>
          </a:ln>
        </p:spPr>
      </p:sp>
      <p:sp>
        <p:nvSpPr>
          <p:cNvPr id="25" name="Text 23"/>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S013</a:t>
            </a:r>
            <a:endParaRPr lang="en-US" sz="900" dirty="0"/>
          </a:p>
        </p:txBody>
      </p:sp>
      <p:sp>
        <p:nvSpPr>
          <p:cNvPr id="26" name="Text 24"/>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S014</a:t>
            </a:r>
            <a:endParaRPr lang="en-US" sz="900" dirty="0"/>
          </a:p>
        </p:txBody>
      </p:sp>
      <p:sp>
        <p:nvSpPr>
          <p:cNvPr id="28" name="Text 26"/>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S018</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2997FF"/>
                </a:solidFill>
                <a:latin typeface="Noto Sans CJK KR" pitchFamily="34" charset="0"/>
                <a:ea typeface="Noto Sans CJK KR" pitchFamily="34" charset="-122"/>
                <a:cs typeface="Noto Sans CJK KR" pitchFamily="34" charset="-120"/>
              </a:rPr>
              <a:t>STAGE 3 · 경로 분기</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FFFFFF"/>
                </a:solidFill>
                <a:latin typeface="Noto Sans CJK KR" pitchFamily="34" charset="0"/>
                <a:ea typeface="Noto Sans CJK KR" pitchFamily="34" charset="-122"/>
                <a:cs typeface="Noto Sans CJK KR" pitchFamily="34" charset="-120"/>
              </a:rPr>
              <a:t>현재 절차에 따라 두 준비 경로를 보여줍니다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D2D2D7"/>
                </a:solidFill>
                <a:latin typeface="Noto Sans CJK KR" pitchFamily="34" charset="0"/>
                <a:ea typeface="Noto Sans CJK KR" pitchFamily="34" charset="-122"/>
                <a:cs typeface="Noto Sans CJK KR" pitchFamily="34" charset="-120"/>
              </a:rPr>
              <a:t>형사공판 중 배상명령과 별도 지급명령·소액사건 준비를 구분합니다.</a:t>
            </a:r>
            <a:endParaRPr lang="en-US" sz="1750" dirty="0"/>
          </a:p>
        </p:txBody>
      </p:sp>
      <p:sp>
        <p:nvSpPr>
          <p:cNvPr id="5" name="Shape 3"/>
          <p:cNvSpPr/>
          <p:nvPr/>
        </p:nvSpPr>
        <p:spPr>
          <a:xfrm>
            <a:off x="4526280" y="2240280"/>
            <a:ext cx="3108960" cy="329184"/>
          </a:xfrm>
          <a:prstGeom prst="roundRect">
            <a:avLst>
              <a:gd name="adj" fmla="val 33333"/>
            </a:avLst>
          </a:prstGeom>
          <a:solidFill>
            <a:srgbClr val="EAF3FC"/>
          </a:solidFill>
          <a:ln w="8890">
            <a:solidFill>
              <a:srgbClr val="EAF3FC"/>
            </a:solidFill>
            <a:prstDash val="solid"/>
          </a:ln>
        </p:spPr>
      </p:sp>
      <p:sp>
        <p:nvSpPr>
          <p:cNvPr id="6" name="Text 4"/>
          <p:cNvSpPr/>
          <p:nvPr/>
        </p:nvSpPr>
        <p:spPr>
          <a:xfrm>
            <a:off x="4626864" y="2240280"/>
            <a:ext cx="2907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확인된 사건 데이터</a:t>
            </a:r>
            <a:endParaRPr lang="en-US" sz="1000" dirty="0"/>
          </a:p>
        </p:txBody>
      </p:sp>
      <p:sp>
        <p:nvSpPr>
          <p:cNvPr id="7" name="Text 5"/>
          <p:cNvSpPr/>
          <p:nvPr/>
        </p:nvSpPr>
        <p:spPr>
          <a:xfrm>
            <a:off x="3886200" y="2697480"/>
            <a:ext cx="4389120" cy="320040"/>
          </a:xfrm>
          <a:prstGeom prst="rect">
            <a:avLst/>
          </a:prstGeom>
          <a:noFill/>
          <a:ln/>
        </p:spPr>
        <p:txBody>
          <a:bodyPr wrap="square" lIns="0" tIns="0" rIns="0" bIns="0" rtlCol="0" anchor="ctr">
            <a:normAutofit/>
          </a:bodyPr>
          <a:lstStyle/>
          <a:p>
            <a:pPr algn="ctr" indent="0" marL="0">
              <a:buNone/>
            </a:pPr>
            <a:r>
              <a:rPr lang="en-US" sz="1100" b="1" dirty="0">
                <a:solidFill>
                  <a:srgbClr val="2997FF"/>
                </a:solidFill>
                <a:latin typeface="Noto Sans CJK KR" pitchFamily="34" charset="0"/>
                <a:ea typeface="Noto Sans CJK KR" pitchFamily="34" charset="-122"/>
                <a:cs typeface="Noto Sans CJK KR" pitchFamily="34" charset="-120"/>
              </a:rPr>
              <a:t>형사공판 계속 · 변론종결 전</a:t>
            </a:r>
            <a:endParaRPr lang="en-US" sz="1100" dirty="0"/>
          </a:p>
        </p:txBody>
      </p:sp>
      <p:sp>
        <p:nvSpPr>
          <p:cNvPr id="8" name="Shape 6"/>
          <p:cNvSpPr/>
          <p:nvPr/>
        </p:nvSpPr>
        <p:spPr>
          <a:xfrm>
            <a:off x="594360" y="3246120"/>
            <a:ext cx="5394960" cy="1874520"/>
          </a:xfrm>
          <a:prstGeom prst="roundRect">
            <a:avLst>
              <a:gd name="adj" fmla="val 5854"/>
            </a:avLst>
          </a:prstGeom>
          <a:solidFill>
            <a:srgbClr val="102438"/>
          </a:solidFill>
          <a:ln w="8890">
            <a:solidFill>
              <a:srgbClr val="333336"/>
            </a:solidFill>
            <a:prstDash val="solid"/>
          </a:ln>
        </p:spPr>
      </p:sp>
      <p:sp>
        <p:nvSpPr>
          <p:cNvPr id="9" name="Text 7"/>
          <p:cNvSpPr/>
          <p:nvPr/>
        </p:nvSpPr>
        <p:spPr>
          <a:xfrm>
            <a:off x="868680" y="3493008"/>
            <a:ext cx="3749040"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Noto Sans CJK KR" pitchFamily="34" charset="0"/>
                <a:ea typeface="Noto Sans CJK KR" pitchFamily="34" charset="-122"/>
                <a:cs typeface="Noto Sans CJK KR" pitchFamily="34" charset="-120"/>
              </a:rPr>
              <a:t>Track A 배상명령</a:t>
            </a:r>
            <a:endParaRPr lang="en-US" sz="1800" dirty="0"/>
          </a:p>
        </p:txBody>
      </p:sp>
      <p:sp>
        <p:nvSpPr>
          <p:cNvPr id="10" name="Shape 8"/>
          <p:cNvSpPr/>
          <p:nvPr/>
        </p:nvSpPr>
        <p:spPr>
          <a:xfrm>
            <a:off x="4754880" y="3493008"/>
            <a:ext cx="868680" cy="329184"/>
          </a:xfrm>
          <a:prstGeom prst="roundRect">
            <a:avLst>
              <a:gd name="adj" fmla="val 33333"/>
            </a:avLst>
          </a:prstGeom>
          <a:solidFill>
            <a:srgbClr val="172B42"/>
          </a:solidFill>
          <a:ln w="8890">
            <a:solidFill>
              <a:srgbClr val="172B42"/>
            </a:solidFill>
            <a:prstDash val="solid"/>
          </a:ln>
        </p:spPr>
      </p:sp>
      <p:sp>
        <p:nvSpPr>
          <p:cNvPr id="11" name="Text 9"/>
          <p:cNvSpPr/>
          <p:nvPr/>
        </p:nvSpPr>
        <p:spPr>
          <a:xfrm>
            <a:off x="4855464" y="3493008"/>
            <a:ext cx="667512"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선택</a:t>
            </a:r>
            <a:endParaRPr lang="en-US" sz="1000" dirty="0"/>
          </a:p>
        </p:txBody>
      </p:sp>
      <p:sp>
        <p:nvSpPr>
          <p:cNvPr id="12" name="Text 10"/>
          <p:cNvSpPr/>
          <p:nvPr/>
        </p:nvSpPr>
        <p:spPr>
          <a:xfrm>
            <a:off x="868680" y="4251960"/>
            <a:ext cx="4846320" cy="411480"/>
          </a:xfrm>
          <a:prstGeom prst="rect">
            <a:avLst/>
          </a:prstGeom>
          <a:noFill/>
          <a:ln/>
        </p:spPr>
        <p:txBody>
          <a:bodyPr wrap="square" lIns="0" tIns="0" rIns="0" bIns="0" rtlCol="0" anchor="ctr">
            <a:normAutofit/>
          </a:bodyPr>
          <a:lstStyle/>
          <a:p>
            <a:pPr indent="0" marL="0">
              <a:buNone/>
            </a:pPr>
            <a:r>
              <a:rPr lang="en-US" sz="1300" b="1" dirty="0">
                <a:solidFill>
                  <a:srgbClr val="D2D2D7"/>
                </a:solidFill>
                <a:latin typeface="Noto Sans CJK KR" pitchFamily="34" charset="0"/>
                <a:ea typeface="Noto Sans CJK KR" pitchFamily="34" charset="-122"/>
                <a:cs typeface="Noto Sans CJK KR" pitchFamily="34" charset="-120"/>
              </a:rPr>
              <a:t>신청 시기·범위 확인</a:t>
            </a:r>
            <a:endParaRPr lang="en-US" sz="1300" dirty="0"/>
          </a:p>
        </p:txBody>
      </p:sp>
      <p:sp>
        <p:nvSpPr>
          <p:cNvPr id="13" name="Shape 11"/>
          <p:cNvSpPr/>
          <p:nvPr/>
        </p:nvSpPr>
        <p:spPr>
          <a:xfrm>
            <a:off x="6208776" y="3246120"/>
            <a:ext cx="5394960" cy="1874520"/>
          </a:xfrm>
          <a:prstGeom prst="roundRect">
            <a:avLst>
              <a:gd name="adj" fmla="val 5854"/>
            </a:avLst>
          </a:prstGeom>
          <a:solidFill>
            <a:srgbClr val="161616"/>
          </a:solidFill>
          <a:ln w="8890">
            <a:solidFill>
              <a:srgbClr val="333336"/>
            </a:solidFill>
            <a:prstDash val="solid"/>
          </a:ln>
        </p:spPr>
      </p:sp>
      <p:sp>
        <p:nvSpPr>
          <p:cNvPr id="14" name="Text 12"/>
          <p:cNvSpPr/>
          <p:nvPr/>
        </p:nvSpPr>
        <p:spPr>
          <a:xfrm>
            <a:off x="6483096" y="3493008"/>
            <a:ext cx="3749040"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Noto Sans CJK KR" pitchFamily="34" charset="0"/>
                <a:ea typeface="Noto Sans CJK KR" pitchFamily="34" charset="-122"/>
                <a:cs typeface="Noto Sans CJK KR" pitchFamily="34" charset="-120"/>
              </a:rPr>
              <a:t>Track B 별도 민사</a:t>
            </a:r>
            <a:endParaRPr lang="en-US" sz="1800" dirty="0"/>
          </a:p>
        </p:txBody>
      </p:sp>
      <p:sp>
        <p:nvSpPr>
          <p:cNvPr id="15" name="Shape 13"/>
          <p:cNvSpPr/>
          <p:nvPr/>
        </p:nvSpPr>
        <p:spPr>
          <a:xfrm>
            <a:off x="10369296" y="3493008"/>
            <a:ext cx="868680" cy="329184"/>
          </a:xfrm>
          <a:prstGeom prst="roundRect">
            <a:avLst>
              <a:gd name="adj" fmla="val 33333"/>
            </a:avLst>
          </a:prstGeom>
          <a:solidFill>
            <a:srgbClr val="172B42"/>
          </a:solidFill>
          <a:ln w="8890">
            <a:solidFill>
              <a:srgbClr val="172B42"/>
            </a:solidFill>
            <a:prstDash val="solid"/>
          </a:ln>
        </p:spPr>
      </p:sp>
      <p:sp>
        <p:nvSpPr>
          <p:cNvPr id="16" name="Text 14"/>
          <p:cNvSpPr/>
          <p:nvPr/>
        </p:nvSpPr>
        <p:spPr>
          <a:xfrm>
            <a:off x="10469880" y="3493008"/>
            <a:ext cx="667512"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대기</a:t>
            </a:r>
            <a:endParaRPr lang="en-US" sz="1000" dirty="0"/>
          </a:p>
        </p:txBody>
      </p:sp>
      <p:sp>
        <p:nvSpPr>
          <p:cNvPr id="17" name="Text 15"/>
          <p:cNvSpPr/>
          <p:nvPr/>
        </p:nvSpPr>
        <p:spPr>
          <a:xfrm>
            <a:off x="6483096" y="4251960"/>
            <a:ext cx="4846320" cy="411480"/>
          </a:xfrm>
          <a:prstGeom prst="rect">
            <a:avLst/>
          </a:prstGeom>
          <a:noFill/>
          <a:ln/>
        </p:spPr>
        <p:txBody>
          <a:bodyPr wrap="square" lIns="0" tIns="0" rIns="0" bIns="0" rtlCol="0" anchor="ctr">
            <a:normAutofit/>
          </a:bodyPr>
          <a:lstStyle/>
          <a:p>
            <a:pPr indent="0" marL="0">
              <a:buNone/>
            </a:pPr>
            <a:r>
              <a:rPr lang="en-US" sz="1300" b="1" dirty="0">
                <a:solidFill>
                  <a:srgbClr val="D2D2D7"/>
                </a:solidFill>
                <a:latin typeface="Noto Sans CJK KR" pitchFamily="34" charset="0"/>
                <a:ea typeface="Noto Sans CJK KR" pitchFamily="34" charset="-122"/>
                <a:cs typeface="Noto Sans CJK KR" pitchFamily="34" charset="-120"/>
              </a:rPr>
              <a:t>송달·소가 확인</a:t>
            </a:r>
            <a:endParaRPr lang="en-US" sz="1300" dirty="0"/>
          </a:p>
        </p:txBody>
      </p:sp>
      <p:sp>
        <p:nvSpPr>
          <p:cNvPr id="18" name="Shape 16"/>
          <p:cNvSpPr/>
          <p:nvPr/>
        </p:nvSpPr>
        <p:spPr>
          <a:xfrm>
            <a:off x="6089904" y="2999232"/>
            <a:ext cx="-2743200" cy="246888"/>
          </a:xfrm>
          <a:prstGeom prst="line">
            <a:avLst/>
          </a:prstGeom>
          <a:noFill/>
          <a:ln w="19050">
            <a:solidFill>
              <a:srgbClr val="2997FF"/>
            </a:solidFill>
            <a:prstDash val="solid"/>
          </a:ln>
        </p:spPr>
      </p:sp>
      <p:sp>
        <p:nvSpPr>
          <p:cNvPr id="19" name="Shape 17"/>
          <p:cNvSpPr/>
          <p:nvPr/>
        </p:nvSpPr>
        <p:spPr>
          <a:xfrm>
            <a:off x="6089904" y="2999232"/>
            <a:ext cx="2743200" cy="246888"/>
          </a:xfrm>
          <a:prstGeom prst="line">
            <a:avLst/>
          </a:prstGeom>
          <a:noFill/>
          <a:ln w="19050">
            <a:solidFill>
              <a:srgbClr val="2997FF"/>
            </a:solidFill>
            <a:prstDash val="solid"/>
          </a:ln>
        </p:spPr>
      </p:sp>
      <p:sp>
        <p:nvSpPr>
          <p:cNvPr id="20" name="Shape 18"/>
          <p:cNvSpPr/>
          <p:nvPr/>
        </p:nvSpPr>
        <p:spPr>
          <a:xfrm>
            <a:off x="4800600" y="5413248"/>
            <a:ext cx="2578608" cy="329184"/>
          </a:xfrm>
          <a:prstGeom prst="roundRect">
            <a:avLst>
              <a:gd name="adj" fmla="val 33333"/>
            </a:avLst>
          </a:prstGeom>
          <a:solidFill>
            <a:srgbClr val="172B42"/>
          </a:solidFill>
          <a:ln w="8890">
            <a:solidFill>
              <a:srgbClr val="172B42"/>
            </a:solidFill>
            <a:prstDash val="solid"/>
          </a:ln>
        </p:spPr>
      </p:sp>
      <p:sp>
        <p:nvSpPr>
          <p:cNvPr id="21" name="Text 19"/>
          <p:cNvSpPr/>
          <p:nvPr/>
        </p:nvSpPr>
        <p:spPr>
          <a:xfrm>
            <a:off x="4901184" y="5413248"/>
            <a:ext cx="2377440"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승인 데이터 인계</a:t>
            </a:r>
            <a:endParaRPr lang="en-US" sz="1000" dirty="0"/>
          </a:p>
        </p:txBody>
      </p:sp>
      <p:sp>
        <p:nvSpPr>
          <p:cNvPr id="22" name="Shape 20"/>
          <p:cNvSpPr/>
          <p:nvPr/>
        </p:nvSpPr>
        <p:spPr>
          <a:xfrm>
            <a:off x="594360" y="6345936"/>
            <a:ext cx="11000232" cy="0"/>
          </a:xfrm>
          <a:prstGeom prst="line">
            <a:avLst/>
          </a:prstGeom>
          <a:noFill/>
          <a:ln w="7620">
            <a:solidFill>
              <a:srgbClr val="333336"/>
            </a:solidFill>
            <a:prstDash val="solid"/>
          </a:ln>
        </p:spPr>
      </p:sp>
      <p:sp>
        <p:nvSpPr>
          <p:cNvPr id="23" name="Text 21"/>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S020</a:t>
            </a:r>
            <a:endParaRPr lang="en-US" sz="900" dirty="0"/>
          </a:p>
        </p:txBody>
      </p:sp>
      <p:sp>
        <p:nvSpPr>
          <p:cNvPr id="24" name="Text 22"/>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5" name="Text 23"/>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S045</a:t>
            </a:r>
            <a:endParaRPr lang="en-US" sz="900" dirty="0"/>
          </a:p>
        </p:txBody>
      </p:sp>
      <p:sp>
        <p:nvSpPr>
          <p:cNvPr id="26" name="Text 24"/>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S046</a:t>
            </a:r>
            <a:endParaRPr lang="en-US" sz="900" dirty="0"/>
          </a:p>
        </p:txBody>
      </p:sp>
      <p:sp>
        <p:nvSpPr>
          <p:cNvPr id="28" name="Text 26"/>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S047</a:t>
            </a:r>
            <a:endParaRPr lang="en-US" sz="900" dirty="0"/>
          </a:p>
        </p:txBody>
      </p:sp>
      <p:sp>
        <p:nvSpPr>
          <p:cNvPr id="30" name="Text 28"/>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31" name="Text 29"/>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S101</a:t>
            </a:r>
            <a:endParaRPr lang="en-US" sz="900" dirty="0"/>
          </a:p>
        </p:txBody>
      </p:sp>
      <p:sp>
        <p:nvSpPr>
          <p:cNvPr id="32" name="Text 30"/>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33" name="Text 31"/>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S103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TRACK A · 배상명령</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형사공판 중에는 신청 시기와 범위를 확인합니다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변론종결 전 요건과 대법원 예규의 전산양식 번호를 안내합니다.</a:t>
            </a:r>
            <a:endParaRPr lang="en-US" sz="1750" dirty="0"/>
          </a:p>
        </p:txBody>
      </p:sp>
      <p:sp>
        <p:nvSpPr>
          <p:cNvPr id="5" name="Shape 3"/>
          <p:cNvSpPr/>
          <p:nvPr/>
        </p:nvSpPr>
        <p:spPr>
          <a:xfrm>
            <a:off x="594360" y="2331720"/>
            <a:ext cx="11000232" cy="3401568"/>
          </a:xfrm>
          <a:prstGeom prst="roundRect">
            <a:avLst>
              <a:gd name="adj" fmla="val 3226"/>
            </a:avLst>
          </a:prstGeom>
          <a:solidFill>
            <a:srgbClr val="FFFFFF"/>
          </a:solidFill>
          <a:ln w="8890">
            <a:solidFill>
              <a:srgbClr val="D2D2D7"/>
            </a:solidFill>
            <a:prstDash val="solid"/>
          </a:ln>
        </p:spPr>
      </p:sp>
      <p:sp>
        <p:nvSpPr>
          <p:cNvPr id="6" name="Shape 4"/>
          <p:cNvSpPr/>
          <p:nvPr/>
        </p:nvSpPr>
        <p:spPr>
          <a:xfrm>
            <a:off x="868680" y="2578608"/>
            <a:ext cx="1737360" cy="329184"/>
          </a:xfrm>
          <a:prstGeom prst="roundRect">
            <a:avLst>
              <a:gd name="adj" fmla="val 33333"/>
            </a:avLst>
          </a:prstGeom>
          <a:solidFill>
            <a:srgbClr val="EAF3FC"/>
          </a:solidFill>
          <a:ln w="8890">
            <a:solidFill>
              <a:srgbClr val="EAF3FC"/>
            </a:solidFill>
            <a:prstDash val="solid"/>
          </a:ln>
        </p:spPr>
      </p:sp>
      <p:sp>
        <p:nvSpPr>
          <p:cNvPr id="7" name="Text 5"/>
          <p:cNvSpPr/>
          <p:nvPr/>
        </p:nvSpPr>
        <p:spPr>
          <a:xfrm>
            <a:off x="969264" y="2578608"/>
            <a:ext cx="15361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Track A 준비 체크</a:t>
            </a:r>
            <a:endParaRPr lang="en-US" sz="1000" dirty="0"/>
          </a:p>
        </p:txBody>
      </p:sp>
      <p:sp>
        <p:nvSpPr>
          <p:cNvPr id="8" name="Shape 6"/>
          <p:cNvSpPr/>
          <p:nvPr/>
        </p:nvSpPr>
        <p:spPr>
          <a:xfrm>
            <a:off x="868680" y="3611880"/>
            <a:ext cx="10378440" cy="0"/>
          </a:xfrm>
          <a:prstGeom prst="line">
            <a:avLst/>
          </a:prstGeom>
          <a:noFill/>
          <a:ln w="7620">
            <a:solidFill>
              <a:srgbClr val="D2D2D7"/>
            </a:solidFill>
            <a:prstDash val="solid"/>
          </a:ln>
        </p:spPr>
      </p:sp>
      <p:sp>
        <p:nvSpPr>
          <p:cNvPr id="9" name="Text 7"/>
          <p:cNvSpPr/>
          <p:nvPr/>
        </p:nvSpPr>
        <p:spPr>
          <a:xfrm>
            <a:off x="914400" y="3154680"/>
            <a:ext cx="1188720" cy="457200"/>
          </a:xfrm>
          <a:prstGeom prst="rect">
            <a:avLst/>
          </a:prstGeom>
          <a:noFill/>
          <a:ln/>
        </p:spPr>
        <p:txBody>
          <a:bodyPr wrap="square" lIns="0" tIns="0" rIns="0" bIns="0" rtlCol="0" anchor="ctr">
            <a:normAutofit/>
          </a:bodyPr>
          <a:lstStyle/>
          <a:p>
            <a:pPr indent="0" marL="0">
              <a:buNone/>
            </a:pPr>
            <a:r>
              <a:rPr lang="en-US" sz="1100" b="1" dirty="0">
                <a:solidFill>
                  <a:srgbClr val="6E6E73"/>
                </a:solidFill>
                <a:latin typeface="Noto Sans CJK KR" pitchFamily="34" charset="0"/>
                <a:ea typeface="Noto Sans CJK KR" pitchFamily="34" charset="-122"/>
                <a:cs typeface="Noto Sans CJK KR" pitchFamily="34" charset="-120"/>
              </a:rPr>
              <a:t>신청 시기</a:t>
            </a:r>
            <a:endParaRPr lang="en-US" sz="1100" dirty="0"/>
          </a:p>
        </p:txBody>
      </p:sp>
      <p:sp>
        <p:nvSpPr>
          <p:cNvPr id="10" name="Text 8"/>
          <p:cNvSpPr/>
          <p:nvPr/>
        </p:nvSpPr>
        <p:spPr>
          <a:xfrm>
            <a:off x="2240280" y="3154680"/>
            <a:ext cx="7040880" cy="457200"/>
          </a:xfrm>
          <a:prstGeom prst="rect">
            <a:avLst/>
          </a:prstGeom>
          <a:noFill/>
          <a:ln/>
        </p:spPr>
        <p:txBody>
          <a:bodyPr wrap="square" lIns="0" tIns="0" rIns="0" bIns="0" rtlCol="0" anchor="ctr">
            <a:normAutofit/>
          </a:bodyPr>
          <a:lstStyle/>
          <a:p>
            <a:pPr indent="0" marL="0">
              <a:buNone/>
            </a:pPr>
            <a:r>
              <a:rPr lang="en-US" sz="1300" b="1" dirty="0">
                <a:solidFill>
                  <a:srgbClr val="1D1D1F"/>
                </a:solidFill>
                <a:latin typeface="Noto Sans CJK KR" pitchFamily="34" charset="0"/>
                <a:ea typeface="Noto Sans CJK KR" pitchFamily="34" charset="-122"/>
                <a:cs typeface="Noto Sans CJK KR" pitchFamily="34" charset="-120"/>
              </a:rPr>
              <a:t>제1심·제2심 변론종결 전</a:t>
            </a:r>
            <a:endParaRPr lang="en-US" sz="1300" dirty="0"/>
          </a:p>
        </p:txBody>
      </p:sp>
      <p:sp>
        <p:nvSpPr>
          <p:cNvPr id="11" name="Shape 9"/>
          <p:cNvSpPr/>
          <p:nvPr/>
        </p:nvSpPr>
        <p:spPr>
          <a:xfrm>
            <a:off x="9921240" y="3209544"/>
            <a:ext cx="960120" cy="329184"/>
          </a:xfrm>
          <a:prstGeom prst="roundRect">
            <a:avLst>
              <a:gd name="adj" fmla="val 33333"/>
            </a:avLst>
          </a:prstGeom>
          <a:solidFill>
            <a:srgbClr val="EAF3FC"/>
          </a:solidFill>
          <a:ln w="8890">
            <a:solidFill>
              <a:srgbClr val="EAF3FC"/>
            </a:solidFill>
            <a:prstDash val="solid"/>
          </a:ln>
        </p:spPr>
      </p:sp>
      <p:sp>
        <p:nvSpPr>
          <p:cNvPr id="12" name="Text 10"/>
          <p:cNvSpPr/>
          <p:nvPr/>
        </p:nvSpPr>
        <p:spPr>
          <a:xfrm>
            <a:off x="10021824" y="3209544"/>
            <a:ext cx="75895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확인</a:t>
            </a:r>
            <a:endParaRPr lang="en-US" sz="1000" dirty="0"/>
          </a:p>
        </p:txBody>
      </p:sp>
      <p:sp>
        <p:nvSpPr>
          <p:cNvPr id="13" name="Shape 11"/>
          <p:cNvSpPr/>
          <p:nvPr/>
        </p:nvSpPr>
        <p:spPr>
          <a:xfrm>
            <a:off x="868680" y="4187952"/>
            <a:ext cx="10378440" cy="0"/>
          </a:xfrm>
          <a:prstGeom prst="line">
            <a:avLst/>
          </a:prstGeom>
          <a:noFill/>
          <a:ln w="7620">
            <a:solidFill>
              <a:srgbClr val="D2D2D7"/>
            </a:solidFill>
            <a:prstDash val="solid"/>
          </a:ln>
        </p:spPr>
      </p:sp>
      <p:sp>
        <p:nvSpPr>
          <p:cNvPr id="14" name="Text 12"/>
          <p:cNvSpPr/>
          <p:nvPr/>
        </p:nvSpPr>
        <p:spPr>
          <a:xfrm>
            <a:off x="914400" y="3730752"/>
            <a:ext cx="1188720" cy="457200"/>
          </a:xfrm>
          <a:prstGeom prst="rect">
            <a:avLst/>
          </a:prstGeom>
          <a:noFill/>
          <a:ln/>
        </p:spPr>
        <p:txBody>
          <a:bodyPr wrap="square" lIns="0" tIns="0" rIns="0" bIns="0" rtlCol="0" anchor="ctr">
            <a:normAutofit/>
          </a:bodyPr>
          <a:lstStyle/>
          <a:p>
            <a:pPr indent="0" marL="0">
              <a:buNone/>
            </a:pPr>
            <a:r>
              <a:rPr lang="en-US" sz="1100" b="1" dirty="0">
                <a:solidFill>
                  <a:srgbClr val="6E6E73"/>
                </a:solidFill>
                <a:latin typeface="Noto Sans CJK KR" pitchFamily="34" charset="0"/>
                <a:ea typeface="Noto Sans CJK KR" pitchFamily="34" charset="-122"/>
                <a:cs typeface="Noto Sans CJK KR" pitchFamily="34" charset="-120"/>
              </a:rPr>
              <a:t>전산양식</a:t>
            </a:r>
            <a:endParaRPr lang="en-US" sz="1100" dirty="0"/>
          </a:p>
        </p:txBody>
      </p:sp>
      <p:sp>
        <p:nvSpPr>
          <p:cNvPr id="15" name="Text 13"/>
          <p:cNvSpPr/>
          <p:nvPr/>
        </p:nvSpPr>
        <p:spPr>
          <a:xfrm>
            <a:off x="2240280" y="3730752"/>
            <a:ext cx="7040880" cy="457200"/>
          </a:xfrm>
          <a:prstGeom prst="rect">
            <a:avLst/>
          </a:prstGeom>
          <a:noFill/>
          <a:ln/>
        </p:spPr>
        <p:txBody>
          <a:bodyPr wrap="square" lIns="0" tIns="0" rIns="0" bIns="0" rtlCol="0" anchor="ctr">
            <a:normAutofit/>
          </a:bodyPr>
          <a:lstStyle/>
          <a:p>
            <a:pPr indent="0" marL="0">
              <a:buNone/>
            </a:pPr>
            <a:r>
              <a:rPr lang="en-US" sz="1300" b="1" dirty="0">
                <a:solidFill>
                  <a:srgbClr val="1D1D1F"/>
                </a:solidFill>
                <a:latin typeface="Noto Sans CJK KR" pitchFamily="34" charset="0"/>
                <a:ea typeface="Noto Sans CJK KR" pitchFamily="34" charset="-122"/>
                <a:cs typeface="Noto Sans CJK KR" pitchFamily="34" charset="-120"/>
              </a:rPr>
              <a:t>B3002 · 대법원 예규 제3조</a:t>
            </a:r>
            <a:endParaRPr lang="en-US" sz="1300" dirty="0"/>
          </a:p>
        </p:txBody>
      </p:sp>
      <p:sp>
        <p:nvSpPr>
          <p:cNvPr id="16" name="Shape 14"/>
          <p:cNvSpPr/>
          <p:nvPr/>
        </p:nvSpPr>
        <p:spPr>
          <a:xfrm>
            <a:off x="9921240" y="3785616"/>
            <a:ext cx="960120" cy="329184"/>
          </a:xfrm>
          <a:prstGeom prst="roundRect">
            <a:avLst>
              <a:gd name="adj" fmla="val 33333"/>
            </a:avLst>
          </a:prstGeom>
          <a:solidFill>
            <a:srgbClr val="EAF3FC"/>
          </a:solidFill>
          <a:ln w="8890">
            <a:solidFill>
              <a:srgbClr val="EAF3FC"/>
            </a:solidFill>
            <a:prstDash val="solid"/>
          </a:ln>
        </p:spPr>
      </p:sp>
      <p:sp>
        <p:nvSpPr>
          <p:cNvPr id="17" name="Text 15"/>
          <p:cNvSpPr/>
          <p:nvPr/>
        </p:nvSpPr>
        <p:spPr>
          <a:xfrm>
            <a:off x="10021824" y="3785616"/>
            <a:ext cx="75895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안내</a:t>
            </a:r>
            <a:endParaRPr lang="en-US" sz="1000" dirty="0"/>
          </a:p>
        </p:txBody>
      </p:sp>
      <p:sp>
        <p:nvSpPr>
          <p:cNvPr id="18" name="Shape 16"/>
          <p:cNvSpPr/>
          <p:nvPr/>
        </p:nvSpPr>
        <p:spPr>
          <a:xfrm>
            <a:off x="868680" y="4764024"/>
            <a:ext cx="10378440" cy="0"/>
          </a:xfrm>
          <a:prstGeom prst="line">
            <a:avLst/>
          </a:prstGeom>
          <a:noFill/>
          <a:ln w="7620">
            <a:solidFill>
              <a:srgbClr val="D2D2D7"/>
            </a:solidFill>
            <a:prstDash val="solid"/>
          </a:ln>
        </p:spPr>
      </p:sp>
      <p:sp>
        <p:nvSpPr>
          <p:cNvPr id="19" name="Text 17"/>
          <p:cNvSpPr/>
          <p:nvPr/>
        </p:nvSpPr>
        <p:spPr>
          <a:xfrm>
            <a:off x="914400" y="4306824"/>
            <a:ext cx="1188720" cy="457200"/>
          </a:xfrm>
          <a:prstGeom prst="rect">
            <a:avLst/>
          </a:prstGeom>
          <a:noFill/>
          <a:ln/>
        </p:spPr>
        <p:txBody>
          <a:bodyPr wrap="square" lIns="0" tIns="0" rIns="0" bIns="0" rtlCol="0" anchor="ctr">
            <a:normAutofit/>
          </a:bodyPr>
          <a:lstStyle/>
          <a:p>
            <a:pPr indent="0" marL="0">
              <a:buNone/>
            </a:pPr>
            <a:r>
              <a:rPr lang="en-US" sz="1100" b="1" dirty="0">
                <a:solidFill>
                  <a:srgbClr val="6E6E73"/>
                </a:solidFill>
                <a:latin typeface="Noto Sans CJK KR" pitchFamily="34" charset="0"/>
                <a:ea typeface="Noto Sans CJK KR" pitchFamily="34" charset="-122"/>
                <a:cs typeface="Noto Sans CJK KR" pitchFamily="34" charset="-120"/>
              </a:rPr>
              <a:t>중복청구</a:t>
            </a:r>
            <a:endParaRPr lang="en-US" sz="1100" dirty="0"/>
          </a:p>
        </p:txBody>
      </p:sp>
      <p:sp>
        <p:nvSpPr>
          <p:cNvPr id="20" name="Text 18"/>
          <p:cNvSpPr/>
          <p:nvPr/>
        </p:nvSpPr>
        <p:spPr>
          <a:xfrm>
            <a:off x="2240280" y="4306824"/>
            <a:ext cx="7040880" cy="457200"/>
          </a:xfrm>
          <a:prstGeom prst="rect">
            <a:avLst/>
          </a:prstGeom>
          <a:noFill/>
          <a:ln/>
        </p:spPr>
        <p:txBody>
          <a:bodyPr wrap="square" lIns="0" tIns="0" rIns="0" bIns="0" rtlCol="0" anchor="ctr">
            <a:normAutofit/>
          </a:bodyPr>
          <a:lstStyle/>
          <a:p>
            <a:pPr indent="0" marL="0">
              <a:buNone/>
            </a:pPr>
            <a:r>
              <a:rPr lang="en-US" sz="1300" b="1" dirty="0">
                <a:solidFill>
                  <a:srgbClr val="1D1D1F"/>
                </a:solidFill>
                <a:latin typeface="Noto Sans CJK KR" pitchFamily="34" charset="0"/>
                <a:ea typeface="Noto Sans CJK KR" pitchFamily="34" charset="-122"/>
                <a:cs typeface="Noto Sans CJK KR" pitchFamily="34" charset="-120"/>
              </a:rPr>
              <a:t>동일 피해 민사 계속 여부</a:t>
            </a:r>
            <a:endParaRPr lang="en-US" sz="1300" dirty="0"/>
          </a:p>
        </p:txBody>
      </p:sp>
      <p:sp>
        <p:nvSpPr>
          <p:cNvPr id="21" name="Shape 19"/>
          <p:cNvSpPr/>
          <p:nvPr/>
        </p:nvSpPr>
        <p:spPr>
          <a:xfrm>
            <a:off x="9921240" y="4361688"/>
            <a:ext cx="960120" cy="329184"/>
          </a:xfrm>
          <a:prstGeom prst="roundRect">
            <a:avLst>
              <a:gd name="adj" fmla="val 33333"/>
            </a:avLst>
          </a:prstGeom>
          <a:solidFill>
            <a:srgbClr val="EAF3FC"/>
          </a:solidFill>
          <a:ln w="8890">
            <a:solidFill>
              <a:srgbClr val="EAF3FC"/>
            </a:solidFill>
            <a:prstDash val="solid"/>
          </a:ln>
        </p:spPr>
      </p:sp>
      <p:sp>
        <p:nvSpPr>
          <p:cNvPr id="22" name="Text 20"/>
          <p:cNvSpPr/>
          <p:nvPr/>
        </p:nvSpPr>
        <p:spPr>
          <a:xfrm>
            <a:off x="10021824" y="4361688"/>
            <a:ext cx="75895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확인</a:t>
            </a:r>
            <a:endParaRPr lang="en-US" sz="1000" dirty="0"/>
          </a:p>
        </p:txBody>
      </p:sp>
      <p:sp>
        <p:nvSpPr>
          <p:cNvPr id="23" name="Shape 21"/>
          <p:cNvSpPr/>
          <p:nvPr/>
        </p:nvSpPr>
        <p:spPr>
          <a:xfrm>
            <a:off x="868680" y="5340096"/>
            <a:ext cx="10378440" cy="0"/>
          </a:xfrm>
          <a:prstGeom prst="line">
            <a:avLst/>
          </a:prstGeom>
          <a:noFill/>
          <a:ln w="7620">
            <a:solidFill>
              <a:srgbClr val="D2D2D7"/>
            </a:solidFill>
            <a:prstDash val="solid"/>
          </a:ln>
        </p:spPr>
      </p:sp>
      <p:sp>
        <p:nvSpPr>
          <p:cNvPr id="24" name="Text 22"/>
          <p:cNvSpPr/>
          <p:nvPr/>
        </p:nvSpPr>
        <p:spPr>
          <a:xfrm>
            <a:off x="914400" y="4882896"/>
            <a:ext cx="1188720" cy="457200"/>
          </a:xfrm>
          <a:prstGeom prst="rect">
            <a:avLst/>
          </a:prstGeom>
          <a:noFill/>
          <a:ln/>
        </p:spPr>
        <p:txBody>
          <a:bodyPr wrap="square" lIns="0" tIns="0" rIns="0" bIns="0" rtlCol="0" anchor="ctr">
            <a:normAutofit/>
          </a:bodyPr>
          <a:lstStyle/>
          <a:p>
            <a:pPr indent="0" marL="0">
              <a:buNone/>
            </a:pPr>
            <a:r>
              <a:rPr lang="en-US" sz="1100" b="1" dirty="0">
                <a:solidFill>
                  <a:srgbClr val="6E6E73"/>
                </a:solidFill>
                <a:latin typeface="Noto Sans CJK KR" pitchFamily="34" charset="0"/>
                <a:ea typeface="Noto Sans CJK KR" pitchFamily="34" charset="-122"/>
                <a:cs typeface="Noto Sans CJK KR" pitchFamily="34" charset="-120"/>
              </a:rPr>
              <a:t>최신 서식</a:t>
            </a:r>
            <a:endParaRPr lang="en-US" sz="1100" dirty="0"/>
          </a:p>
        </p:txBody>
      </p:sp>
      <p:sp>
        <p:nvSpPr>
          <p:cNvPr id="25" name="Text 23"/>
          <p:cNvSpPr/>
          <p:nvPr/>
        </p:nvSpPr>
        <p:spPr>
          <a:xfrm>
            <a:off x="2240280" y="4882896"/>
            <a:ext cx="7040880" cy="457200"/>
          </a:xfrm>
          <a:prstGeom prst="rect">
            <a:avLst/>
          </a:prstGeom>
          <a:noFill/>
          <a:ln/>
        </p:spPr>
        <p:txBody>
          <a:bodyPr wrap="square" lIns="0" tIns="0" rIns="0" bIns="0" rtlCol="0" anchor="ctr">
            <a:normAutofit/>
          </a:bodyPr>
          <a:lstStyle/>
          <a:p>
            <a:pPr indent="0" marL="0">
              <a:buNone/>
            </a:pPr>
            <a:r>
              <a:rPr lang="en-US" sz="1300" b="1" dirty="0">
                <a:solidFill>
                  <a:srgbClr val="1D1D1F"/>
                </a:solidFill>
                <a:latin typeface="Noto Sans CJK KR" pitchFamily="34" charset="0"/>
                <a:ea typeface="Noto Sans CJK KR" pitchFamily="34" charset="-122"/>
                <a:cs typeface="Noto Sans CJK KR" pitchFamily="34" charset="-120"/>
              </a:rPr>
              <a:t>공식 법원 창구에서 직접 확인</a:t>
            </a:r>
            <a:endParaRPr lang="en-US" sz="1300" dirty="0"/>
          </a:p>
        </p:txBody>
      </p:sp>
      <p:sp>
        <p:nvSpPr>
          <p:cNvPr id="26" name="Shape 24"/>
          <p:cNvSpPr/>
          <p:nvPr/>
        </p:nvSpPr>
        <p:spPr>
          <a:xfrm>
            <a:off x="9921240" y="4937760"/>
            <a:ext cx="960120" cy="329184"/>
          </a:xfrm>
          <a:prstGeom prst="roundRect">
            <a:avLst>
              <a:gd name="adj" fmla="val 33333"/>
            </a:avLst>
          </a:prstGeom>
          <a:solidFill>
            <a:srgbClr val="EAF3FC"/>
          </a:solidFill>
          <a:ln w="8890">
            <a:solidFill>
              <a:srgbClr val="EAF3FC"/>
            </a:solidFill>
            <a:prstDash val="solid"/>
          </a:ln>
        </p:spPr>
      </p:sp>
      <p:sp>
        <p:nvSpPr>
          <p:cNvPr id="27" name="Text 25"/>
          <p:cNvSpPr/>
          <p:nvPr/>
        </p:nvSpPr>
        <p:spPr>
          <a:xfrm>
            <a:off x="10021824" y="4937760"/>
            <a:ext cx="75895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필수</a:t>
            </a:r>
            <a:endParaRPr lang="en-US" sz="1000" dirty="0"/>
          </a:p>
        </p:txBody>
      </p:sp>
      <p:sp>
        <p:nvSpPr>
          <p:cNvPr id="28" name="Shape 26"/>
          <p:cNvSpPr/>
          <p:nvPr/>
        </p:nvSpPr>
        <p:spPr>
          <a:xfrm>
            <a:off x="594360" y="6345936"/>
            <a:ext cx="11000232" cy="0"/>
          </a:xfrm>
          <a:prstGeom prst="line">
            <a:avLst/>
          </a:prstGeom>
          <a:noFill/>
          <a:ln w="7620">
            <a:solidFill>
              <a:srgbClr val="D2D2D7"/>
            </a:solidFill>
            <a:prstDash val="solid"/>
          </a:ln>
        </p:spPr>
      </p:sp>
      <p:sp>
        <p:nvSpPr>
          <p:cNvPr id="29" name="Text 27"/>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S020</a:t>
            </a:r>
            <a:endParaRPr lang="en-US" sz="900" dirty="0"/>
          </a:p>
        </p:txBody>
      </p:sp>
      <p:sp>
        <p:nvSpPr>
          <p:cNvPr id="30" name="Text 28"/>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1" name="Text 29"/>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S045</a:t>
            </a:r>
            <a:endParaRPr lang="en-US" sz="900" dirty="0"/>
          </a:p>
        </p:txBody>
      </p:sp>
      <p:sp>
        <p:nvSpPr>
          <p:cNvPr id="32" name="Text 30"/>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3" name="Text 31"/>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S046</a:t>
            </a:r>
            <a:endParaRPr lang="en-US" sz="900" dirty="0"/>
          </a:p>
        </p:txBody>
      </p:sp>
      <p:sp>
        <p:nvSpPr>
          <p:cNvPr id="34" name="Text 32"/>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5" name="Text 33"/>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S047</a:t>
            </a:r>
            <a:endParaRPr lang="en-US" sz="900" dirty="0"/>
          </a:p>
        </p:txBody>
      </p:sp>
      <p:sp>
        <p:nvSpPr>
          <p:cNvPr id="36" name="Text 34"/>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7" name="Text 35"/>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S086</a:t>
            </a:r>
            <a:endParaRPr lang="en-US" sz="900" dirty="0"/>
          </a:p>
        </p:txBody>
      </p:sp>
      <p:sp>
        <p:nvSpPr>
          <p:cNvPr id="38" name="Text 36"/>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9" name="Text 37"/>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S087</a:t>
            </a:r>
            <a:endParaRPr lang="en-US" sz="900" dirty="0"/>
          </a:p>
        </p:txBody>
      </p:sp>
      <p:sp>
        <p:nvSpPr>
          <p:cNvPr id="40" name="Text 38"/>
          <p:cNvSpPr/>
          <p:nvPr/>
        </p:nvSpPr>
        <p:spPr>
          <a:xfrm>
            <a:off x="490118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1" name="Text 39"/>
          <p:cNvSpPr/>
          <p:nvPr/>
        </p:nvSpPr>
        <p:spPr>
          <a:xfrm>
            <a:off x="509320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S102</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TRACK B · 별도 민사</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지급명령과 소액사건의 요건을 비교합니다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송달·이의·소송목적 가액을 보여주되 적용 경로를 자동 확정하지 않습니다.</a:t>
            </a:r>
            <a:endParaRPr lang="en-US" sz="1750" dirty="0"/>
          </a:p>
        </p:txBody>
      </p:sp>
      <p:sp>
        <p:nvSpPr>
          <p:cNvPr id="5" name="Shape 3"/>
          <p:cNvSpPr/>
          <p:nvPr/>
        </p:nvSpPr>
        <p:spPr>
          <a:xfrm>
            <a:off x="594360" y="2331720"/>
            <a:ext cx="5394960" cy="3200400"/>
          </a:xfrm>
          <a:prstGeom prst="roundRect">
            <a:avLst>
              <a:gd name="adj" fmla="val 3429"/>
            </a:avLst>
          </a:prstGeom>
          <a:solidFill>
            <a:srgbClr val="FFFFFF"/>
          </a:solidFill>
          <a:ln w="8890">
            <a:solidFill>
              <a:srgbClr val="D2D2D7"/>
            </a:solidFill>
            <a:prstDash val="solid"/>
          </a:ln>
        </p:spPr>
      </p:sp>
      <p:sp>
        <p:nvSpPr>
          <p:cNvPr id="6" name="Text 4"/>
          <p:cNvSpPr/>
          <p:nvPr/>
        </p:nvSpPr>
        <p:spPr>
          <a:xfrm>
            <a:off x="868680" y="2578608"/>
            <a:ext cx="4846320" cy="457200"/>
          </a:xfrm>
          <a:prstGeom prst="rect">
            <a:avLst/>
          </a:prstGeom>
          <a:noFill/>
          <a:ln/>
        </p:spPr>
        <p:txBody>
          <a:bodyPr wrap="square" lIns="0" tIns="0" rIns="0" bIns="0" rtlCol="0" anchor="ctr">
            <a:normAutofit/>
          </a:bodyPr>
          <a:lstStyle/>
          <a:p>
            <a:pPr indent="0" marL="0">
              <a:buNone/>
            </a:pPr>
            <a:r>
              <a:rPr lang="en-US" sz="1800" b="1" dirty="0">
                <a:solidFill>
                  <a:srgbClr val="1D1D1F"/>
                </a:solidFill>
                <a:latin typeface="Noto Sans CJK KR" pitchFamily="34" charset="0"/>
                <a:ea typeface="Noto Sans CJK KR" pitchFamily="34" charset="-122"/>
                <a:cs typeface="Noto Sans CJK KR" pitchFamily="34" charset="-120"/>
              </a:rPr>
              <a:t>지급명령</a:t>
            </a:r>
            <a:endParaRPr lang="en-US" sz="1800" dirty="0"/>
          </a:p>
        </p:txBody>
      </p:sp>
      <p:sp>
        <p:nvSpPr>
          <p:cNvPr id="7" name="Shape 5"/>
          <p:cNvSpPr/>
          <p:nvPr/>
        </p:nvSpPr>
        <p:spPr>
          <a:xfrm>
            <a:off x="886968" y="3337560"/>
            <a:ext cx="118872" cy="118872"/>
          </a:xfrm>
          <a:prstGeom prst="ellipse">
            <a:avLst/>
          </a:prstGeom>
          <a:solidFill>
            <a:srgbClr val="0071E3"/>
          </a:solidFill>
          <a:ln w="12700">
            <a:solidFill>
              <a:srgbClr val="0071E3"/>
            </a:solidFill>
            <a:prstDash val="solid"/>
          </a:ln>
        </p:spPr>
      </p:sp>
      <p:sp>
        <p:nvSpPr>
          <p:cNvPr id="8" name="Text 6"/>
          <p:cNvSpPr/>
          <p:nvPr/>
        </p:nvSpPr>
        <p:spPr>
          <a:xfrm>
            <a:off x="1124712" y="3172968"/>
            <a:ext cx="4526280" cy="594360"/>
          </a:xfrm>
          <a:prstGeom prst="rect">
            <a:avLst/>
          </a:prstGeom>
          <a:noFill/>
          <a:ln/>
        </p:spPr>
        <p:txBody>
          <a:bodyPr wrap="square" lIns="0" tIns="0" rIns="0" bIns="0" rtlCol="0" anchor="ctr">
            <a:normAutofit/>
          </a:bodyPr>
          <a:lstStyle/>
          <a:p>
            <a:pPr indent="0" marL="0">
              <a:buNone/>
            </a:pPr>
            <a:r>
              <a:rPr lang="en-US" sz="1150" b="1" dirty="0">
                <a:solidFill>
                  <a:srgbClr val="1D1D1F"/>
                </a:solidFill>
                <a:latin typeface="Noto Sans CJK KR" pitchFamily="34" charset="0"/>
                <a:ea typeface="Noto Sans CJK KR" pitchFamily="34" charset="-122"/>
                <a:cs typeface="Noto Sans CJK KR" pitchFamily="34" charset="-120"/>
              </a:rPr>
              <a:t>공시송달 외 국내 송달이 가능해야 합니다</a:t>
            </a:r>
            <a:endParaRPr lang="en-US" sz="1150" dirty="0"/>
          </a:p>
        </p:txBody>
      </p:sp>
      <p:sp>
        <p:nvSpPr>
          <p:cNvPr id="9" name="Shape 7"/>
          <p:cNvSpPr/>
          <p:nvPr/>
        </p:nvSpPr>
        <p:spPr>
          <a:xfrm>
            <a:off x="886968" y="4160520"/>
            <a:ext cx="118872" cy="118872"/>
          </a:xfrm>
          <a:prstGeom prst="ellipse">
            <a:avLst/>
          </a:prstGeom>
          <a:solidFill>
            <a:srgbClr val="0071E3"/>
          </a:solidFill>
          <a:ln w="12700">
            <a:solidFill>
              <a:srgbClr val="0071E3"/>
            </a:solidFill>
            <a:prstDash val="solid"/>
          </a:ln>
        </p:spPr>
      </p:sp>
      <p:sp>
        <p:nvSpPr>
          <p:cNvPr id="10" name="Text 8"/>
          <p:cNvSpPr/>
          <p:nvPr/>
        </p:nvSpPr>
        <p:spPr>
          <a:xfrm>
            <a:off x="1124712" y="3995928"/>
            <a:ext cx="4526280" cy="594360"/>
          </a:xfrm>
          <a:prstGeom prst="rect">
            <a:avLst/>
          </a:prstGeom>
          <a:noFill/>
          <a:ln/>
        </p:spPr>
        <p:txBody>
          <a:bodyPr wrap="square" lIns="0" tIns="0" rIns="0" bIns="0" rtlCol="0" anchor="ctr">
            <a:normAutofit/>
          </a:bodyPr>
          <a:lstStyle/>
          <a:p>
            <a:pPr indent="0" marL="0">
              <a:buNone/>
            </a:pPr>
            <a:r>
              <a:rPr lang="en-US" sz="1150" b="1" dirty="0">
                <a:solidFill>
                  <a:srgbClr val="1D1D1F"/>
                </a:solidFill>
                <a:latin typeface="Noto Sans CJK KR" pitchFamily="34" charset="0"/>
                <a:ea typeface="Noto Sans CJK KR" pitchFamily="34" charset="-122"/>
                <a:cs typeface="Noto Sans CJK KR" pitchFamily="34" charset="-120"/>
              </a:rPr>
              <a:t>송달 후 2주 안에 이의할 수 있습니다</a:t>
            </a:r>
            <a:endParaRPr lang="en-US" sz="1150" dirty="0"/>
          </a:p>
        </p:txBody>
      </p:sp>
      <p:sp>
        <p:nvSpPr>
          <p:cNvPr id="11" name="Shape 9"/>
          <p:cNvSpPr/>
          <p:nvPr/>
        </p:nvSpPr>
        <p:spPr>
          <a:xfrm>
            <a:off x="6208776" y="2331720"/>
            <a:ext cx="5394960" cy="3200400"/>
          </a:xfrm>
          <a:prstGeom prst="roundRect">
            <a:avLst>
              <a:gd name="adj" fmla="val 3429"/>
            </a:avLst>
          </a:prstGeom>
          <a:solidFill>
            <a:srgbClr val="FFFFFF"/>
          </a:solidFill>
          <a:ln w="8890">
            <a:solidFill>
              <a:srgbClr val="D2D2D7"/>
            </a:solidFill>
            <a:prstDash val="solid"/>
          </a:ln>
        </p:spPr>
      </p:sp>
      <p:sp>
        <p:nvSpPr>
          <p:cNvPr id="12" name="Text 10"/>
          <p:cNvSpPr/>
          <p:nvPr/>
        </p:nvSpPr>
        <p:spPr>
          <a:xfrm>
            <a:off x="6483096" y="2578608"/>
            <a:ext cx="4846320" cy="457200"/>
          </a:xfrm>
          <a:prstGeom prst="rect">
            <a:avLst/>
          </a:prstGeom>
          <a:noFill/>
          <a:ln/>
        </p:spPr>
        <p:txBody>
          <a:bodyPr wrap="square" lIns="0" tIns="0" rIns="0" bIns="0" rtlCol="0" anchor="ctr">
            <a:normAutofit/>
          </a:bodyPr>
          <a:lstStyle/>
          <a:p>
            <a:pPr indent="0" marL="0">
              <a:buNone/>
            </a:pPr>
            <a:r>
              <a:rPr lang="en-US" sz="1800" b="1" dirty="0">
                <a:solidFill>
                  <a:srgbClr val="1D1D1F"/>
                </a:solidFill>
                <a:latin typeface="Noto Sans CJK KR" pitchFamily="34" charset="0"/>
                <a:ea typeface="Noto Sans CJK KR" pitchFamily="34" charset="-122"/>
                <a:cs typeface="Noto Sans CJK KR" pitchFamily="34" charset="-120"/>
              </a:rPr>
              <a:t>소액사건</a:t>
            </a:r>
            <a:endParaRPr lang="en-US" sz="1800" dirty="0"/>
          </a:p>
        </p:txBody>
      </p:sp>
      <p:sp>
        <p:nvSpPr>
          <p:cNvPr id="13" name="Shape 11"/>
          <p:cNvSpPr/>
          <p:nvPr/>
        </p:nvSpPr>
        <p:spPr>
          <a:xfrm>
            <a:off x="6501384" y="3337560"/>
            <a:ext cx="118872" cy="118872"/>
          </a:xfrm>
          <a:prstGeom prst="ellipse">
            <a:avLst/>
          </a:prstGeom>
          <a:solidFill>
            <a:srgbClr val="0071E3"/>
          </a:solidFill>
          <a:ln w="12700">
            <a:solidFill>
              <a:srgbClr val="0071E3"/>
            </a:solidFill>
            <a:prstDash val="solid"/>
          </a:ln>
        </p:spPr>
      </p:sp>
      <p:sp>
        <p:nvSpPr>
          <p:cNvPr id="14" name="Text 12"/>
          <p:cNvSpPr/>
          <p:nvPr/>
        </p:nvSpPr>
        <p:spPr>
          <a:xfrm>
            <a:off x="6739128" y="3172968"/>
            <a:ext cx="4526280" cy="594360"/>
          </a:xfrm>
          <a:prstGeom prst="rect">
            <a:avLst/>
          </a:prstGeom>
          <a:noFill/>
          <a:ln/>
        </p:spPr>
        <p:txBody>
          <a:bodyPr wrap="square" lIns="0" tIns="0" rIns="0" bIns="0" rtlCol="0" anchor="ctr">
            <a:normAutofit/>
          </a:bodyPr>
          <a:lstStyle/>
          <a:p>
            <a:pPr indent="0" marL="0">
              <a:buNone/>
            </a:pPr>
            <a:r>
              <a:rPr lang="en-US" sz="1150" b="1" dirty="0">
                <a:solidFill>
                  <a:srgbClr val="1D1D1F"/>
                </a:solidFill>
                <a:latin typeface="Noto Sans CJK KR" pitchFamily="34" charset="0"/>
                <a:ea typeface="Noto Sans CJK KR" pitchFamily="34" charset="-122"/>
                <a:cs typeface="Noto Sans CJK KR" pitchFamily="34" charset="-120"/>
              </a:rPr>
              <a:t>제소 당시 소가 3,000만 원 이하인 제1심입니다</a:t>
            </a:r>
            <a:endParaRPr lang="en-US" sz="1150" dirty="0"/>
          </a:p>
        </p:txBody>
      </p:sp>
      <p:sp>
        <p:nvSpPr>
          <p:cNvPr id="15" name="Shape 13"/>
          <p:cNvSpPr/>
          <p:nvPr/>
        </p:nvSpPr>
        <p:spPr>
          <a:xfrm>
            <a:off x="594360" y="6345936"/>
            <a:ext cx="11000232" cy="0"/>
          </a:xfrm>
          <a:prstGeom prst="line">
            <a:avLst/>
          </a:prstGeom>
          <a:noFill/>
          <a:ln w="7620">
            <a:solidFill>
              <a:srgbClr val="D2D2D7"/>
            </a:solidFill>
            <a:prstDash val="solid"/>
          </a:ln>
        </p:spPr>
      </p:sp>
      <p:sp>
        <p:nvSpPr>
          <p:cNvPr id="16" name="Text 14"/>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S060</a:t>
            </a:r>
            <a:endParaRPr lang="en-US" sz="900" dirty="0"/>
          </a:p>
        </p:txBody>
      </p:sp>
      <p:sp>
        <p:nvSpPr>
          <p:cNvPr id="17" name="Text 15"/>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18" name="Text 16"/>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S061</a:t>
            </a:r>
            <a:endParaRPr lang="en-US" sz="900" dirty="0"/>
          </a:p>
        </p:txBody>
      </p:sp>
      <p:sp>
        <p:nvSpPr>
          <p:cNvPr id="19" name="Text 17"/>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0" name="Text 18"/>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S084</a:t>
            </a:r>
            <a:endParaRPr lang="en-US" sz="900" dirty="0"/>
          </a:p>
        </p:txBody>
      </p:sp>
      <p:sp>
        <p:nvSpPr>
          <p:cNvPr id="21" name="Text 19"/>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2" name="Text 20"/>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S101</a:t>
            </a:r>
            <a:endParaRPr lang="en-US" sz="900" dirty="0"/>
          </a:p>
        </p:txBody>
      </p:sp>
      <p:sp>
        <p:nvSpPr>
          <p:cNvPr id="23" name="Text 21"/>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4" name="Text 22"/>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S103</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데이터 재사용 피벗</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경로를 바꿔도 확인된 정보는 유지됩니다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사건 사실과 증거 패킷을 보존한 채 다음 준비 화면으로 이동합니다.</a:t>
            </a:r>
            <a:endParaRPr lang="en-US" sz="1750" dirty="0"/>
          </a:p>
        </p:txBody>
      </p:sp>
      <p:sp>
        <p:nvSpPr>
          <p:cNvPr id="5" name="Shape 3"/>
          <p:cNvSpPr/>
          <p:nvPr/>
        </p:nvSpPr>
        <p:spPr>
          <a:xfrm>
            <a:off x="594360" y="2331720"/>
            <a:ext cx="4800600" cy="3401568"/>
          </a:xfrm>
          <a:prstGeom prst="roundRect">
            <a:avLst>
              <a:gd name="adj" fmla="val 3226"/>
            </a:avLst>
          </a:prstGeom>
          <a:solidFill>
            <a:srgbClr val="EAF3FC"/>
          </a:solidFill>
          <a:ln w="8890">
            <a:solidFill>
              <a:srgbClr val="D2D2D7"/>
            </a:solidFill>
            <a:prstDash val="solid"/>
          </a:ln>
        </p:spPr>
      </p:sp>
      <p:sp>
        <p:nvSpPr>
          <p:cNvPr id="6" name="Text 4"/>
          <p:cNvSpPr/>
          <p:nvPr/>
        </p:nvSpPr>
        <p:spPr>
          <a:xfrm>
            <a:off x="868680" y="2606040"/>
            <a:ext cx="4251960" cy="411480"/>
          </a:xfrm>
          <a:prstGeom prst="rect">
            <a:avLst/>
          </a:prstGeom>
          <a:noFill/>
          <a:ln/>
        </p:spPr>
        <p:txBody>
          <a:bodyPr wrap="square" lIns="0" tIns="0" rIns="0" bIns="0" rtlCol="0" anchor="ctr">
            <a:normAutofit/>
          </a:bodyPr>
          <a:lstStyle/>
          <a:p>
            <a:pPr indent="0" marL="0">
              <a:buNone/>
            </a:pPr>
            <a:r>
              <a:rPr lang="en-US" sz="1800" b="1" dirty="0">
                <a:solidFill>
                  <a:srgbClr val="1D1D1F"/>
                </a:solidFill>
                <a:latin typeface="Noto Sans CJK KR" pitchFamily="34" charset="0"/>
                <a:ea typeface="Noto Sans CJK KR" pitchFamily="34" charset="-122"/>
                <a:cs typeface="Noto Sans CJK KR" pitchFamily="34" charset="-120"/>
              </a:rPr>
              <a:t>유지되는 정보</a:t>
            </a:r>
            <a:endParaRPr lang="en-US" sz="1800" dirty="0"/>
          </a:p>
        </p:txBody>
      </p:sp>
      <p:sp>
        <p:nvSpPr>
          <p:cNvPr id="7" name="Shape 5"/>
          <p:cNvSpPr/>
          <p:nvPr/>
        </p:nvSpPr>
        <p:spPr>
          <a:xfrm>
            <a:off x="868680" y="3383280"/>
            <a:ext cx="4251960" cy="329184"/>
          </a:xfrm>
          <a:prstGeom prst="roundRect">
            <a:avLst>
              <a:gd name="adj" fmla="val 33333"/>
            </a:avLst>
          </a:prstGeom>
          <a:solidFill>
            <a:srgbClr val="EAF3FC"/>
          </a:solidFill>
          <a:ln w="8890">
            <a:solidFill>
              <a:srgbClr val="EAF3FC"/>
            </a:solidFill>
            <a:prstDash val="solid"/>
          </a:ln>
        </p:spPr>
      </p:sp>
      <p:sp>
        <p:nvSpPr>
          <p:cNvPr id="8" name="Text 6"/>
          <p:cNvSpPr/>
          <p:nvPr/>
        </p:nvSpPr>
        <p:spPr>
          <a:xfrm>
            <a:off x="969264" y="3383280"/>
            <a:ext cx="4050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피해 사실 8</a:t>
            </a:r>
            <a:endParaRPr lang="en-US" sz="1000" dirty="0"/>
          </a:p>
        </p:txBody>
      </p:sp>
      <p:sp>
        <p:nvSpPr>
          <p:cNvPr id="9" name="Shape 7"/>
          <p:cNvSpPr/>
          <p:nvPr/>
        </p:nvSpPr>
        <p:spPr>
          <a:xfrm>
            <a:off x="868680" y="4005072"/>
            <a:ext cx="4251960" cy="329184"/>
          </a:xfrm>
          <a:prstGeom prst="roundRect">
            <a:avLst>
              <a:gd name="adj" fmla="val 33333"/>
            </a:avLst>
          </a:prstGeom>
          <a:solidFill>
            <a:srgbClr val="EAF3FC"/>
          </a:solidFill>
          <a:ln w="8890">
            <a:solidFill>
              <a:srgbClr val="EAF3FC"/>
            </a:solidFill>
            <a:prstDash val="solid"/>
          </a:ln>
        </p:spPr>
      </p:sp>
      <p:sp>
        <p:nvSpPr>
          <p:cNvPr id="10" name="Text 8"/>
          <p:cNvSpPr/>
          <p:nvPr/>
        </p:nvSpPr>
        <p:spPr>
          <a:xfrm>
            <a:off x="969264" y="4005072"/>
            <a:ext cx="4050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증거 파일 9</a:t>
            </a:r>
            <a:endParaRPr lang="en-US" sz="1000" dirty="0"/>
          </a:p>
        </p:txBody>
      </p:sp>
      <p:sp>
        <p:nvSpPr>
          <p:cNvPr id="11" name="Shape 9"/>
          <p:cNvSpPr/>
          <p:nvPr/>
        </p:nvSpPr>
        <p:spPr>
          <a:xfrm>
            <a:off x="868680" y="4626864"/>
            <a:ext cx="4251960" cy="329184"/>
          </a:xfrm>
          <a:prstGeom prst="roundRect">
            <a:avLst>
              <a:gd name="adj" fmla="val 33333"/>
            </a:avLst>
          </a:prstGeom>
          <a:solidFill>
            <a:srgbClr val="EAF3FC"/>
          </a:solidFill>
          <a:ln w="8890">
            <a:solidFill>
              <a:srgbClr val="EAF3FC"/>
            </a:solidFill>
            <a:prstDash val="solid"/>
          </a:ln>
        </p:spPr>
      </p:sp>
      <p:sp>
        <p:nvSpPr>
          <p:cNvPr id="12" name="Text 10"/>
          <p:cNvSpPr/>
          <p:nvPr/>
        </p:nvSpPr>
        <p:spPr>
          <a:xfrm>
            <a:off x="969264" y="4626864"/>
            <a:ext cx="4050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승인 필드 12</a:t>
            </a:r>
            <a:endParaRPr lang="en-US" sz="1000" dirty="0"/>
          </a:p>
        </p:txBody>
      </p:sp>
      <p:sp>
        <p:nvSpPr>
          <p:cNvPr id="13" name="Shape 11"/>
          <p:cNvSpPr/>
          <p:nvPr/>
        </p:nvSpPr>
        <p:spPr>
          <a:xfrm>
            <a:off x="7040880" y="2331720"/>
            <a:ext cx="4800600" cy="3401568"/>
          </a:xfrm>
          <a:prstGeom prst="roundRect">
            <a:avLst>
              <a:gd name="adj" fmla="val 3226"/>
            </a:avLst>
          </a:prstGeom>
          <a:solidFill>
            <a:srgbClr val="FFFFFF"/>
          </a:solidFill>
          <a:ln w="8890">
            <a:solidFill>
              <a:srgbClr val="D2D2D7"/>
            </a:solidFill>
            <a:prstDash val="solid"/>
          </a:ln>
        </p:spPr>
      </p:sp>
      <p:sp>
        <p:nvSpPr>
          <p:cNvPr id="14" name="Text 12"/>
          <p:cNvSpPr/>
          <p:nvPr/>
        </p:nvSpPr>
        <p:spPr>
          <a:xfrm>
            <a:off x="7315200" y="2606040"/>
            <a:ext cx="4251960" cy="411480"/>
          </a:xfrm>
          <a:prstGeom prst="rect">
            <a:avLst/>
          </a:prstGeom>
          <a:noFill/>
          <a:ln/>
        </p:spPr>
        <p:txBody>
          <a:bodyPr wrap="square" lIns="0" tIns="0" rIns="0" bIns="0" rtlCol="0" anchor="ctr">
            <a:normAutofit/>
          </a:bodyPr>
          <a:lstStyle/>
          <a:p>
            <a:pPr indent="0" marL="0">
              <a:buNone/>
            </a:pPr>
            <a:r>
              <a:rPr lang="en-US" sz="1800" b="1" dirty="0">
                <a:solidFill>
                  <a:srgbClr val="1D1D1F"/>
                </a:solidFill>
                <a:latin typeface="Noto Sans CJK KR" pitchFamily="34" charset="0"/>
                <a:ea typeface="Noto Sans CJK KR" pitchFamily="34" charset="-122"/>
                <a:cs typeface="Noto Sans CJK KR" pitchFamily="34" charset="-120"/>
              </a:rPr>
              <a:t>Track B 추가 확인</a:t>
            </a:r>
            <a:endParaRPr lang="en-US" sz="1800" dirty="0"/>
          </a:p>
        </p:txBody>
      </p:sp>
      <p:sp>
        <p:nvSpPr>
          <p:cNvPr id="15" name="Shape 13"/>
          <p:cNvSpPr/>
          <p:nvPr/>
        </p:nvSpPr>
        <p:spPr>
          <a:xfrm>
            <a:off x="7315200" y="3383280"/>
            <a:ext cx="4251960" cy="329184"/>
          </a:xfrm>
          <a:prstGeom prst="roundRect">
            <a:avLst>
              <a:gd name="adj" fmla="val 33333"/>
            </a:avLst>
          </a:prstGeom>
          <a:solidFill>
            <a:srgbClr val="EAF3FC"/>
          </a:solidFill>
          <a:ln w="8890">
            <a:solidFill>
              <a:srgbClr val="EAF3FC"/>
            </a:solidFill>
            <a:prstDash val="solid"/>
          </a:ln>
        </p:spPr>
      </p:sp>
      <p:sp>
        <p:nvSpPr>
          <p:cNvPr id="16" name="Text 14"/>
          <p:cNvSpPr/>
          <p:nvPr/>
        </p:nvSpPr>
        <p:spPr>
          <a:xfrm>
            <a:off x="7415784" y="3383280"/>
            <a:ext cx="4050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상대방 주소</a:t>
            </a:r>
            <a:endParaRPr lang="en-US" sz="1000" dirty="0"/>
          </a:p>
        </p:txBody>
      </p:sp>
      <p:sp>
        <p:nvSpPr>
          <p:cNvPr id="17" name="Shape 15"/>
          <p:cNvSpPr/>
          <p:nvPr/>
        </p:nvSpPr>
        <p:spPr>
          <a:xfrm>
            <a:off x="7315200" y="4005072"/>
            <a:ext cx="4251960" cy="329184"/>
          </a:xfrm>
          <a:prstGeom prst="roundRect">
            <a:avLst>
              <a:gd name="adj" fmla="val 33333"/>
            </a:avLst>
          </a:prstGeom>
          <a:solidFill>
            <a:srgbClr val="EAF3FC"/>
          </a:solidFill>
          <a:ln w="8890">
            <a:solidFill>
              <a:srgbClr val="EAF3FC"/>
            </a:solidFill>
            <a:prstDash val="solid"/>
          </a:ln>
        </p:spPr>
      </p:sp>
      <p:sp>
        <p:nvSpPr>
          <p:cNvPr id="18" name="Text 16"/>
          <p:cNvSpPr/>
          <p:nvPr/>
        </p:nvSpPr>
        <p:spPr>
          <a:xfrm>
            <a:off x="7415784" y="4005072"/>
            <a:ext cx="4050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송달 가능성</a:t>
            </a:r>
            <a:endParaRPr lang="en-US" sz="1000" dirty="0"/>
          </a:p>
        </p:txBody>
      </p:sp>
      <p:sp>
        <p:nvSpPr>
          <p:cNvPr id="19" name="Shape 17"/>
          <p:cNvSpPr/>
          <p:nvPr/>
        </p:nvSpPr>
        <p:spPr>
          <a:xfrm>
            <a:off x="7315200" y="4626864"/>
            <a:ext cx="4251960" cy="329184"/>
          </a:xfrm>
          <a:prstGeom prst="roundRect">
            <a:avLst>
              <a:gd name="adj" fmla="val 33333"/>
            </a:avLst>
          </a:prstGeom>
          <a:solidFill>
            <a:srgbClr val="EAF3FC"/>
          </a:solidFill>
          <a:ln w="8890">
            <a:solidFill>
              <a:srgbClr val="EAF3FC"/>
            </a:solidFill>
            <a:prstDash val="solid"/>
          </a:ln>
        </p:spPr>
      </p:sp>
      <p:sp>
        <p:nvSpPr>
          <p:cNvPr id="20" name="Text 18"/>
          <p:cNvSpPr/>
          <p:nvPr/>
        </p:nvSpPr>
        <p:spPr>
          <a:xfrm>
            <a:off x="7415784" y="4626864"/>
            <a:ext cx="405079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소송목적 가액</a:t>
            </a:r>
            <a:endParaRPr lang="en-US" sz="1000" dirty="0"/>
          </a:p>
        </p:txBody>
      </p:sp>
      <p:sp>
        <p:nvSpPr>
          <p:cNvPr id="21" name="Shape 19"/>
          <p:cNvSpPr/>
          <p:nvPr/>
        </p:nvSpPr>
        <p:spPr>
          <a:xfrm>
            <a:off x="5724144" y="3749040"/>
            <a:ext cx="640080" cy="640080"/>
          </a:xfrm>
          <a:prstGeom prst="ellipse">
            <a:avLst/>
          </a:prstGeom>
          <a:solidFill>
            <a:srgbClr val="0071E3"/>
          </a:solidFill>
          <a:ln w="12700">
            <a:solidFill>
              <a:srgbClr val="0071E3"/>
            </a:solidFill>
            <a:prstDash val="solid"/>
          </a:ln>
        </p:spPr>
      </p:sp>
      <p:sp>
        <p:nvSpPr>
          <p:cNvPr id="22" name="Text 20"/>
          <p:cNvSpPr/>
          <p:nvPr/>
        </p:nvSpPr>
        <p:spPr>
          <a:xfrm>
            <a:off x="5724144" y="3749040"/>
            <a:ext cx="640080" cy="64008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Noto Sans CJK KR" pitchFamily="34" charset="0"/>
                <a:ea typeface="Noto Sans CJK KR" pitchFamily="34" charset="-122"/>
                <a:cs typeface="Noto Sans CJK KR" pitchFamily="34" charset="-120"/>
              </a:rPr>
              <a:t>→</a:t>
            </a:r>
            <a:endParaRPr lang="en-US" sz="2000" dirty="0"/>
          </a:p>
        </p:txBody>
      </p:sp>
      <p:sp>
        <p:nvSpPr>
          <p:cNvPr id="23" name="Text 21"/>
          <p:cNvSpPr/>
          <p:nvPr/>
        </p:nvSpPr>
        <p:spPr>
          <a:xfrm>
            <a:off x="5120640" y="4645152"/>
            <a:ext cx="1828800" cy="320040"/>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승인 상태 유지</a:t>
            </a:r>
            <a:endParaRPr lang="en-US" sz="1000" dirty="0"/>
          </a:p>
        </p:txBody>
      </p:sp>
      <p:sp>
        <p:nvSpPr>
          <p:cNvPr id="24" name="Shape 22"/>
          <p:cNvSpPr/>
          <p:nvPr/>
        </p:nvSpPr>
        <p:spPr>
          <a:xfrm>
            <a:off x="594360" y="6345936"/>
            <a:ext cx="11000232" cy="0"/>
          </a:xfrm>
          <a:prstGeom prst="line">
            <a:avLst/>
          </a:prstGeom>
          <a:noFill/>
          <a:ln w="7620">
            <a:solidFill>
              <a:srgbClr val="D2D2D7"/>
            </a:solidFill>
            <a:prstDash val="solid"/>
          </a:ln>
        </p:spPr>
      </p:sp>
      <p:sp>
        <p:nvSpPr>
          <p:cNvPr id="25" name="Text 23"/>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S046</a:t>
            </a:r>
            <a:endParaRPr lang="en-US" sz="900" dirty="0"/>
          </a:p>
        </p:txBody>
      </p:sp>
      <p:sp>
        <p:nvSpPr>
          <p:cNvPr id="26" name="Text 24"/>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S047</a:t>
            </a:r>
            <a:endParaRPr lang="en-US" sz="900" dirty="0"/>
          </a:p>
        </p:txBody>
      </p:sp>
      <p:sp>
        <p:nvSpPr>
          <p:cNvPr id="28" name="Text 26"/>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S101</a:t>
            </a:r>
            <a:endParaRPr lang="en-US" sz="900" dirty="0"/>
          </a:p>
        </p:txBody>
      </p:sp>
      <p:sp>
        <p:nvSpPr>
          <p:cNvPr id="30" name="Text 28"/>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1" name="Text 29"/>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S103</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STAGE 2 · 증거·서류 준비</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증거와 준비 자료를 한 묶음으로 정리합니다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해시는 입고 후 변경 비교를, RFC 3161은 임프린트의 선행 존재를 지원합니다.</a:t>
            </a:r>
            <a:endParaRPr lang="en-US" sz="1750" dirty="0"/>
          </a:p>
        </p:txBody>
      </p:sp>
      <p:sp>
        <p:nvSpPr>
          <p:cNvPr id="5" name="Shape 3"/>
          <p:cNvSpPr/>
          <p:nvPr/>
        </p:nvSpPr>
        <p:spPr>
          <a:xfrm>
            <a:off x="960120" y="3886200"/>
            <a:ext cx="10012680" cy="0"/>
          </a:xfrm>
          <a:prstGeom prst="line">
            <a:avLst/>
          </a:prstGeom>
          <a:noFill/>
          <a:ln w="17780">
            <a:solidFill>
              <a:srgbClr val="0071E3"/>
            </a:solidFill>
            <a:prstDash val="solid"/>
          </a:ln>
        </p:spPr>
      </p:sp>
      <p:sp>
        <p:nvSpPr>
          <p:cNvPr id="6" name="Shape 4"/>
          <p:cNvSpPr/>
          <p:nvPr/>
        </p:nvSpPr>
        <p:spPr>
          <a:xfrm>
            <a:off x="594360" y="2514600"/>
            <a:ext cx="2068373" cy="2148840"/>
          </a:xfrm>
          <a:prstGeom prst="roundRect">
            <a:avLst>
              <a:gd name="adj" fmla="val 5305"/>
            </a:avLst>
          </a:prstGeom>
          <a:solidFill>
            <a:srgbClr val="111111"/>
          </a:solidFill>
          <a:ln w="8890">
            <a:solidFill>
              <a:srgbClr val="111111"/>
            </a:solidFill>
            <a:prstDash val="solid"/>
          </a:ln>
        </p:spPr>
      </p:sp>
      <p:sp>
        <p:nvSpPr>
          <p:cNvPr id="7" name="Text 5"/>
          <p:cNvSpPr/>
          <p:nvPr/>
        </p:nvSpPr>
        <p:spPr>
          <a:xfrm>
            <a:off x="758952" y="2706624"/>
            <a:ext cx="1739189" cy="292608"/>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01</a:t>
            </a:r>
            <a:endParaRPr lang="en-US" sz="900" dirty="0"/>
          </a:p>
        </p:txBody>
      </p:sp>
      <p:sp>
        <p:nvSpPr>
          <p:cNvPr id="8" name="Text 6"/>
          <p:cNvSpPr/>
          <p:nvPr/>
        </p:nvSpPr>
        <p:spPr>
          <a:xfrm>
            <a:off x="758952" y="3246120"/>
            <a:ext cx="1739189" cy="64008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Noto Sans CJK KR" pitchFamily="34" charset="0"/>
                <a:ea typeface="Noto Sans CJK KR" pitchFamily="34" charset="-122"/>
                <a:cs typeface="Noto Sans CJK KR" pitchFamily="34" charset="-120"/>
              </a:rPr>
              <a:t>원본</a:t>
            </a:r>
            <a:endParaRPr lang="en-US" sz="1400" dirty="0"/>
          </a:p>
        </p:txBody>
      </p:sp>
      <p:sp>
        <p:nvSpPr>
          <p:cNvPr id="9" name="Text 7"/>
          <p:cNvSpPr/>
          <p:nvPr/>
        </p:nvSpPr>
        <p:spPr>
          <a:xfrm>
            <a:off x="758952" y="4069080"/>
            <a:ext cx="1739189" cy="457200"/>
          </a:xfrm>
          <a:prstGeom prst="rect">
            <a:avLst/>
          </a:prstGeom>
          <a:noFill/>
          <a:ln/>
        </p:spPr>
        <p:txBody>
          <a:bodyPr wrap="square" lIns="0" tIns="0" rIns="0" bIns="0" rtlCol="0" anchor="t">
            <a:normAutofit/>
          </a:bodyPr>
          <a:lstStyle/>
          <a:p>
            <a:pPr algn="ctr" indent="0" marL="0">
              <a:buNone/>
            </a:pPr>
            <a:r>
              <a:rPr lang="en-US" sz="950" b="1" dirty="0">
                <a:solidFill>
                  <a:srgbClr val="D2D2D7"/>
                </a:solidFill>
                <a:latin typeface="Noto Sans CJK KR" pitchFamily="34" charset="0"/>
                <a:ea typeface="Noto Sans CJK KR" pitchFamily="34" charset="-122"/>
                <a:cs typeface="Noto Sans CJK KR" pitchFamily="34" charset="-120"/>
              </a:rPr>
              <a:t>원본 9</a:t>
            </a:r>
            <a:endParaRPr lang="en-US" sz="950" dirty="0"/>
          </a:p>
          <a:p>
            <a:pPr algn="ctr" indent="0" marL="0">
              <a:buNone/>
            </a:pPr>
            <a:r>
              <a:rPr lang="en-US" sz="950" b="1" dirty="0">
                <a:solidFill>
                  <a:srgbClr val="D2D2D7"/>
                </a:solidFill>
                <a:latin typeface="Noto Sans CJK KR" pitchFamily="34" charset="0"/>
                <a:ea typeface="Noto Sans CJK KR" pitchFamily="34" charset="-122"/>
                <a:cs typeface="Noto Sans CJK KR" pitchFamily="34" charset="-120"/>
              </a:rPr>
              <a:t>식별정보</a:t>
            </a:r>
            <a:endParaRPr lang="en-US" sz="950" dirty="0"/>
          </a:p>
        </p:txBody>
      </p:sp>
      <p:sp>
        <p:nvSpPr>
          <p:cNvPr id="10" name="Shape 8"/>
          <p:cNvSpPr/>
          <p:nvPr/>
        </p:nvSpPr>
        <p:spPr>
          <a:xfrm>
            <a:off x="2827325" y="2834640"/>
            <a:ext cx="2068373" cy="2148840"/>
          </a:xfrm>
          <a:prstGeom prst="roundRect">
            <a:avLst>
              <a:gd name="adj" fmla="val 5305"/>
            </a:avLst>
          </a:prstGeom>
          <a:solidFill>
            <a:srgbClr val="FFFFFF"/>
          </a:solidFill>
          <a:ln w="8890">
            <a:solidFill>
              <a:srgbClr val="D2D2D7"/>
            </a:solidFill>
            <a:prstDash val="solid"/>
          </a:ln>
        </p:spPr>
      </p:sp>
      <p:sp>
        <p:nvSpPr>
          <p:cNvPr id="11" name="Text 9"/>
          <p:cNvSpPr/>
          <p:nvPr/>
        </p:nvSpPr>
        <p:spPr>
          <a:xfrm>
            <a:off x="2991917" y="3026664"/>
            <a:ext cx="1739189"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02</a:t>
            </a:r>
            <a:endParaRPr lang="en-US" sz="900" dirty="0"/>
          </a:p>
        </p:txBody>
      </p:sp>
      <p:sp>
        <p:nvSpPr>
          <p:cNvPr id="12" name="Text 10"/>
          <p:cNvSpPr/>
          <p:nvPr/>
        </p:nvSpPr>
        <p:spPr>
          <a:xfrm>
            <a:off x="2991917" y="3566160"/>
            <a:ext cx="1739189"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OCR</a:t>
            </a:r>
            <a:endParaRPr lang="en-US" sz="1400" dirty="0"/>
          </a:p>
        </p:txBody>
      </p:sp>
      <p:sp>
        <p:nvSpPr>
          <p:cNvPr id="13" name="Text 11"/>
          <p:cNvSpPr/>
          <p:nvPr/>
        </p:nvSpPr>
        <p:spPr>
          <a:xfrm>
            <a:off x="2991917" y="4389120"/>
            <a:ext cx="1739189"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OCR 12</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승인 완료</a:t>
            </a:r>
            <a:endParaRPr lang="en-US" sz="950" dirty="0"/>
          </a:p>
        </p:txBody>
      </p:sp>
      <p:sp>
        <p:nvSpPr>
          <p:cNvPr id="14" name="Shape 12"/>
          <p:cNvSpPr/>
          <p:nvPr/>
        </p:nvSpPr>
        <p:spPr>
          <a:xfrm>
            <a:off x="5060290" y="2514600"/>
            <a:ext cx="2068373" cy="2148840"/>
          </a:xfrm>
          <a:prstGeom prst="roundRect">
            <a:avLst>
              <a:gd name="adj" fmla="val 5305"/>
            </a:avLst>
          </a:prstGeom>
          <a:solidFill>
            <a:srgbClr val="FFFFFF"/>
          </a:solidFill>
          <a:ln w="8890">
            <a:solidFill>
              <a:srgbClr val="D2D2D7"/>
            </a:solidFill>
            <a:prstDash val="solid"/>
          </a:ln>
        </p:spPr>
      </p:sp>
      <p:sp>
        <p:nvSpPr>
          <p:cNvPr id="15" name="Text 13"/>
          <p:cNvSpPr/>
          <p:nvPr/>
        </p:nvSpPr>
        <p:spPr>
          <a:xfrm>
            <a:off x="5224882" y="2706624"/>
            <a:ext cx="1739189"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03</a:t>
            </a:r>
            <a:endParaRPr lang="en-US" sz="900" dirty="0"/>
          </a:p>
        </p:txBody>
      </p:sp>
      <p:sp>
        <p:nvSpPr>
          <p:cNvPr id="16" name="Text 14"/>
          <p:cNvSpPr/>
          <p:nvPr/>
        </p:nvSpPr>
        <p:spPr>
          <a:xfrm>
            <a:off x="5224882" y="3246120"/>
            <a:ext cx="1739189"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사실표</a:t>
            </a:r>
            <a:endParaRPr lang="en-US" sz="1400" dirty="0"/>
          </a:p>
        </p:txBody>
      </p:sp>
      <p:sp>
        <p:nvSpPr>
          <p:cNvPr id="17" name="Text 15"/>
          <p:cNvSpPr/>
          <p:nvPr/>
        </p:nvSpPr>
        <p:spPr>
          <a:xfrm>
            <a:off x="5224882" y="4069080"/>
            <a:ext cx="1739189"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사실표</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시간순 정렬</a:t>
            </a:r>
            <a:endParaRPr lang="en-US" sz="950" dirty="0"/>
          </a:p>
        </p:txBody>
      </p:sp>
      <p:sp>
        <p:nvSpPr>
          <p:cNvPr id="18" name="Shape 16"/>
          <p:cNvSpPr/>
          <p:nvPr/>
        </p:nvSpPr>
        <p:spPr>
          <a:xfrm>
            <a:off x="7293254" y="2834640"/>
            <a:ext cx="2068373" cy="2148840"/>
          </a:xfrm>
          <a:prstGeom prst="roundRect">
            <a:avLst>
              <a:gd name="adj" fmla="val 5305"/>
            </a:avLst>
          </a:prstGeom>
          <a:solidFill>
            <a:srgbClr val="FFFFFF"/>
          </a:solidFill>
          <a:ln w="8890">
            <a:solidFill>
              <a:srgbClr val="D2D2D7"/>
            </a:solidFill>
            <a:prstDash val="solid"/>
          </a:ln>
        </p:spPr>
      </p:sp>
      <p:sp>
        <p:nvSpPr>
          <p:cNvPr id="19" name="Text 17"/>
          <p:cNvSpPr/>
          <p:nvPr/>
        </p:nvSpPr>
        <p:spPr>
          <a:xfrm>
            <a:off x="7457846" y="3026664"/>
            <a:ext cx="1739189"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04</a:t>
            </a:r>
            <a:endParaRPr lang="en-US" sz="900" dirty="0"/>
          </a:p>
        </p:txBody>
      </p:sp>
      <p:sp>
        <p:nvSpPr>
          <p:cNvPr id="20" name="Text 18"/>
          <p:cNvSpPr/>
          <p:nvPr/>
        </p:nvSpPr>
        <p:spPr>
          <a:xfrm>
            <a:off x="7457846" y="3566160"/>
            <a:ext cx="1739189"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불일치</a:t>
            </a:r>
            <a:endParaRPr lang="en-US" sz="1400" dirty="0"/>
          </a:p>
        </p:txBody>
      </p:sp>
      <p:sp>
        <p:nvSpPr>
          <p:cNvPr id="21" name="Text 19"/>
          <p:cNvSpPr/>
          <p:nvPr/>
        </p:nvSpPr>
        <p:spPr>
          <a:xfrm>
            <a:off x="7457846" y="4389120"/>
            <a:ext cx="1739189"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불일치 0</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미확인 차단</a:t>
            </a:r>
            <a:endParaRPr lang="en-US" sz="950" dirty="0"/>
          </a:p>
        </p:txBody>
      </p:sp>
      <p:sp>
        <p:nvSpPr>
          <p:cNvPr id="22" name="Shape 20"/>
          <p:cNvSpPr/>
          <p:nvPr/>
        </p:nvSpPr>
        <p:spPr>
          <a:xfrm>
            <a:off x="9526219" y="2514600"/>
            <a:ext cx="2068373" cy="2148840"/>
          </a:xfrm>
          <a:prstGeom prst="roundRect">
            <a:avLst>
              <a:gd name="adj" fmla="val 5305"/>
            </a:avLst>
          </a:prstGeom>
          <a:solidFill>
            <a:srgbClr val="FFFFFF"/>
          </a:solidFill>
          <a:ln w="8890">
            <a:solidFill>
              <a:srgbClr val="D2D2D7"/>
            </a:solidFill>
            <a:prstDash val="solid"/>
          </a:ln>
        </p:spPr>
      </p:sp>
      <p:sp>
        <p:nvSpPr>
          <p:cNvPr id="23" name="Text 21"/>
          <p:cNvSpPr/>
          <p:nvPr/>
        </p:nvSpPr>
        <p:spPr>
          <a:xfrm>
            <a:off x="9690811" y="2706624"/>
            <a:ext cx="1739189" cy="292608"/>
          </a:xfrm>
          <a:prstGeom prst="rect">
            <a:avLst/>
          </a:prstGeom>
          <a:noFill/>
          <a:ln/>
        </p:spPr>
        <p:txBody>
          <a:bodyPr wrap="square" lIns="0" tIns="0" rIns="0" bIns="0" rtlCol="0" anchor="ctr">
            <a:normAutofit/>
          </a:bodyPr>
          <a:lstStyle/>
          <a:p>
            <a:pPr indent="0" marL="0">
              <a:buNone/>
            </a:pPr>
            <a:r>
              <a:rPr lang="en-US" sz="900" b="1" dirty="0">
                <a:solidFill>
                  <a:srgbClr val="0071E3"/>
                </a:solidFill>
                <a:latin typeface="Source Code Pro" pitchFamily="34" charset="0"/>
                <a:ea typeface="Source Code Pro" pitchFamily="34" charset="-122"/>
                <a:cs typeface="Source Code Pro" pitchFamily="34" charset="-120"/>
              </a:rPr>
              <a:t>05</a:t>
            </a:r>
            <a:endParaRPr lang="en-US" sz="900" dirty="0"/>
          </a:p>
        </p:txBody>
      </p:sp>
      <p:sp>
        <p:nvSpPr>
          <p:cNvPr id="24" name="Text 22"/>
          <p:cNvSpPr/>
          <p:nvPr/>
        </p:nvSpPr>
        <p:spPr>
          <a:xfrm>
            <a:off x="9690811" y="3246120"/>
            <a:ext cx="1739189" cy="64008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제출 사본</a:t>
            </a:r>
            <a:endParaRPr lang="en-US" sz="1400" dirty="0"/>
          </a:p>
        </p:txBody>
      </p:sp>
      <p:sp>
        <p:nvSpPr>
          <p:cNvPr id="25" name="Text 23"/>
          <p:cNvSpPr/>
          <p:nvPr/>
        </p:nvSpPr>
        <p:spPr>
          <a:xfrm>
            <a:off x="9690811" y="4069080"/>
            <a:ext cx="1739189" cy="457200"/>
          </a:xfrm>
          <a:prstGeom prst="rect">
            <a:avLst/>
          </a:prstGeom>
          <a:noFill/>
          <a:ln/>
        </p:spPr>
        <p:txBody>
          <a:bodyPr wrap="square" lIns="0" tIns="0" rIns="0" bIns="0" rtlCol="0" anchor="t">
            <a:normAutofit/>
          </a:bodyPr>
          <a:lstStyle/>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PDF 미리보기</a:t>
            </a:r>
            <a:endParaRPr lang="en-US" sz="950" dirty="0"/>
          </a:p>
          <a:p>
            <a:pPr algn="ctr" indent="0" marL="0">
              <a:buNone/>
            </a:pPr>
            <a:r>
              <a:rPr lang="en-US" sz="950" b="1" dirty="0">
                <a:solidFill>
                  <a:srgbClr val="6E6E73"/>
                </a:solidFill>
                <a:latin typeface="Noto Sans CJK KR" pitchFamily="34" charset="0"/>
                <a:ea typeface="Noto Sans CJK KR" pitchFamily="34" charset="-122"/>
                <a:cs typeface="Noto Sans CJK KR" pitchFamily="34" charset="-120"/>
              </a:rPr>
              <a:t>내보내기</a:t>
            </a:r>
            <a:endParaRPr lang="en-US" sz="950" dirty="0"/>
          </a:p>
        </p:txBody>
      </p:sp>
      <p:sp>
        <p:nvSpPr>
          <p:cNvPr id="26" name="Shape 24"/>
          <p:cNvSpPr/>
          <p:nvPr/>
        </p:nvSpPr>
        <p:spPr>
          <a:xfrm>
            <a:off x="594360" y="6345936"/>
            <a:ext cx="11000232" cy="0"/>
          </a:xfrm>
          <a:prstGeom prst="line">
            <a:avLst/>
          </a:prstGeom>
          <a:noFill/>
          <a:ln w="7620">
            <a:solidFill>
              <a:srgbClr val="D2D2D7"/>
            </a:solidFill>
            <a:prstDash val="solid"/>
          </a:ln>
        </p:spPr>
      </p:sp>
      <p:sp>
        <p:nvSpPr>
          <p:cNvPr id="27" name="Text 25"/>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S063</a:t>
            </a:r>
            <a:endParaRPr lang="en-US" sz="900" dirty="0"/>
          </a:p>
        </p:txBody>
      </p:sp>
      <p:sp>
        <p:nvSpPr>
          <p:cNvPr id="28" name="Text 26"/>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S064</a:t>
            </a:r>
            <a:endParaRPr lang="en-US" sz="900" dirty="0"/>
          </a:p>
        </p:txBody>
      </p:sp>
      <p:sp>
        <p:nvSpPr>
          <p:cNvPr id="30" name="Text 28"/>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1" name="Text 29"/>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S065</a:t>
            </a:r>
            <a:endParaRPr lang="en-US" sz="900" dirty="0"/>
          </a:p>
        </p:txBody>
      </p:sp>
      <p:sp>
        <p:nvSpPr>
          <p:cNvPr id="32" name="Text 30"/>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3" name="Text 31"/>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S066</a:t>
            </a:r>
            <a:endParaRPr lang="en-US" sz="900" dirty="0"/>
          </a:p>
        </p:txBody>
      </p:sp>
      <p:sp>
        <p:nvSpPr>
          <p:cNvPr id="34" name="Text 32"/>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5" name="Text 33"/>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S067</a:t>
            </a:r>
            <a:endParaRPr lang="en-US" sz="900" dirty="0"/>
          </a:p>
        </p:txBody>
      </p:sp>
      <p:sp>
        <p:nvSpPr>
          <p:cNvPr id="36" name="Text 34"/>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7" name="Text 35"/>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S068</a:t>
            </a:r>
            <a:endParaRPr lang="en-US" sz="900" dirty="0"/>
          </a:p>
        </p:txBody>
      </p:sp>
      <p:sp>
        <p:nvSpPr>
          <p:cNvPr id="38" name="Text 36"/>
          <p:cNvSpPr/>
          <p:nvPr/>
        </p:nvSpPr>
        <p:spPr>
          <a:xfrm>
            <a:off x="490118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9" name="Text 37"/>
          <p:cNvSpPr/>
          <p:nvPr/>
        </p:nvSpPr>
        <p:spPr>
          <a:xfrm>
            <a:off x="509320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S078</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STAGE 4 · 강제집행 관리</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집행 절차는 고정된 순서가 아닙니다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집행권원과 확인된 재산에 따라 재산명시·조회·압류·추심 경로를 선택합니다.</a:t>
            </a:r>
            <a:endParaRPr lang="en-US" sz="1750" dirty="0"/>
          </a:p>
        </p:txBody>
      </p:sp>
      <p:sp>
        <p:nvSpPr>
          <p:cNvPr id="5" name="Shape 3"/>
          <p:cNvSpPr/>
          <p:nvPr/>
        </p:nvSpPr>
        <p:spPr>
          <a:xfrm>
            <a:off x="594360" y="2267712"/>
            <a:ext cx="11000232" cy="658368"/>
          </a:xfrm>
          <a:prstGeom prst="roundRect">
            <a:avLst>
              <a:gd name="adj" fmla="val 16667"/>
            </a:avLst>
          </a:prstGeom>
          <a:solidFill>
            <a:srgbClr val="101D2B"/>
          </a:solidFill>
          <a:ln w="8890">
            <a:solidFill>
              <a:srgbClr val="101D2B"/>
            </a:solidFill>
            <a:prstDash val="solid"/>
          </a:ln>
        </p:spPr>
      </p:sp>
      <p:sp>
        <p:nvSpPr>
          <p:cNvPr id="6" name="Text 4"/>
          <p:cNvSpPr/>
          <p:nvPr/>
        </p:nvSpPr>
        <p:spPr>
          <a:xfrm>
            <a:off x="868680" y="2267712"/>
            <a:ext cx="2377440" cy="65836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Noto Sans CJK KR" pitchFamily="34" charset="0"/>
                <a:ea typeface="Noto Sans CJK KR" pitchFamily="34" charset="-122"/>
                <a:cs typeface="Noto Sans CJK KR" pitchFamily="34" charset="-120"/>
              </a:rPr>
              <a:t>집행권원  확인됨</a:t>
            </a:r>
            <a:endParaRPr lang="en-US" sz="1500" dirty="0"/>
          </a:p>
        </p:txBody>
      </p:sp>
      <p:sp>
        <p:nvSpPr>
          <p:cNvPr id="7" name="Text 5"/>
          <p:cNvSpPr/>
          <p:nvPr/>
        </p:nvSpPr>
        <p:spPr>
          <a:xfrm>
            <a:off x="3749040" y="2267712"/>
            <a:ext cx="2834640" cy="658368"/>
          </a:xfrm>
          <a:prstGeom prst="rect">
            <a:avLst/>
          </a:prstGeom>
          <a:noFill/>
          <a:ln/>
        </p:spPr>
        <p:txBody>
          <a:bodyPr wrap="square" lIns="0" tIns="0" rIns="0" bIns="0" rtlCol="0" anchor="ctr">
            <a:normAutofit/>
          </a:bodyPr>
          <a:lstStyle/>
          <a:p>
            <a:pPr indent="0" marL="0">
              <a:buNone/>
            </a:pPr>
            <a:r>
              <a:rPr lang="en-US" sz="1300" b="1" dirty="0">
                <a:solidFill>
                  <a:srgbClr val="2997FF"/>
                </a:solidFill>
                <a:latin typeface="Noto Sans CJK KR" pitchFamily="34" charset="0"/>
                <a:ea typeface="Noto Sans CJK KR" pitchFamily="34" charset="-122"/>
                <a:cs typeface="Noto Sans CJK KR" pitchFamily="34" charset="-120"/>
              </a:rPr>
              <a:t>확인된 재산: 예금채권</a:t>
            </a:r>
            <a:endParaRPr lang="en-US" sz="1300" dirty="0"/>
          </a:p>
        </p:txBody>
      </p:sp>
      <p:sp>
        <p:nvSpPr>
          <p:cNvPr id="8" name="Text 6"/>
          <p:cNvSpPr/>
          <p:nvPr/>
        </p:nvSpPr>
        <p:spPr>
          <a:xfrm>
            <a:off x="9189720" y="2267712"/>
            <a:ext cx="1920240" cy="658368"/>
          </a:xfrm>
          <a:prstGeom prst="rect">
            <a:avLst/>
          </a:prstGeom>
          <a:noFill/>
          <a:ln/>
        </p:spPr>
        <p:txBody>
          <a:bodyPr wrap="square" lIns="0" tIns="0" rIns="0" bIns="0" rtlCol="0" anchor="ctr">
            <a:normAutofit/>
          </a:bodyPr>
          <a:lstStyle/>
          <a:p>
            <a:pPr algn="r" indent="0" marL="0">
              <a:buNone/>
            </a:pPr>
            <a:r>
              <a:rPr lang="en-US" sz="1100" b="1" dirty="0">
                <a:solidFill>
                  <a:srgbClr val="D2D2D7"/>
                </a:solidFill>
                <a:latin typeface="Noto Sans CJK KR" pitchFamily="34" charset="0"/>
                <a:ea typeface="Noto Sans CJK KR" pitchFamily="34" charset="-122"/>
                <a:cs typeface="Noto Sans CJK KR" pitchFamily="34" charset="-120"/>
              </a:rPr>
              <a:t>회수 예측 없음</a:t>
            </a:r>
            <a:endParaRPr lang="en-US" sz="1100" dirty="0"/>
          </a:p>
        </p:txBody>
      </p:sp>
      <p:sp>
        <p:nvSpPr>
          <p:cNvPr id="9" name="Shape 7"/>
          <p:cNvSpPr/>
          <p:nvPr/>
        </p:nvSpPr>
        <p:spPr>
          <a:xfrm>
            <a:off x="777240" y="3291840"/>
            <a:ext cx="3200400" cy="1298448"/>
          </a:xfrm>
          <a:prstGeom prst="roundRect">
            <a:avLst>
              <a:gd name="adj" fmla="val 8451"/>
            </a:avLst>
          </a:prstGeom>
          <a:solidFill>
            <a:srgbClr val="FFFFFF"/>
          </a:solidFill>
          <a:ln w="8890">
            <a:solidFill>
              <a:srgbClr val="D2D2D7"/>
            </a:solidFill>
            <a:prstDash val="solid"/>
          </a:ln>
        </p:spPr>
      </p:sp>
      <p:sp>
        <p:nvSpPr>
          <p:cNvPr id="10" name="Text 8"/>
          <p:cNvSpPr/>
          <p:nvPr/>
        </p:nvSpPr>
        <p:spPr>
          <a:xfrm>
            <a:off x="960120" y="3493008"/>
            <a:ext cx="2834640" cy="256032"/>
          </a:xfrm>
          <a:prstGeom prst="rect">
            <a:avLst/>
          </a:prstGeom>
          <a:noFill/>
          <a:ln/>
        </p:spPr>
        <p:txBody>
          <a:bodyPr wrap="square" lIns="0" tIns="0" rIns="0" bIns="0" rtlCol="0" anchor="ctr">
            <a:normAutofit/>
          </a:bodyPr>
          <a:lstStyle/>
          <a:p>
            <a:pPr algn="ctr" indent="0" marL="0">
              <a:buNone/>
            </a:pPr>
            <a:r>
              <a:rPr lang="en-US" sz="900" b="1" dirty="0">
                <a:solidFill>
                  <a:srgbClr val="6E6E73"/>
                </a:solidFill>
                <a:latin typeface="Noto Sans CJK KR" pitchFamily="34" charset="0"/>
                <a:ea typeface="Noto Sans CJK KR" pitchFamily="34" charset="-122"/>
                <a:cs typeface="Noto Sans CJK KR" pitchFamily="34" charset="-120"/>
              </a:rPr>
              <a:t>조건 확인</a:t>
            </a:r>
            <a:endParaRPr lang="en-US" sz="900" dirty="0"/>
          </a:p>
        </p:txBody>
      </p:sp>
      <p:sp>
        <p:nvSpPr>
          <p:cNvPr id="11" name="Text 9"/>
          <p:cNvSpPr/>
          <p:nvPr/>
        </p:nvSpPr>
        <p:spPr>
          <a:xfrm>
            <a:off x="960120" y="3840480"/>
            <a:ext cx="2834640" cy="45720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재산명시</a:t>
            </a:r>
            <a:endParaRPr lang="en-US" sz="1400" dirty="0"/>
          </a:p>
        </p:txBody>
      </p:sp>
      <p:sp>
        <p:nvSpPr>
          <p:cNvPr id="12" name="Shape 10"/>
          <p:cNvSpPr/>
          <p:nvPr/>
        </p:nvSpPr>
        <p:spPr>
          <a:xfrm>
            <a:off x="4453128" y="3291840"/>
            <a:ext cx="3200400" cy="1298448"/>
          </a:xfrm>
          <a:prstGeom prst="roundRect">
            <a:avLst>
              <a:gd name="adj" fmla="val 8451"/>
            </a:avLst>
          </a:prstGeom>
          <a:solidFill>
            <a:srgbClr val="FFFFFF"/>
          </a:solidFill>
          <a:ln w="8890">
            <a:solidFill>
              <a:srgbClr val="D2D2D7"/>
            </a:solidFill>
            <a:prstDash val="solid"/>
          </a:ln>
        </p:spPr>
      </p:sp>
      <p:sp>
        <p:nvSpPr>
          <p:cNvPr id="13" name="Text 11"/>
          <p:cNvSpPr/>
          <p:nvPr/>
        </p:nvSpPr>
        <p:spPr>
          <a:xfrm>
            <a:off x="4636008" y="3493008"/>
            <a:ext cx="2834640" cy="256032"/>
          </a:xfrm>
          <a:prstGeom prst="rect">
            <a:avLst/>
          </a:prstGeom>
          <a:noFill/>
          <a:ln/>
        </p:spPr>
        <p:txBody>
          <a:bodyPr wrap="square" lIns="0" tIns="0" rIns="0" bIns="0" rtlCol="0" anchor="ctr">
            <a:normAutofit/>
          </a:bodyPr>
          <a:lstStyle/>
          <a:p>
            <a:pPr algn="ctr" indent="0" marL="0">
              <a:buNone/>
            </a:pPr>
            <a:r>
              <a:rPr lang="en-US" sz="900" b="1" dirty="0">
                <a:solidFill>
                  <a:srgbClr val="6E6E73"/>
                </a:solidFill>
                <a:latin typeface="Noto Sans CJK KR" pitchFamily="34" charset="0"/>
                <a:ea typeface="Noto Sans CJK KR" pitchFamily="34" charset="-122"/>
                <a:cs typeface="Noto Sans CJK KR" pitchFamily="34" charset="-120"/>
              </a:rPr>
              <a:t>조건 확인</a:t>
            </a:r>
            <a:endParaRPr lang="en-US" sz="900" dirty="0"/>
          </a:p>
        </p:txBody>
      </p:sp>
      <p:sp>
        <p:nvSpPr>
          <p:cNvPr id="14" name="Text 12"/>
          <p:cNvSpPr/>
          <p:nvPr/>
        </p:nvSpPr>
        <p:spPr>
          <a:xfrm>
            <a:off x="4636008" y="3840480"/>
            <a:ext cx="2834640" cy="45720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재산조회</a:t>
            </a:r>
            <a:endParaRPr lang="en-US" sz="1400" dirty="0"/>
          </a:p>
        </p:txBody>
      </p:sp>
      <p:sp>
        <p:nvSpPr>
          <p:cNvPr id="15" name="Shape 13"/>
          <p:cNvSpPr/>
          <p:nvPr/>
        </p:nvSpPr>
        <p:spPr>
          <a:xfrm>
            <a:off x="8129016" y="3291840"/>
            <a:ext cx="3200400" cy="1298448"/>
          </a:xfrm>
          <a:prstGeom prst="roundRect">
            <a:avLst>
              <a:gd name="adj" fmla="val 8451"/>
            </a:avLst>
          </a:prstGeom>
          <a:solidFill>
            <a:srgbClr val="FFFFFF"/>
          </a:solidFill>
          <a:ln w="8890">
            <a:solidFill>
              <a:srgbClr val="0071E3"/>
            </a:solidFill>
            <a:prstDash val="solid"/>
          </a:ln>
        </p:spPr>
      </p:sp>
      <p:sp>
        <p:nvSpPr>
          <p:cNvPr id="16" name="Text 14"/>
          <p:cNvSpPr/>
          <p:nvPr/>
        </p:nvSpPr>
        <p:spPr>
          <a:xfrm>
            <a:off x="8311896" y="3493008"/>
            <a:ext cx="2834640" cy="256032"/>
          </a:xfrm>
          <a:prstGeom prst="rect">
            <a:avLst/>
          </a:prstGeom>
          <a:noFill/>
          <a:ln/>
        </p:spPr>
        <p:txBody>
          <a:bodyPr wrap="square" lIns="0" tIns="0" rIns="0" bIns="0" rtlCol="0" anchor="ctr">
            <a:normAutofit/>
          </a:bodyPr>
          <a:lstStyle/>
          <a:p>
            <a:pPr algn="ctr" indent="0" marL="0">
              <a:buNone/>
            </a:pPr>
            <a:r>
              <a:rPr lang="en-US" sz="900" b="1" dirty="0">
                <a:solidFill>
                  <a:srgbClr val="0071E3"/>
                </a:solidFill>
                <a:latin typeface="Noto Sans CJK KR" pitchFamily="34" charset="0"/>
                <a:ea typeface="Noto Sans CJK KR" pitchFamily="34" charset="-122"/>
                <a:cs typeface="Noto Sans CJK KR" pitchFamily="34" charset="-120"/>
              </a:rPr>
              <a:t>검토 가능</a:t>
            </a:r>
            <a:endParaRPr lang="en-US" sz="900" dirty="0"/>
          </a:p>
        </p:txBody>
      </p:sp>
      <p:sp>
        <p:nvSpPr>
          <p:cNvPr id="17" name="Text 15"/>
          <p:cNvSpPr/>
          <p:nvPr/>
        </p:nvSpPr>
        <p:spPr>
          <a:xfrm>
            <a:off x="8311896" y="3840480"/>
            <a:ext cx="2834640" cy="457200"/>
          </a:xfrm>
          <a:prstGeom prst="rect">
            <a:avLst/>
          </a:prstGeom>
          <a:noFill/>
          <a:ln/>
        </p:spPr>
        <p:txBody>
          <a:bodyPr wrap="square" lIns="0" tIns="0" rIns="0" bIns="0" rtlCol="0" anchor="ctr">
            <a:normAutofit/>
          </a:bodyPr>
          <a:lstStyle/>
          <a:p>
            <a:pPr algn="ctr" indent="0" marL="0">
              <a:buNone/>
            </a:pPr>
            <a:r>
              <a:rPr lang="en-US" sz="1400" b="1" dirty="0">
                <a:solidFill>
                  <a:srgbClr val="1D1D1F"/>
                </a:solidFill>
                <a:latin typeface="Noto Sans CJK KR" pitchFamily="34" charset="0"/>
                <a:ea typeface="Noto Sans CJK KR" pitchFamily="34" charset="-122"/>
                <a:cs typeface="Noto Sans CJK KR" pitchFamily="34" charset="-120"/>
              </a:rPr>
              <a:t>채권압류·추심</a:t>
            </a:r>
            <a:endParaRPr lang="en-US" sz="1400" dirty="0"/>
          </a:p>
        </p:txBody>
      </p:sp>
      <p:sp>
        <p:nvSpPr>
          <p:cNvPr id="18" name="Shape 16"/>
          <p:cNvSpPr/>
          <p:nvPr/>
        </p:nvSpPr>
        <p:spPr>
          <a:xfrm>
            <a:off x="777240" y="4956048"/>
            <a:ext cx="10561320" cy="566928"/>
          </a:xfrm>
          <a:prstGeom prst="roundRect">
            <a:avLst>
              <a:gd name="adj" fmla="val 19355"/>
            </a:avLst>
          </a:prstGeom>
          <a:solidFill>
            <a:srgbClr val="F5F5F7"/>
          </a:solidFill>
          <a:ln w="8890">
            <a:solidFill>
              <a:srgbClr val="D2D2D7"/>
            </a:solidFill>
            <a:prstDash val="solid"/>
          </a:ln>
        </p:spPr>
      </p:sp>
      <p:sp>
        <p:nvSpPr>
          <p:cNvPr id="19" name="Text 17"/>
          <p:cNvSpPr/>
          <p:nvPr/>
        </p:nvSpPr>
        <p:spPr>
          <a:xfrm>
            <a:off x="1005840" y="4956048"/>
            <a:ext cx="10104120" cy="566928"/>
          </a:xfrm>
          <a:prstGeom prst="rect">
            <a:avLst/>
          </a:prstGeom>
          <a:noFill/>
          <a:ln/>
        </p:spPr>
        <p:txBody>
          <a:bodyPr wrap="square" lIns="0" tIns="0" rIns="0" bIns="0" rtlCol="0" anchor="ctr">
            <a:normAutofit/>
          </a:bodyPr>
          <a:lstStyle/>
          <a:p>
            <a:pPr indent="0" marL="0">
              <a:buNone/>
            </a:pPr>
            <a:r>
              <a:rPr lang="en-US" sz="1100" b="1" dirty="0">
                <a:solidFill>
                  <a:srgbClr val="6E6E73"/>
                </a:solidFill>
                <a:latin typeface="Noto Sans CJK KR" pitchFamily="34" charset="0"/>
                <a:ea typeface="Noto Sans CJK KR" pitchFamily="34" charset="-122"/>
                <a:cs typeface="Noto Sans CJK KR" pitchFamily="34" charset="-120"/>
              </a:rPr>
              <a:t>미회수·시효  ·  미회수 상태와 시효를 별도 추적</a:t>
            </a:r>
            <a:endParaRPr lang="en-US" sz="1100" dirty="0"/>
          </a:p>
        </p:txBody>
      </p:sp>
      <p:sp>
        <p:nvSpPr>
          <p:cNvPr id="20" name="Shape 18"/>
          <p:cNvSpPr/>
          <p:nvPr/>
        </p:nvSpPr>
        <p:spPr>
          <a:xfrm>
            <a:off x="594360" y="6345936"/>
            <a:ext cx="11000232" cy="0"/>
          </a:xfrm>
          <a:prstGeom prst="line">
            <a:avLst/>
          </a:prstGeom>
          <a:noFill/>
          <a:ln w="7620">
            <a:solidFill>
              <a:srgbClr val="D2D2D7"/>
            </a:solidFill>
            <a:prstDash val="solid"/>
          </a:ln>
        </p:spPr>
      </p:sp>
      <p:sp>
        <p:nvSpPr>
          <p:cNvPr id="21" name="Text 19"/>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S032</a:t>
            </a:r>
            <a:endParaRPr lang="en-US" sz="900" dirty="0"/>
          </a:p>
        </p:txBody>
      </p:sp>
      <p:sp>
        <p:nvSpPr>
          <p:cNvPr id="22" name="Text 20"/>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3" name="Text 21"/>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S035</a:t>
            </a:r>
            <a:endParaRPr lang="en-US" sz="900" dirty="0"/>
          </a:p>
        </p:txBody>
      </p:sp>
      <p:sp>
        <p:nvSpPr>
          <p:cNvPr id="24" name="Text 22"/>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5" name="Text 23"/>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S036</a:t>
            </a:r>
            <a:endParaRPr lang="en-US" sz="900" dirty="0"/>
          </a:p>
        </p:txBody>
      </p:sp>
      <p:sp>
        <p:nvSpPr>
          <p:cNvPr id="26" name="Text 24"/>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S037</a:t>
            </a:r>
            <a:endParaRPr lang="en-US" sz="900" dirty="0"/>
          </a:p>
        </p:txBody>
      </p:sp>
      <p:sp>
        <p:nvSpPr>
          <p:cNvPr id="28" name="Text 26"/>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S038</a:t>
            </a:r>
            <a:endParaRPr lang="en-US" sz="900" dirty="0"/>
          </a:p>
        </p:txBody>
      </p:sp>
      <p:sp>
        <p:nvSpPr>
          <p:cNvPr id="30" name="Text 28"/>
          <p:cNvSpPr/>
          <p:nvPr/>
        </p:nvSpPr>
        <p:spPr>
          <a:xfrm>
            <a:off x="594360"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S043</a:t>
            </a:r>
            <a:endParaRPr lang="en-US" sz="900" dirty="0"/>
          </a:p>
        </p:txBody>
      </p:sp>
      <p:sp>
        <p:nvSpPr>
          <p:cNvPr id="31" name="Text 29"/>
          <p:cNvSpPr/>
          <p:nvPr/>
        </p:nvSpPr>
        <p:spPr>
          <a:xfrm>
            <a:off x="1152144"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2" name="Text 30"/>
          <p:cNvSpPr/>
          <p:nvPr/>
        </p:nvSpPr>
        <p:spPr>
          <a:xfrm>
            <a:off x="1344168"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S044</a:t>
            </a:r>
            <a:endParaRPr lang="en-US" sz="900" dirty="0"/>
          </a:p>
        </p:txBody>
      </p:sp>
      <p:sp>
        <p:nvSpPr>
          <p:cNvPr id="33" name="Text 31"/>
          <p:cNvSpPr/>
          <p:nvPr/>
        </p:nvSpPr>
        <p:spPr>
          <a:xfrm>
            <a:off x="1901952"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4" name="Text 32"/>
          <p:cNvSpPr/>
          <p:nvPr/>
        </p:nvSpPr>
        <p:spPr>
          <a:xfrm>
            <a:off x="2093976"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S101</a:t>
            </a:r>
            <a:endParaRPr lang="en-US" sz="900" dirty="0"/>
          </a:p>
        </p:txBody>
      </p:sp>
      <p:sp>
        <p:nvSpPr>
          <p:cNvPr id="35" name="Text 33"/>
          <p:cNvSpPr/>
          <p:nvPr/>
        </p:nvSpPr>
        <p:spPr>
          <a:xfrm>
            <a:off x="2651760"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6" name="Text 34"/>
          <p:cNvSpPr/>
          <p:nvPr/>
        </p:nvSpPr>
        <p:spPr>
          <a:xfrm>
            <a:off x="2843784"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S102</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2997FF"/>
                </a:solidFill>
                <a:latin typeface="Noto Sans CJK KR" pitchFamily="34" charset="0"/>
                <a:ea typeface="Noto Sans CJK KR" pitchFamily="34" charset="-122"/>
                <a:cs typeface="Noto Sans CJK KR" pitchFamily="34" charset="-120"/>
              </a:rPr>
              <a:t>법적·운영적 안전장치</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FFFFFF"/>
                </a:solidFill>
                <a:latin typeface="Noto Sans CJK KR" pitchFamily="34" charset="0"/>
                <a:ea typeface="Noto Sans CJK KR" pitchFamily="34" charset="-122"/>
                <a:cs typeface="Noto Sans CJK KR" pitchFamily="34" charset="-120"/>
              </a:rPr>
              <a:t>판단과 제출은 사용자가 맡습니다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D2D2D7"/>
                </a:solidFill>
                <a:latin typeface="Noto Sans CJK KR" pitchFamily="34" charset="0"/>
                <a:ea typeface="Noto Sans CJK KR" pitchFamily="34" charset="-122"/>
                <a:cs typeface="Noto Sans CJK KR" pitchFamily="34" charset="-120"/>
              </a:rPr>
              <a:t>보수적 설계 범위는 적법성이 확정된 허용 영역이 아니라 제품정책입니다.</a:t>
            </a:r>
            <a:endParaRPr lang="en-US" sz="1750" dirty="0"/>
          </a:p>
        </p:txBody>
      </p:sp>
      <p:sp>
        <p:nvSpPr>
          <p:cNvPr id="5" name="Shape 3"/>
          <p:cNvSpPr/>
          <p:nvPr/>
        </p:nvSpPr>
        <p:spPr>
          <a:xfrm>
            <a:off x="594360" y="2331720"/>
            <a:ext cx="3520440" cy="3127248"/>
          </a:xfrm>
          <a:prstGeom prst="roundRect">
            <a:avLst>
              <a:gd name="adj" fmla="val 3509"/>
            </a:avLst>
          </a:prstGeom>
          <a:solidFill>
            <a:srgbClr val="102438"/>
          </a:solidFill>
          <a:ln w="8890">
            <a:solidFill>
              <a:srgbClr val="333336"/>
            </a:solidFill>
            <a:prstDash val="solid"/>
          </a:ln>
        </p:spPr>
      </p:sp>
      <p:sp>
        <p:nvSpPr>
          <p:cNvPr id="6" name="Text 4"/>
          <p:cNvSpPr/>
          <p:nvPr/>
        </p:nvSpPr>
        <p:spPr>
          <a:xfrm>
            <a:off x="822960" y="2633472"/>
            <a:ext cx="3063240" cy="411480"/>
          </a:xfrm>
          <a:prstGeom prst="rect">
            <a:avLst/>
          </a:prstGeom>
          <a:noFill/>
          <a:ln/>
        </p:spPr>
        <p:txBody>
          <a:bodyPr wrap="square" lIns="0" tIns="0" rIns="0" bIns="0" rtlCol="0" anchor="ctr">
            <a:normAutofit/>
          </a:bodyPr>
          <a:lstStyle/>
          <a:p>
            <a:pPr indent="0" marL="0">
              <a:buNone/>
            </a:pPr>
            <a:r>
              <a:rPr lang="en-US" sz="1800" b="1" dirty="0">
                <a:solidFill>
                  <a:srgbClr val="2997FF"/>
                </a:solidFill>
                <a:latin typeface="Noto Sans CJK KR" pitchFamily="34" charset="0"/>
                <a:ea typeface="Noto Sans CJK KR" pitchFamily="34" charset="-122"/>
                <a:cs typeface="Noto Sans CJK KR" pitchFamily="34" charset="-120"/>
              </a:rPr>
              <a:t>지원</a:t>
            </a:r>
            <a:endParaRPr lang="en-US" sz="1800" dirty="0"/>
          </a:p>
        </p:txBody>
      </p:sp>
      <p:sp>
        <p:nvSpPr>
          <p:cNvPr id="7" name="Text 5"/>
          <p:cNvSpPr/>
          <p:nvPr/>
        </p:nvSpPr>
        <p:spPr>
          <a:xfrm>
            <a:off x="822960" y="3401568"/>
            <a:ext cx="3063240" cy="1143000"/>
          </a:xfrm>
          <a:prstGeom prst="rect">
            <a:avLst/>
          </a:prstGeom>
          <a:noFill/>
          <a:ln/>
        </p:spPr>
        <p:txBody>
          <a:bodyPr wrap="square" lIns="0" tIns="0" rIns="0" bIns="0" rtlCol="0" anchor="t">
            <a:normAutofit/>
          </a:bodyPr>
          <a:lstStyle/>
          <a:p>
            <a:pPr indent="0" marL="0">
              <a:buNone/>
            </a:pPr>
            <a:r>
              <a:rPr lang="en-US" sz="1350" b="1" dirty="0">
                <a:solidFill>
                  <a:srgbClr val="D2D2D7"/>
                </a:solidFill>
                <a:latin typeface="Noto Sans CJK KR" pitchFamily="34" charset="0"/>
                <a:ea typeface="Noto Sans CJK KR" pitchFamily="34" charset="-122"/>
                <a:cs typeface="Noto Sans CJK KR" pitchFamily="34" charset="-120"/>
              </a:rPr>
              <a:t>사실 구조화·원본 대조·공공 양식을 안내합니다</a:t>
            </a:r>
            <a:endParaRPr lang="en-US" sz="1350" dirty="0"/>
          </a:p>
        </p:txBody>
      </p:sp>
      <p:sp>
        <p:nvSpPr>
          <p:cNvPr id="8" name="Shape 6"/>
          <p:cNvSpPr/>
          <p:nvPr/>
        </p:nvSpPr>
        <p:spPr>
          <a:xfrm>
            <a:off x="4334256" y="2331720"/>
            <a:ext cx="3520440" cy="3127248"/>
          </a:xfrm>
          <a:prstGeom prst="roundRect">
            <a:avLst>
              <a:gd name="adj" fmla="val 3509"/>
            </a:avLst>
          </a:prstGeom>
          <a:solidFill>
            <a:srgbClr val="161616"/>
          </a:solidFill>
          <a:ln w="8890">
            <a:solidFill>
              <a:srgbClr val="333336"/>
            </a:solidFill>
            <a:prstDash val="solid"/>
          </a:ln>
        </p:spPr>
      </p:sp>
      <p:sp>
        <p:nvSpPr>
          <p:cNvPr id="9" name="Text 7"/>
          <p:cNvSpPr/>
          <p:nvPr/>
        </p:nvSpPr>
        <p:spPr>
          <a:xfrm>
            <a:off x="4562856" y="2633472"/>
            <a:ext cx="3063240"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Noto Sans CJK KR" pitchFamily="34" charset="0"/>
                <a:ea typeface="Noto Sans CJK KR" pitchFamily="34" charset="-122"/>
                <a:cs typeface="Noto Sans CJK KR" pitchFamily="34" charset="-120"/>
              </a:rPr>
              <a:t>사용자 확인</a:t>
            </a:r>
            <a:endParaRPr lang="en-US" sz="1800" dirty="0"/>
          </a:p>
        </p:txBody>
      </p:sp>
      <p:sp>
        <p:nvSpPr>
          <p:cNvPr id="10" name="Text 8"/>
          <p:cNvSpPr/>
          <p:nvPr/>
        </p:nvSpPr>
        <p:spPr>
          <a:xfrm>
            <a:off x="4562856" y="3401568"/>
            <a:ext cx="3063240" cy="1143000"/>
          </a:xfrm>
          <a:prstGeom prst="rect">
            <a:avLst/>
          </a:prstGeom>
          <a:noFill/>
          <a:ln/>
        </p:spPr>
        <p:txBody>
          <a:bodyPr wrap="square" lIns="0" tIns="0" rIns="0" bIns="0" rtlCol="0" anchor="t">
            <a:normAutofit/>
          </a:bodyPr>
          <a:lstStyle/>
          <a:p>
            <a:pPr indent="0" marL="0">
              <a:buNone/>
            </a:pPr>
            <a:r>
              <a:rPr lang="en-US" sz="1350" b="1" dirty="0">
                <a:solidFill>
                  <a:srgbClr val="D2D2D7"/>
                </a:solidFill>
                <a:latin typeface="Noto Sans CJK KR" pitchFamily="34" charset="0"/>
                <a:ea typeface="Noto Sans CJK KR" pitchFamily="34" charset="-122"/>
                <a:cs typeface="Noto Sans CJK KR" pitchFamily="34" charset="-120"/>
              </a:rPr>
              <a:t>핵심 필드와 최종 문서는 사용자가 승인합니다</a:t>
            </a:r>
            <a:endParaRPr lang="en-US" sz="1350" dirty="0"/>
          </a:p>
        </p:txBody>
      </p:sp>
      <p:sp>
        <p:nvSpPr>
          <p:cNvPr id="11" name="Shape 9"/>
          <p:cNvSpPr/>
          <p:nvPr/>
        </p:nvSpPr>
        <p:spPr>
          <a:xfrm>
            <a:off x="8074152" y="2331720"/>
            <a:ext cx="3520440" cy="3127248"/>
          </a:xfrm>
          <a:prstGeom prst="roundRect">
            <a:avLst>
              <a:gd name="adj" fmla="val 3509"/>
            </a:avLst>
          </a:prstGeom>
          <a:solidFill>
            <a:srgbClr val="281414"/>
          </a:solidFill>
          <a:ln w="8890">
            <a:solidFill>
              <a:srgbClr val="333336"/>
            </a:solidFill>
            <a:prstDash val="solid"/>
          </a:ln>
        </p:spPr>
      </p:sp>
      <p:sp>
        <p:nvSpPr>
          <p:cNvPr id="12" name="Text 10"/>
          <p:cNvSpPr/>
          <p:nvPr/>
        </p:nvSpPr>
        <p:spPr>
          <a:xfrm>
            <a:off x="8302752" y="2633472"/>
            <a:ext cx="3063240"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Noto Sans CJK KR" pitchFamily="34" charset="0"/>
                <a:ea typeface="Noto Sans CJK KR" pitchFamily="34" charset="-122"/>
                <a:cs typeface="Noto Sans CJK KR" pitchFamily="34" charset="-120"/>
              </a:rPr>
              <a:t>금지</a:t>
            </a:r>
            <a:endParaRPr lang="en-US" sz="1800" dirty="0"/>
          </a:p>
        </p:txBody>
      </p:sp>
      <p:sp>
        <p:nvSpPr>
          <p:cNvPr id="13" name="Text 11"/>
          <p:cNvSpPr/>
          <p:nvPr/>
        </p:nvSpPr>
        <p:spPr>
          <a:xfrm>
            <a:off x="8302752" y="3401568"/>
            <a:ext cx="3063240" cy="1143000"/>
          </a:xfrm>
          <a:prstGeom prst="rect">
            <a:avLst/>
          </a:prstGeom>
          <a:noFill/>
          <a:ln/>
        </p:spPr>
        <p:txBody>
          <a:bodyPr wrap="square" lIns="0" tIns="0" rIns="0" bIns="0" rtlCol="0" anchor="t">
            <a:normAutofit/>
          </a:bodyPr>
          <a:lstStyle/>
          <a:p>
            <a:pPr indent="0" marL="0">
              <a:buNone/>
            </a:pPr>
            <a:r>
              <a:rPr lang="en-US" sz="1350" b="1" dirty="0">
                <a:solidFill>
                  <a:srgbClr val="D2D2D7"/>
                </a:solidFill>
                <a:latin typeface="Noto Sans CJK KR" pitchFamily="34" charset="0"/>
                <a:ea typeface="Noto Sans CJK KR" pitchFamily="34" charset="-122"/>
                <a:cs typeface="Noto Sans CJK KR" pitchFamily="34" charset="-120"/>
              </a:rPr>
              <a:t>법률 판단·승소 예측·대리 제출은 금지합니다</a:t>
            </a:r>
            <a:endParaRPr lang="en-US" sz="1350" dirty="0"/>
          </a:p>
        </p:txBody>
      </p:sp>
      <p:sp>
        <p:nvSpPr>
          <p:cNvPr id="14" name="Shape 12"/>
          <p:cNvSpPr/>
          <p:nvPr/>
        </p:nvSpPr>
        <p:spPr>
          <a:xfrm>
            <a:off x="4480560" y="5696712"/>
            <a:ext cx="1463040" cy="329184"/>
          </a:xfrm>
          <a:prstGeom prst="roundRect">
            <a:avLst>
              <a:gd name="adj" fmla="val 33333"/>
            </a:avLst>
          </a:prstGeom>
          <a:solidFill>
            <a:srgbClr val="172B42"/>
          </a:solidFill>
          <a:ln w="8890">
            <a:solidFill>
              <a:srgbClr val="172B42"/>
            </a:solidFill>
            <a:prstDash val="solid"/>
          </a:ln>
        </p:spPr>
      </p:sp>
      <p:sp>
        <p:nvSpPr>
          <p:cNvPr id="15" name="Text 13"/>
          <p:cNvSpPr/>
          <p:nvPr/>
        </p:nvSpPr>
        <p:spPr>
          <a:xfrm>
            <a:off x="4581144" y="5696712"/>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수집 최소화</a:t>
            </a:r>
            <a:endParaRPr lang="en-US" sz="1000" dirty="0"/>
          </a:p>
        </p:txBody>
      </p:sp>
      <p:sp>
        <p:nvSpPr>
          <p:cNvPr id="16" name="Shape 14"/>
          <p:cNvSpPr/>
          <p:nvPr/>
        </p:nvSpPr>
        <p:spPr>
          <a:xfrm>
            <a:off x="6199632" y="5696712"/>
            <a:ext cx="1463040" cy="329184"/>
          </a:xfrm>
          <a:prstGeom prst="roundRect">
            <a:avLst>
              <a:gd name="adj" fmla="val 33333"/>
            </a:avLst>
          </a:prstGeom>
          <a:solidFill>
            <a:srgbClr val="172B42"/>
          </a:solidFill>
          <a:ln w="8890">
            <a:solidFill>
              <a:srgbClr val="172B42"/>
            </a:solidFill>
            <a:prstDash val="solid"/>
          </a:ln>
        </p:spPr>
      </p:sp>
      <p:sp>
        <p:nvSpPr>
          <p:cNvPr id="17" name="Text 15"/>
          <p:cNvSpPr/>
          <p:nvPr/>
        </p:nvSpPr>
        <p:spPr>
          <a:xfrm>
            <a:off x="6300216" y="5696712"/>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2997FF"/>
                </a:solidFill>
                <a:latin typeface="Noto Sans CJK KR" pitchFamily="34" charset="0"/>
                <a:ea typeface="Noto Sans CJK KR" pitchFamily="34" charset="-122"/>
                <a:cs typeface="Noto Sans CJK KR" pitchFamily="34" charset="-120"/>
              </a:rPr>
              <a:t>학습 금지</a:t>
            </a:r>
            <a:endParaRPr lang="en-US" sz="1000" dirty="0"/>
          </a:p>
        </p:txBody>
      </p:sp>
      <p:sp>
        <p:nvSpPr>
          <p:cNvPr id="18" name="Shape 16"/>
          <p:cNvSpPr/>
          <p:nvPr/>
        </p:nvSpPr>
        <p:spPr>
          <a:xfrm>
            <a:off x="594360" y="6345936"/>
            <a:ext cx="11000232" cy="0"/>
          </a:xfrm>
          <a:prstGeom prst="line">
            <a:avLst/>
          </a:prstGeom>
          <a:noFill/>
          <a:ln w="7620">
            <a:solidFill>
              <a:srgbClr val="333336"/>
            </a:solidFill>
            <a:prstDash val="solid"/>
          </a:ln>
        </p:spPr>
      </p:sp>
      <p:sp>
        <p:nvSpPr>
          <p:cNvPr id="19" name="Text 17"/>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S089</a:t>
            </a:r>
            <a:endParaRPr lang="en-US" sz="900" dirty="0"/>
          </a:p>
        </p:txBody>
      </p:sp>
      <p:sp>
        <p:nvSpPr>
          <p:cNvPr id="20" name="Text 18"/>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1" name="Text 19"/>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S090</a:t>
            </a:r>
            <a:endParaRPr lang="en-US" sz="900" dirty="0"/>
          </a:p>
        </p:txBody>
      </p:sp>
      <p:sp>
        <p:nvSpPr>
          <p:cNvPr id="22" name="Text 20"/>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3" name="Text 21"/>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S091</a:t>
            </a:r>
            <a:endParaRPr lang="en-US" sz="900" dirty="0"/>
          </a:p>
        </p:txBody>
      </p:sp>
      <p:sp>
        <p:nvSpPr>
          <p:cNvPr id="24" name="Text 22"/>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5" name="Text 23"/>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S092</a:t>
            </a:r>
            <a:endParaRPr lang="en-US" sz="900" dirty="0"/>
          </a:p>
        </p:txBody>
      </p:sp>
      <p:sp>
        <p:nvSpPr>
          <p:cNvPr id="26" name="Text 24"/>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S093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0071E3"/>
                </a:solidFill>
                <a:latin typeface="Noto Sans CJK KR" pitchFamily="34" charset="0"/>
                <a:ea typeface="Noto Sans CJK KR" pitchFamily="34" charset="-122"/>
                <a:cs typeface="Noto Sans CJK KR" pitchFamily="34" charset="-120"/>
              </a:rPr>
              <a:t>단계별 구현 계획</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1D1D1F"/>
                </a:solidFill>
                <a:latin typeface="Noto Sans CJK KR" pitchFamily="34" charset="0"/>
                <a:ea typeface="Noto Sans CJK KR" pitchFamily="34" charset="-122"/>
                <a:cs typeface="Noto Sans CJK KR" pitchFamily="34" charset="-120"/>
              </a:rPr>
              <a:t>경계가 명시된 기능부터 단계적으로 검증합니다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6E6E73"/>
                </a:solidFill>
                <a:latin typeface="Noto Sans CJK KR" pitchFamily="34" charset="0"/>
                <a:ea typeface="Noto Sans CJK KR" pitchFamily="34" charset="-122"/>
                <a:cs typeface="Noto Sans CJK KR" pitchFamily="34" charset="-120"/>
              </a:rPr>
              <a:t>Go/No-Go는 달성한 성과가 아니라 출시 전에 확인할 안전 조건입니다.</a:t>
            </a:r>
            <a:endParaRPr lang="en-US" sz="1750" dirty="0"/>
          </a:p>
        </p:txBody>
      </p:sp>
      <p:sp>
        <p:nvSpPr>
          <p:cNvPr id="5" name="Shape 3"/>
          <p:cNvSpPr/>
          <p:nvPr/>
        </p:nvSpPr>
        <p:spPr>
          <a:xfrm>
            <a:off x="914400" y="3383280"/>
            <a:ext cx="10149840" cy="0"/>
          </a:xfrm>
          <a:prstGeom prst="line">
            <a:avLst/>
          </a:prstGeom>
          <a:noFill/>
          <a:ln w="31750">
            <a:solidFill>
              <a:srgbClr val="0071E3"/>
            </a:solidFill>
            <a:prstDash val="solid"/>
          </a:ln>
        </p:spPr>
      </p:sp>
      <p:sp>
        <p:nvSpPr>
          <p:cNvPr id="6" name="Shape 4"/>
          <p:cNvSpPr/>
          <p:nvPr/>
        </p:nvSpPr>
        <p:spPr>
          <a:xfrm>
            <a:off x="1280160" y="3182112"/>
            <a:ext cx="402336" cy="402336"/>
          </a:xfrm>
          <a:prstGeom prst="ellipse">
            <a:avLst/>
          </a:prstGeom>
          <a:solidFill>
            <a:srgbClr val="0071E3"/>
          </a:solidFill>
          <a:ln w="12700">
            <a:solidFill>
              <a:srgbClr val="0071E3"/>
            </a:solidFill>
            <a:prstDash val="solid"/>
          </a:ln>
        </p:spPr>
      </p:sp>
      <p:sp>
        <p:nvSpPr>
          <p:cNvPr id="7" name="Text 5"/>
          <p:cNvSpPr/>
          <p:nvPr/>
        </p:nvSpPr>
        <p:spPr>
          <a:xfrm>
            <a:off x="1280160" y="3182112"/>
            <a:ext cx="402336" cy="40233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0</a:t>
            </a:r>
            <a:endParaRPr lang="en-US" sz="1000" dirty="0"/>
          </a:p>
        </p:txBody>
      </p:sp>
      <p:sp>
        <p:nvSpPr>
          <p:cNvPr id="8" name="Text 6"/>
          <p:cNvSpPr/>
          <p:nvPr/>
        </p:nvSpPr>
        <p:spPr>
          <a:xfrm>
            <a:off x="713232" y="3794760"/>
            <a:ext cx="1554480" cy="41148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Phase 0 경계</a:t>
            </a:r>
            <a:endParaRPr lang="en-US" sz="1100" dirty="0"/>
          </a:p>
        </p:txBody>
      </p:sp>
      <p:sp>
        <p:nvSpPr>
          <p:cNvPr id="9" name="Shape 7"/>
          <p:cNvSpPr/>
          <p:nvPr/>
        </p:nvSpPr>
        <p:spPr>
          <a:xfrm>
            <a:off x="758952" y="4407408"/>
            <a:ext cx="1463040" cy="329184"/>
          </a:xfrm>
          <a:prstGeom prst="roundRect">
            <a:avLst>
              <a:gd name="adj" fmla="val 33333"/>
            </a:avLst>
          </a:prstGeom>
          <a:solidFill>
            <a:srgbClr val="EAF3FC"/>
          </a:solidFill>
          <a:ln w="8890">
            <a:solidFill>
              <a:srgbClr val="EAF3FC"/>
            </a:solidFill>
            <a:prstDash val="solid"/>
          </a:ln>
        </p:spPr>
      </p:sp>
      <p:sp>
        <p:nvSpPr>
          <p:cNvPr id="10" name="Text 8"/>
          <p:cNvSpPr/>
          <p:nvPr/>
        </p:nvSpPr>
        <p:spPr>
          <a:xfrm>
            <a:off x="859536" y="4407408"/>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경계표</a:t>
            </a:r>
            <a:endParaRPr lang="en-US" sz="1000" dirty="0"/>
          </a:p>
        </p:txBody>
      </p:sp>
      <p:sp>
        <p:nvSpPr>
          <p:cNvPr id="11" name="Shape 9"/>
          <p:cNvSpPr/>
          <p:nvPr/>
        </p:nvSpPr>
        <p:spPr>
          <a:xfrm>
            <a:off x="3566160" y="3182112"/>
            <a:ext cx="402336" cy="402336"/>
          </a:xfrm>
          <a:prstGeom prst="ellipse">
            <a:avLst/>
          </a:prstGeom>
          <a:solidFill>
            <a:srgbClr val="0071E3"/>
          </a:solidFill>
          <a:ln w="12700">
            <a:solidFill>
              <a:srgbClr val="0071E3"/>
            </a:solidFill>
            <a:prstDash val="solid"/>
          </a:ln>
        </p:spPr>
      </p:sp>
      <p:sp>
        <p:nvSpPr>
          <p:cNvPr id="12" name="Text 10"/>
          <p:cNvSpPr/>
          <p:nvPr/>
        </p:nvSpPr>
        <p:spPr>
          <a:xfrm>
            <a:off x="3566160" y="3182112"/>
            <a:ext cx="402336" cy="40233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1</a:t>
            </a:r>
            <a:endParaRPr lang="en-US" sz="1000" dirty="0"/>
          </a:p>
        </p:txBody>
      </p:sp>
      <p:sp>
        <p:nvSpPr>
          <p:cNvPr id="13" name="Text 11"/>
          <p:cNvSpPr/>
          <p:nvPr/>
        </p:nvSpPr>
        <p:spPr>
          <a:xfrm>
            <a:off x="2999232" y="3794760"/>
            <a:ext cx="1554480" cy="41148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Phase 1 증거</a:t>
            </a:r>
            <a:endParaRPr lang="en-US" sz="1100" dirty="0"/>
          </a:p>
        </p:txBody>
      </p:sp>
      <p:sp>
        <p:nvSpPr>
          <p:cNvPr id="14" name="Shape 12"/>
          <p:cNvSpPr/>
          <p:nvPr/>
        </p:nvSpPr>
        <p:spPr>
          <a:xfrm>
            <a:off x="3044952" y="4407408"/>
            <a:ext cx="1463040" cy="329184"/>
          </a:xfrm>
          <a:prstGeom prst="roundRect">
            <a:avLst>
              <a:gd name="adj" fmla="val 33333"/>
            </a:avLst>
          </a:prstGeom>
          <a:solidFill>
            <a:srgbClr val="EAF3FC"/>
          </a:solidFill>
          <a:ln w="8890">
            <a:solidFill>
              <a:srgbClr val="EAF3FC"/>
            </a:solidFill>
            <a:prstDash val="solid"/>
          </a:ln>
        </p:spPr>
      </p:sp>
      <p:sp>
        <p:nvSpPr>
          <p:cNvPr id="15" name="Text 13"/>
          <p:cNvSpPr/>
          <p:nvPr/>
        </p:nvSpPr>
        <p:spPr>
          <a:xfrm>
            <a:off x="3145536" y="4407408"/>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증거 MVP</a:t>
            </a:r>
            <a:endParaRPr lang="en-US" sz="1000" dirty="0"/>
          </a:p>
        </p:txBody>
      </p:sp>
      <p:sp>
        <p:nvSpPr>
          <p:cNvPr id="16" name="Shape 14"/>
          <p:cNvSpPr/>
          <p:nvPr/>
        </p:nvSpPr>
        <p:spPr>
          <a:xfrm>
            <a:off x="5852160" y="3182112"/>
            <a:ext cx="402336" cy="402336"/>
          </a:xfrm>
          <a:prstGeom prst="ellipse">
            <a:avLst/>
          </a:prstGeom>
          <a:solidFill>
            <a:srgbClr val="0071E3"/>
          </a:solidFill>
          <a:ln w="12700">
            <a:solidFill>
              <a:srgbClr val="0071E3"/>
            </a:solidFill>
            <a:prstDash val="solid"/>
          </a:ln>
        </p:spPr>
      </p:sp>
      <p:sp>
        <p:nvSpPr>
          <p:cNvPr id="17" name="Text 15"/>
          <p:cNvSpPr/>
          <p:nvPr/>
        </p:nvSpPr>
        <p:spPr>
          <a:xfrm>
            <a:off x="5852160" y="3182112"/>
            <a:ext cx="402336" cy="40233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2</a:t>
            </a:r>
            <a:endParaRPr lang="en-US" sz="1000" dirty="0"/>
          </a:p>
        </p:txBody>
      </p:sp>
      <p:sp>
        <p:nvSpPr>
          <p:cNvPr id="18" name="Text 16"/>
          <p:cNvSpPr/>
          <p:nvPr/>
        </p:nvSpPr>
        <p:spPr>
          <a:xfrm>
            <a:off x="5285232" y="3794760"/>
            <a:ext cx="1554480" cy="41148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Phase 2 추적</a:t>
            </a:r>
            <a:endParaRPr lang="en-US" sz="1100" dirty="0"/>
          </a:p>
        </p:txBody>
      </p:sp>
      <p:sp>
        <p:nvSpPr>
          <p:cNvPr id="19" name="Shape 17"/>
          <p:cNvSpPr/>
          <p:nvPr/>
        </p:nvSpPr>
        <p:spPr>
          <a:xfrm>
            <a:off x="5330952" y="4407408"/>
            <a:ext cx="1463040" cy="329184"/>
          </a:xfrm>
          <a:prstGeom prst="roundRect">
            <a:avLst>
              <a:gd name="adj" fmla="val 33333"/>
            </a:avLst>
          </a:prstGeom>
          <a:solidFill>
            <a:srgbClr val="EAF3FC"/>
          </a:solidFill>
          <a:ln w="8890">
            <a:solidFill>
              <a:srgbClr val="EAF3FC"/>
            </a:solidFill>
            <a:prstDash val="solid"/>
          </a:ln>
        </p:spPr>
      </p:sp>
      <p:sp>
        <p:nvSpPr>
          <p:cNvPr id="20" name="Text 18"/>
          <p:cNvSpPr/>
          <p:nvPr/>
        </p:nvSpPr>
        <p:spPr>
          <a:xfrm>
            <a:off x="5431536" y="4407408"/>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상태 추적</a:t>
            </a:r>
            <a:endParaRPr lang="en-US" sz="1000" dirty="0"/>
          </a:p>
        </p:txBody>
      </p:sp>
      <p:sp>
        <p:nvSpPr>
          <p:cNvPr id="21" name="Shape 19"/>
          <p:cNvSpPr/>
          <p:nvPr/>
        </p:nvSpPr>
        <p:spPr>
          <a:xfrm>
            <a:off x="8138160" y="3182112"/>
            <a:ext cx="402336" cy="402336"/>
          </a:xfrm>
          <a:prstGeom prst="ellipse">
            <a:avLst/>
          </a:prstGeom>
          <a:solidFill>
            <a:srgbClr val="0071E3"/>
          </a:solidFill>
          <a:ln w="12700">
            <a:solidFill>
              <a:srgbClr val="0071E3"/>
            </a:solidFill>
            <a:prstDash val="solid"/>
          </a:ln>
        </p:spPr>
      </p:sp>
      <p:sp>
        <p:nvSpPr>
          <p:cNvPr id="22" name="Text 20"/>
          <p:cNvSpPr/>
          <p:nvPr/>
        </p:nvSpPr>
        <p:spPr>
          <a:xfrm>
            <a:off x="8138160" y="3182112"/>
            <a:ext cx="402336" cy="40233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3</a:t>
            </a:r>
            <a:endParaRPr lang="en-US" sz="1000" dirty="0"/>
          </a:p>
        </p:txBody>
      </p:sp>
      <p:sp>
        <p:nvSpPr>
          <p:cNvPr id="23" name="Text 21"/>
          <p:cNvSpPr/>
          <p:nvPr/>
        </p:nvSpPr>
        <p:spPr>
          <a:xfrm>
            <a:off x="7571232" y="3794760"/>
            <a:ext cx="1554480" cy="41148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Phase 3 집행</a:t>
            </a:r>
            <a:endParaRPr lang="en-US" sz="1100" dirty="0"/>
          </a:p>
        </p:txBody>
      </p:sp>
      <p:sp>
        <p:nvSpPr>
          <p:cNvPr id="24" name="Shape 22"/>
          <p:cNvSpPr/>
          <p:nvPr/>
        </p:nvSpPr>
        <p:spPr>
          <a:xfrm>
            <a:off x="7616952" y="4407408"/>
            <a:ext cx="1463040" cy="329184"/>
          </a:xfrm>
          <a:prstGeom prst="roundRect">
            <a:avLst>
              <a:gd name="adj" fmla="val 33333"/>
            </a:avLst>
          </a:prstGeom>
          <a:solidFill>
            <a:srgbClr val="EAF3FC"/>
          </a:solidFill>
          <a:ln w="8890">
            <a:solidFill>
              <a:srgbClr val="EAF3FC"/>
            </a:solidFill>
            <a:prstDash val="solid"/>
          </a:ln>
        </p:spPr>
      </p:sp>
      <p:sp>
        <p:nvSpPr>
          <p:cNvPr id="25" name="Text 23"/>
          <p:cNvSpPr/>
          <p:nvPr/>
        </p:nvSpPr>
        <p:spPr>
          <a:xfrm>
            <a:off x="7717536" y="4407408"/>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집행 보드</a:t>
            </a:r>
            <a:endParaRPr lang="en-US" sz="1000" dirty="0"/>
          </a:p>
        </p:txBody>
      </p:sp>
      <p:sp>
        <p:nvSpPr>
          <p:cNvPr id="26" name="Shape 24"/>
          <p:cNvSpPr/>
          <p:nvPr/>
        </p:nvSpPr>
        <p:spPr>
          <a:xfrm>
            <a:off x="10424160" y="3182112"/>
            <a:ext cx="402336" cy="402336"/>
          </a:xfrm>
          <a:prstGeom prst="ellipse">
            <a:avLst/>
          </a:prstGeom>
          <a:solidFill>
            <a:srgbClr val="0071E3"/>
          </a:solidFill>
          <a:ln w="12700">
            <a:solidFill>
              <a:srgbClr val="0071E3"/>
            </a:solidFill>
            <a:prstDash val="solid"/>
          </a:ln>
        </p:spPr>
      </p:sp>
      <p:sp>
        <p:nvSpPr>
          <p:cNvPr id="27" name="Text 25"/>
          <p:cNvSpPr/>
          <p:nvPr/>
        </p:nvSpPr>
        <p:spPr>
          <a:xfrm>
            <a:off x="10424160" y="3182112"/>
            <a:ext cx="402336" cy="40233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Noto Sans CJK KR" pitchFamily="34" charset="0"/>
                <a:ea typeface="Noto Sans CJK KR" pitchFamily="34" charset="-122"/>
                <a:cs typeface="Noto Sans CJK KR" pitchFamily="34" charset="-120"/>
              </a:rPr>
              <a:t>4</a:t>
            </a:r>
            <a:endParaRPr lang="en-US" sz="1000" dirty="0"/>
          </a:p>
        </p:txBody>
      </p:sp>
      <p:sp>
        <p:nvSpPr>
          <p:cNvPr id="28" name="Text 26"/>
          <p:cNvSpPr/>
          <p:nvPr/>
        </p:nvSpPr>
        <p:spPr>
          <a:xfrm>
            <a:off x="9857232" y="3794760"/>
            <a:ext cx="1554480" cy="411480"/>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Phase 4 검증</a:t>
            </a:r>
            <a:endParaRPr lang="en-US" sz="1100" dirty="0"/>
          </a:p>
        </p:txBody>
      </p:sp>
      <p:sp>
        <p:nvSpPr>
          <p:cNvPr id="29" name="Shape 27"/>
          <p:cNvSpPr/>
          <p:nvPr/>
        </p:nvSpPr>
        <p:spPr>
          <a:xfrm>
            <a:off x="9902952" y="4407408"/>
            <a:ext cx="1463040" cy="329184"/>
          </a:xfrm>
          <a:prstGeom prst="roundRect">
            <a:avLst>
              <a:gd name="adj" fmla="val 33333"/>
            </a:avLst>
          </a:prstGeom>
          <a:solidFill>
            <a:srgbClr val="EAF3FC"/>
          </a:solidFill>
          <a:ln w="8890">
            <a:solidFill>
              <a:srgbClr val="EAF3FC"/>
            </a:solidFill>
            <a:prstDash val="solid"/>
          </a:ln>
        </p:spPr>
      </p:sp>
      <p:sp>
        <p:nvSpPr>
          <p:cNvPr id="30" name="Text 28"/>
          <p:cNvSpPr/>
          <p:nvPr/>
        </p:nvSpPr>
        <p:spPr>
          <a:xfrm>
            <a:off x="10003536" y="4407408"/>
            <a:ext cx="1261872" cy="329184"/>
          </a:xfrm>
          <a:prstGeom prst="rect">
            <a:avLst/>
          </a:prstGeom>
          <a:noFill/>
          <a:ln/>
        </p:spPr>
        <p:txBody>
          <a:bodyPr wrap="square" lIns="0" tIns="0" rIns="0" bIns="0" rtlCol="0" anchor="ctr">
            <a:normAutofit/>
          </a:bodyPr>
          <a:lstStyle/>
          <a:p>
            <a:pPr algn="ctr" indent="0" marL="0">
              <a:buNone/>
            </a:pPr>
            <a:r>
              <a:rPr lang="en-US" sz="1000" b="1" dirty="0">
                <a:solidFill>
                  <a:srgbClr val="0071E3"/>
                </a:solidFill>
                <a:latin typeface="Noto Sans CJK KR" pitchFamily="34" charset="0"/>
                <a:ea typeface="Noto Sans CJK KR" pitchFamily="34" charset="-122"/>
                <a:cs typeface="Noto Sans CJK KR" pitchFamily="34" charset="-120"/>
              </a:rPr>
              <a:t>사용성 검증</a:t>
            </a:r>
            <a:endParaRPr lang="en-US" sz="1000" dirty="0"/>
          </a:p>
        </p:txBody>
      </p:sp>
      <p:sp>
        <p:nvSpPr>
          <p:cNvPr id="31" name="Shape 29"/>
          <p:cNvSpPr/>
          <p:nvPr/>
        </p:nvSpPr>
        <p:spPr>
          <a:xfrm>
            <a:off x="914400" y="5166360"/>
            <a:ext cx="10149840" cy="530352"/>
          </a:xfrm>
          <a:prstGeom prst="roundRect">
            <a:avLst>
              <a:gd name="adj" fmla="val 20690"/>
            </a:avLst>
          </a:prstGeom>
          <a:solidFill>
            <a:srgbClr val="FFFFFF"/>
          </a:solidFill>
          <a:ln w="8890">
            <a:solidFill>
              <a:srgbClr val="D2D2D7"/>
            </a:solidFill>
            <a:prstDash val="solid"/>
          </a:ln>
        </p:spPr>
      </p:sp>
      <p:sp>
        <p:nvSpPr>
          <p:cNvPr id="32" name="Text 30"/>
          <p:cNvSpPr/>
          <p:nvPr/>
        </p:nvSpPr>
        <p:spPr>
          <a:xfrm>
            <a:off x="1143000" y="5166360"/>
            <a:ext cx="9692640" cy="530352"/>
          </a:xfrm>
          <a:prstGeom prst="rect">
            <a:avLst/>
          </a:prstGeom>
          <a:noFill/>
          <a:ln/>
        </p:spPr>
        <p:txBody>
          <a:bodyPr wrap="square" lIns="0" tIns="0" rIns="0" bIns="0" rtlCol="0" anchor="ctr">
            <a:normAutofit/>
          </a:bodyPr>
          <a:lstStyle/>
          <a:p>
            <a:pPr algn="ctr" indent="0" marL="0">
              <a:buNone/>
            </a:pPr>
            <a:r>
              <a:rPr lang="en-US" sz="1100" b="1" dirty="0">
                <a:solidFill>
                  <a:srgbClr val="1D1D1F"/>
                </a:solidFill>
                <a:latin typeface="Noto Sans CJK KR" pitchFamily="34" charset="0"/>
                <a:ea typeface="Noto Sans CJK KR" pitchFamily="34" charset="-122"/>
                <a:cs typeface="Noto Sans CJK KR" pitchFamily="34" charset="-120"/>
              </a:rPr>
              <a:t>GO / NO-GO  ·  미승인 필드 차단 · 단정 출력 0건 · 자동 제출 오인 0건</a:t>
            </a:r>
            <a:endParaRPr lang="en-US" sz="1100" dirty="0"/>
          </a:p>
        </p:txBody>
      </p:sp>
      <p:sp>
        <p:nvSpPr>
          <p:cNvPr id="33" name="Shape 31"/>
          <p:cNvSpPr/>
          <p:nvPr/>
        </p:nvSpPr>
        <p:spPr>
          <a:xfrm>
            <a:off x="594360" y="6345936"/>
            <a:ext cx="11000232" cy="0"/>
          </a:xfrm>
          <a:prstGeom prst="line">
            <a:avLst/>
          </a:prstGeom>
          <a:noFill/>
          <a:ln w="7620">
            <a:solidFill>
              <a:srgbClr val="D2D2D7"/>
            </a:solidFill>
            <a:prstDash val="solid"/>
          </a:ln>
        </p:spPr>
      </p:sp>
      <p:sp>
        <p:nvSpPr>
          <p:cNvPr id="34" name="Text 32"/>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S013</a:t>
            </a:r>
            <a:endParaRPr lang="en-US" sz="900" dirty="0"/>
          </a:p>
        </p:txBody>
      </p:sp>
      <p:sp>
        <p:nvSpPr>
          <p:cNvPr id="35" name="Text 33"/>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6" name="Text 34"/>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S018</a:t>
            </a:r>
            <a:endParaRPr lang="en-US" sz="900" dirty="0"/>
          </a:p>
        </p:txBody>
      </p:sp>
      <p:sp>
        <p:nvSpPr>
          <p:cNvPr id="37" name="Text 35"/>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38" name="Text 36"/>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S030</a:t>
            </a:r>
            <a:endParaRPr lang="en-US" sz="900" dirty="0"/>
          </a:p>
        </p:txBody>
      </p:sp>
      <p:sp>
        <p:nvSpPr>
          <p:cNvPr id="39" name="Text 37"/>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0" name="Text 38"/>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S032</a:t>
            </a:r>
            <a:endParaRPr lang="en-US" sz="900" dirty="0"/>
          </a:p>
        </p:txBody>
      </p:sp>
      <p:sp>
        <p:nvSpPr>
          <p:cNvPr id="41" name="Text 39"/>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2" name="Text 40"/>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S035</a:t>
            </a:r>
            <a:endParaRPr lang="en-US" sz="900" dirty="0"/>
          </a:p>
        </p:txBody>
      </p:sp>
      <p:sp>
        <p:nvSpPr>
          <p:cNvPr id="43" name="Text 41"/>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4" name="Text 42"/>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S063</a:t>
            </a:r>
            <a:endParaRPr lang="en-US" sz="900" dirty="0"/>
          </a:p>
        </p:txBody>
      </p:sp>
      <p:sp>
        <p:nvSpPr>
          <p:cNvPr id="45" name="Text 43"/>
          <p:cNvSpPr/>
          <p:nvPr/>
        </p:nvSpPr>
        <p:spPr>
          <a:xfrm>
            <a:off x="594360"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S064</a:t>
            </a:r>
            <a:endParaRPr lang="en-US" sz="900" dirty="0"/>
          </a:p>
        </p:txBody>
      </p:sp>
      <p:sp>
        <p:nvSpPr>
          <p:cNvPr id="46" name="Text 44"/>
          <p:cNvSpPr/>
          <p:nvPr/>
        </p:nvSpPr>
        <p:spPr>
          <a:xfrm>
            <a:off x="1152144"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7" name="Text 45"/>
          <p:cNvSpPr/>
          <p:nvPr/>
        </p:nvSpPr>
        <p:spPr>
          <a:xfrm>
            <a:off x="1344168"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S065</a:t>
            </a:r>
            <a:endParaRPr lang="en-US" sz="900" dirty="0"/>
          </a:p>
        </p:txBody>
      </p:sp>
      <p:sp>
        <p:nvSpPr>
          <p:cNvPr id="48" name="Text 46"/>
          <p:cNvSpPr/>
          <p:nvPr/>
        </p:nvSpPr>
        <p:spPr>
          <a:xfrm>
            <a:off x="1901952"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49" name="Text 47"/>
          <p:cNvSpPr/>
          <p:nvPr/>
        </p:nvSpPr>
        <p:spPr>
          <a:xfrm>
            <a:off x="2093976"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S078</a:t>
            </a:r>
            <a:endParaRPr lang="en-US" sz="900" dirty="0"/>
          </a:p>
        </p:txBody>
      </p:sp>
      <p:sp>
        <p:nvSpPr>
          <p:cNvPr id="50" name="Text 48"/>
          <p:cNvSpPr/>
          <p:nvPr/>
        </p:nvSpPr>
        <p:spPr>
          <a:xfrm>
            <a:off x="2651760"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51" name="Text 49"/>
          <p:cNvSpPr/>
          <p:nvPr/>
        </p:nvSpPr>
        <p:spPr>
          <a:xfrm>
            <a:off x="2843784"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S089</a:t>
            </a:r>
            <a:endParaRPr lang="en-US" sz="900" dirty="0"/>
          </a:p>
        </p:txBody>
      </p:sp>
      <p:sp>
        <p:nvSpPr>
          <p:cNvPr id="52" name="Text 50"/>
          <p:cNvSpPr/>
          <p:nvPr/>
        </p:nvSpPr>
        <p:spPr>
          <a:xfrm>
            <a:off x="3401568" y="6565392"/>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6E6E73"/>
                </a:solidFill>
                <a:latin typeface="Noto Sans CJK KR" pitchFamily="34" charset="0"/>
                <a:ea typeface="Noto Sans CJK KR" pitchFamily="34" charset="-122"/>
                <a:cs typeface="Noto Sans CJK KR" pitchFamily="34" charset="-120"/>
              </a:rPr>
              <a:t>|</a:t>
            </a:r>
            <a:endParaRPr lang="en-US" sz="900" dirty="0"/>
          </a:p>
        </p:txBody>
      </p:sp>
      <p:sp>
        <p:nvSpPr>
          <p:cNvPr id="53" name="Text 51"/>
          <p:cNvSpPr/>
          <p:nvPr/>
        </p:nvSpPr>
        <p:spPr>
          <a:xfrm>
            <a:off x="3593592" y="6565392"/>
            <a:ext cx="512064" cy="146304"/>
          </a:xfrm>
          <a:prstGeom prst="rect">
            <a:avLst/>
          </a:prstGeom>
          <a:noFill/>
          <a:ln/>
        </p:spPr>
        <p:txBody>
          <a:bodyPr wrap="square" lIns="0" tIns="0" rIns="0" bIns="0" rtlCol="0" anchor="ctr">
            <a:normAutofit/>
          </a:bodyPr>
          <a:lstStyle/>
          <a:p>
            <a:pPr indent="0" marL="0">
              <a:buNone/>
            </a:pPr>
            <a:r>
              <a:rPr lang="en-US" sz="900" dirty="0">
                <a:solidFill>
                  <a:srgbClr val="6E6E73"/>
                </a:solidFill>
                <a:latin typeface="Noto Sans CJK KR" pitchFamily="34" charset="0"/>
                <a:ea typeface="Noto Sans CJK KR" pitchFamily="34" charset="-122"/>
                <a:cs typeface="Noto Sans CJK KR" pitchFamily="34" charset="-120"/>
              </a:rPr>
              <a:t>S093</a:t>
            </a:r>
            <a:endParaRPr lang="en-US" sz="900" dirty="0"/>
          </a:p>
        </p:txBody>
      </p:sp>
      <p:sp>
        <p:nvSpPr>
          <p:cNvPr id="25" name="Slide Number Placeholder 0"/>
          <p:cNvSpPr>
            <a:spLocks noGrp="1"/>
          </p:cNvSpPr>
          <p:nvPr>
            <p:ph type="sldNum" sz="quarter" idx="4294967295"/>
          </p:nvPr>
        </p:nvSpPr>
        <p:spPr>
          <a:xfrm>
            <a:off x="11201400" y="6492240"/>
            <a:ext cx="365760" cy="13716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E6E73"/>
                </a:solidFill>
                <a:latin typeface="Source Code Pro"/>
                <a:ea typeface="Source Code Pro"/>
                <a:cs typeface="Source Code Pr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94360" y="438912"/>
            <a:ext cx="9326880" cy="228600"/>
          </a:xfrm>
          <a:prstGeom prst="rect">
            <a:avLst/>
          </a:prstGeom>
          <a:noFill/>
          <a:ln/>
        </p:spPr>
        <p:txBody>
          <a:bodyPr wrap="square" lIns="0" tIns="0" rIns="0" bIns="0" rtlCol="0" anchor="ctr">
            <a:normAutofit/>
          </a:bodyPr>
          <a:lstStyle/>
          <a:p>
            <a:pPr indent="0" marL="0">
              <a:buNone/>
            </a:pPr>
            <a:r>
              <a:rPr lang="en-US" sz="1000" b="1" dirty="0">
                <a:solidFill>
                  <a:srgbClr val="2997FF"/>
                </a:solidFill>
                <a:latin typeface="Noto Sans CJK KR" pitchFamily="34" charset="0"/>
                <a:ea typeface="Noto Sans CJK KR" pitchFamily="34" charset="-122"/>
                <a:cs typeface="Noto Sans CJK KR" pitchFamily="34" charset="-120"/>
              </a:rPr>
              <a:t>결론 · 아직 검증되지 않은 제품 가설</a:t>
            </a:r>
            <a:endParaRPr lang="en-US" sz="1000" dirty="0"/>
          </a:p>
        </p:txBody>
      </p:sp>
      <p:sp>
        <p:nvSpPr>
          <p:cNvPr id="3" name="Text 1"/>
          <p:cNvSpPr/>
          <p:nvPr/>
        </p:nvSpPr>
        <p:spPr>
          <a:xfrm>
            <a:off x="594360" y="768096"/>
            <a:ext cx="10972800" cy="612648"/>
          </a:xfrm>
          <a:prstGeom prst="rect">
            <a:avLst/>
          </a:prstGeom>
          <a:noFill/>
          <a:ln/>
        </p:spPr>
        <p:txBody>
          <a:bodyPr wrap="square" lIns="0" tIns="0" rIns="0" bIns="0" rtlCol="0" anchor="ctr">
            <a:normAutofit/>
          </a:bodyPr>
          <a:lstStyle/>
          <a:p>
            <a:pPr indent="0" marL="0">
              <a:buNone/>
            </a:pPr>
            <a:r>
              <a:rPr lang="en-US" sz="2500" b="1" dirty="0">
                <a:solidFill>
                  <a:srgbClr val="FFFFFF"/>
                </a:solidFill>
                <a:latin typeface="Noto Sans CJK KR" pitchFamily="34" charset="0"/>
                <a:ea typeface="Noto Sans CJK KR" pitchFamily="34" charset="-122"/>
                <a:cs typeface="Noto Sans CJK KR" pitchFamily="34" charset="-120"/>
              </a:rPr>
              <a:t>목표는 자동 소송이 아니라 사용자 통제입니다</a:t>
            </a:r>
            <a:endParaRPr lang="en-US" sz="2500" dirty="0"/>
          </a:p>
        </p:txBody>
      </p:sp>
      <p:sp>
        <p:nvSpPr>
          <p:cNvPr id="4" name="Text 2"/>
          <p:cNvSpPr/>
          <p:nvPr/>
        </p:nvSpPr>
        <p:spPr>
          <a:xfrm>
            <a:off x="594360" y="1508760"/>
            <a:ext cx="10789920" cy="502920"/>
          </a:xfrm>
          <a:prstGeom prst="rect">
            <a:avLst/>
          </a:prstGeom>
          <a:noFill/>
          <a:ln/>
        </p:spPr>
        <p:txBody>
          <a:bodyPr wrap="square" lIns="0" tIns="0" rIns="0" bIns="0" rtlCol="0" anchor="ctr">
            <a:normAutofit/>
          </a:bodyPr>
          <a:lstStyle/>
          <a:p>
            <a:pPr indent="0" marL="0">
              <a:buNone/>
            </a:pPr>
            <a:r>
              <a:rPr lang="en-US" sz="1750" dirty="0">
                <a:solidFill>
                  <a:srgbClr val="D2D2D7"/>
                </a:solidFill>
                <a:latin typeface="Noto Sans CJK KR" pitchFamily="34" charset="0"/>
                <a:ea typeface="Noto Sans CJK KR" pitchFamily="34" charset="-122"/>
                <a:cs typeface="Noto Sans CJK KR" pitchFamily="34" charset="-120"/>
              </a:rPr>
              <a:t>실제 효과는 사용자 연구와 제한된 시범 운영으로 검증해야 합니다.</a:t>
            </a:r>
            <a:endParaRPr lang="en-US" sz="1750" dirty="0"/>
          </a:p>
        </p:txBody>
      </p:sp>
      <p:sp>
        <p:nvSpPr>
          <p:cNvPr id="5" name="Shape 3"/>
          <p:cNvSpPr/>
          <p:nvPr/>
        </p:nvSpPr>
        <p:spPr>
          <a:xfrm>
            <a:off x="594360" y="2331720"/>
            <a:ext cx="3532632" cy="1078992"/>
          </a:xfrm>
          <a:prstGeom prst="roundRect">
            <a:avLst>
              <a:gd name="adj" fmla="val 10169"/>
            </a:avLst>
          </a:prstGeom>
          <a:solidFill>
            <a:srgbClr val="171719"/>
          </a:solidFill>
          <a:ln w="8890">
            <a:solidFill>
              <a:srgbClr val="333336"/>
            </a:solidFill>
            <a:prstDash val="solid"/>
          </a:ln>
        </p:spPr>
      </p:sp>
      <p:sp>
        <p:nvSpPr>
          <p:cNvPr id="6" name="Text 4"/>
          <p:cNvSpPr/>
          <p:nvPr/>
        </p:nvSpPr>
        <p:spPr>
          <a:xfrm>
            <a:off x="7589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01</a:t>
            </a:r>
            <a:endParaRPr lang="en-US" sz="900" dirty="0"/>
          </a:p>
        </p:txBody>
      </p:sp>
      <p:sp>
        <p:nvSpPr>
          <p:cNvPr id="7" name="Text 5"/>
          <p:cNvSpPr/>
          <p:nvPr/>
        </p:nvSpPr>
        <p:spPr>
          <a:xfrm>
            <a:off x="7589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FFFFFF"/>
                </a:solidFill>
                <a:latin typeface="Noto Sans CJK KR" pitchFamily="34" charset="0"/>
                <a:ea typeface="Noto Sans CJK KR" pitchFamily="34" charset="-122"/>
                <a:cs typeface="Noto Sans CJK KR" pitchFamily="34" charset="-120"/>
              </a:rPr>
              <a:t>한 번 입력한 정보를 다음 준비 화면에서 재사용합니다</a:t>
            </a:r>
            <a:endParaRPr lang="en-US" sz="1250" dirty="0"/>
          </a:p>
        </p:txBody>
      </p:sp>
      <p:sp>
        <p:nvSpPr>
          <p:cNvPr id="8" name="Shape 6"/>
          <p:cNvSpPr/>
          <p:nvPr/>
        </p:nvSpPr>
        <p:spPr>
          <a:xfrm>
            <a:off x="4328160" y="2331720"/>
            <a:ext cx="3532632" cy="1078992"/>
          </a:xfrm>
          <a:prstGeom prst="roundRect">
            <a:avLst>
              <a:gd name="adj" fmla="val 10169"/>
            </a:avLst>
          </a:prstGeom>
          <a:solidFill>
            <a:srgbClr val="171719"/>
          </a:solidFill>
          <a:ln w="8890">
            <a:solidFill>
              <a:srgbClr val="333336"/>
            </a:solidFill>
            <a:prstDash val="solid"/>
          </a:ln>
        </p:spPr>
      </p:sp>
      <p:sp>
        <p:nvSpPr>
          <p:cNvPr id="9" name="Text 7"/>
          <p:cNvSpPr/>
          <p:nvPr/>
        </p:nvSpPr>
        <p:spPr>
          <a:xfrm>
            <a:off x="44927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02</a:t>
            </a:r>
            <a:endParaRPr lang="en-US" sz="900" dirty="0"/>
          </a:p>
        </p:txBody>
      </p:sp>
      <p:sp>
        <p:nvSpPr>
          <p:cNvPr id="10" name="Text 8"/>
          <p:cNvSpPr/>
          <p:nvPr/>
        </p:nvSpPr>
        <p:spPr>
          <a:xfrm>
            <a:off x="44927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FFFFFF"/>
                </a:solidFill>
                <a:latin typeface="Noto Sans CJK KR" pitchFamily="34" charset="0"/>
                <a:ea typeface="Noto Sans CJK KR" pitchFamily="34" charset="-122"/>
                <a:cs typeface="Noto Sans CJK KR" pitchFamily="34" charset="-120"/>
              </a:rPr>
              <a:t>경로 전환은 법적 이관이 아닌 데이터 재사용입니다</a:t>
            </a:r>
            <a:endParaRPr lang="en-US" sz="1250" dirty="0"/>
          </a:p>
        </p:txBody>
      </p:sp>
      <p:sp>
        <p:nvSpPr>
          <p:cNvPr id="11" name="Shape 9"/>
          <p:cNvSpPr/>
          <p:nvPr/>
        </p:nvSpPr>
        <p:spPr>
          <a:xfrm>
            <a:off x="8061960" y="2331720"/>
            <a:ext cx="3532632" cy="1078992"/>
          </a:xfrm>
          <a:prstGeom prst="roundRect">
            <a:avLst>
              <a:gd name="adj" fmla="val 10169"/>
            </a:avLst>
          </a:prstGeom>
          <a:solidFill>
            <a:srgbClr val="171719"/>
          </a:solidFill>
          <a:ln w="8890">
            <a:solidFill>
              <a:srgbClr val="333336"/>
            </a:solidFill>
            <a:prstDash val="solid"/>
          </a:ln>
        </p:spPr>
      </p:sp>
      <p:sp>
        <p:nvSpPr>
          <p:cNvPr id="12" name="Text 10"/>
          <p:cNvSpPr/>
          <p:nvPr/>
        </p:nvSpPr>
        <p:spPr>
          <a:xfrm>
            <a:off x="8226552" y="2478024"/>
            <a:ext cx="411480" cy="228600"/>
          </a:xfrm>
          <a:prstGeom prst="rect">
            <a:avLst/>
          </a:prstGeom>
          <a:noFill/>
          <a:ln/>
        </p:spPr>
        <p:txBody>
          <a:bodyPr wrap="square" lIns="0" tIns="0" rIns="0" bIns="0" rtlCol="0" anchor="ctr">
            <a:normAutofit/>
          </a:bodyPr>
          <a:lstStyle/>
          <a:p>
            <a:pPr indent="0" marL="0">
              <a:buNone/>
            </a:pPr>
            <a:r>
              <a:rPr lang="en-US" sz="900" b="1" dirty="0">
                <a:solidFill>
                  <a:srgbClr val="2997FF"/>
                </a:solidFill>
                <a:latin typeface="Source Code Pro" pitchFamily="34" charset="0"/>
                <a:ea typeface="Source Code Pro" pitchFamily="34" charset="-122"/>
                <a:cs typeface="Source Code Pro" pitchFamily="34" charset="-120"/>
              </a:rPr>
              <a:t>03</a:t>
            </a:r>
            <a:endParaRPr lang="en-US" sz="900" dirty="0"/>
          </a:p>
        </p:txBody>
      </p:sp>
      <p:sp>
        <p:nvSpPr>
          <p:cNvPr id="13" name="Text 11"/>
          <p:cNvSpPr/>
          <p:nvPr/>
        </p:nvSpPr>
        <p:spPr>
          <a:xfrm>
            <a:off x="8226552" y="2770632"/>
            <a:ext cx="3203448" cy="438912"/>
          </a:xfrm>
          <a:prstGeom prst="rect">
            <a:avLst/>
          </a:prstGeom>
          <a:noFill/>
          <a:ln/>
        </p:spPr>
        <p:txBody>
          <a:bodyPr wrap="square" lIns="0" tIns="0" rIns="0" bIns="0" rtlCol="0" anchor="t">
            <a:normAutofit/>
          </a:bodyPr>
          <a:lstStyle/>
          <a:p>
            <a:pPr indent="0" marL="0">
              <a:buNone/>
            </a:pPr>
            <a:r>
              <a:rPr lang="en-US" sz="1250" b="1" dirty="0">
                <a:solidFill>
                  <a:srgbClr val="FFFFFF"/>
                </a:solidFill>
                <a:latin typeface="Noto Sans CJK KR" pitchFamily="34" charset="0"/>
                <a:ea typeface="Noto Sans CJK KR" pitchFamily="34" charset="-122"/>
                <a:cs typeface="Noto Sans CJK KR" pitchFamily="34" charset="-120"/>
              </a:rPr>
              <a:t>절차 이탈 감소와 회수 개선은 실증하지 않았습니다</a:t>
            </a:r>
            <a:endParaRPr lang="en-US" sz="1250" dirty="0"/>
          </a:p>
        </p:txBody>
      </p:sp>
      <p:sp>
        <p:nvSpPr>
          <p:cNvPr id="14" name="Shape 12"/>
          <p:cNvSpPr/>
          <p:nvPr/>
        </p:nvSpPr>
        <p:spPr>
          <a:xfrm>
            <a:off x="594360" y="6345936"/>
            <a:ext cx="11000232" cy="0"/>
          </a:xfrm>
          <a:prstGeom prst="line">
            <a:avLst/>
          </a:prstGeom>
          <a:noFill/>
          <a:ln w="7620">
            <a:solidFill>
              <a:srgbClr val="333336"/>
            </a:solidFill>
            <a:prstDash val="solid"/>
          </a:ln>
        </p:spPr>
      </p:sp>
      <p:sp>
        <p:nvSpPr>
          <p:cNvPr id="15" name="Text 13"/>
          <p:cNvSpPr/>
          <p:nvPr/>
        </p:nvSpPr>
        <p:spPr>
          <a:xfrm>
            <a:off x="59436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S001</a:t>
            </a:r>
            <a:endParaRPr lang="en-US" sz="900" dirty="0"/>
          </a:p>
        </p:txBody>
      </p:sp>
      <p:sp>
        <p:nvSpPr>
          <p:cNvPr id="16" name="Text 14"/>
          <p:cNvSpPr/>
          <p:nvPr/>
        </p:nvSpPr>
        <p:spPr>
          <a:xfrm>
            <a:off x="115214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17" name="Text 15"/>
          <p:cNvSpPr/>
          <p:nvPr/>
        </p:nvSpPr>
        <p:spPr>
          <a:xfrm>
            <a:off x="134416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S002</a:t>
            </a:r>
            <a:endParaRPr lang="en-US" sz="900" dirty="0"/>
          </a:p>
        </p:txBody>
      </p:sp>
      <p:sp>
        <p:nvSpPr>
          <p:cNvPr id="18" name="Text 16"/>
          <p:cNvSpPr/>
          <p:nvPr/>
        </p:nvSpPr>
        <p:spPr>
          <a:xfrm>
            <a:off x="190195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19" name="Text 17"/>
          <p:cNvSpPr/>
          <p:nvPr/>
        </p:nvSpPr>
        <p:spPr>
          <a:xfrm>
            <a:off x="209397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S032</a:t>
            </a:r>
            <a:endParaRPr lang="en-US" sz="900" dirty="0"/>
          </a:p>
        </p:txBody>
      </p:sp>
      <p:sp>
        <p:nvSpPr>
          <p:cNvPr id="20" name="Text 18"/>
          <p:cNvSpPr/>
          <p:nvPr/>
        </p:nvSpPr>
        <p:spPr>
          <a:xfrm>
            <a:off x="2651760"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1" name="Text 19"/>
          <p:cNvSpPr/>
          <p:nvPr/>
        </p:nvSpPr>
        <p:spPr>
          <a:xfrm>
            <a:off x="2843784"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S045</a:t>
            </a:r>
            <a:endParaRPr lang="en-US" sz="900" dirty="0"/>
          </a:p>
        </p:txBody>
      </p:sp>
      <p:sp>
        <p:nvSpPr>
          <p:cNvPr id="22" name="Text 20"/>
          <p:cNvSpPr/>
          <p:nvPr/>
        </p:nvSpPr>
        <p:spPr>
          <a:xfrm>
            <a:off x="3401568"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3" name="Text 21"/>
          <p:cNvSpPr/>
          <p:nvPr/>
        </p:nvSpPr>
        <p:spPr>
          <a:xfrm>
            <a:off x="3593592"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S089</a:t>
            </a:r>
            <a:endParaRPr lang="en-US" sz="900" dirty="0"/>
          </a:p>
        </p:txBody>
      </p:sp>
      <p:sp>
        <p:nvSpPr>
          <p:cNvPr id="24" name="Text 22"/>
          <p:cNvSpPr/>
          <p:nvPr/>
        </p:nvSpPr>
        <p:spPr>
          <a:xfrm>
            <a:off x="4151376"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5" name="Text 23"/>
          <p:cNvSpPr/>
          <p:nvPr/>
        </p:nvSpPr>
        <p:spPr>
          <a:xfrm>
            <a:off x="4343400"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S101</a:t>
            </a:r>
            <a:endParaRPr lang="en-US" sz="900" dirty="0"/>
          </a:p>
        </p:txBody>
      </p:sp>
      <p:sp>
        <p:nvSpPr>
          <p:cNvPr id="26" name="Text 24"/>
          <p:cNvSpPr/>
          <p:nvPr/>
        </p:nvSpPr>
        <p:spPr>
          <a:xfrm>
            <a:off x="4901184"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7" name="Text 25"/>
          <p:cNvSpPr/>
          <p:nvPr/>
        </p:nvSpPr>
        <p:spPr>
          <a:xfrm>
            <a:off x="5093208"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S102</a:t>
            </a:r>
            <a:endParaRPr lang="en-US" sz="900" dirty="0"/>
          </a:p>
        </p:txBody>
      </p:sp>
      <p:sp>
        <p:nvSpPr>
          <p:cNvPr id="28" name="Text 26"/>
          <p:cNvSpPr/>
          <p:nvPr/>
        </p:nvSpPr>
        <p:spPr>
          <a:xfrm>
            <a:off x="5650992" y="6400800"/>
            <a:ext cx="109728" cy="146304"/>
          </a:xfrm>
          <a:prstGeom prst="rect">
            <a:avLst/>
          </a:prstGeom>
          <a:noFill/>
          <a:ln/>
        </p:spPr>
        <p:txBody>
          <a:bodyPr wrap="square" lIns="0" tIns="0" rIns="0" bIns="0" rtlCol="0" anchor="ctr">
            <a:normAutofit/>
          </a:bodyPr>
          <a:lstStyle/>
          <a:p>
            <a:pPr algn="ctr" indent="0" marL="0">
              <a:buNone/>
            </a:pPr>
            <a:r>
              <a:rPr lang="en-US" sz="900" dirty="0">
                <a:solidFill>
                  <a:srgbClr val="A1A1A6"/>
                </a:solidFill>
                <a:latin typeface="Noto Sans CJK KR" pitchFamily="34" charset="0"/>
                <a:ea typeface="Noto Sans CJK KR" pitchFamily="34" charset="-122"/>
                <a:cs typeface="Noto Sans CJK KR" pitchFamily="34" charset="-120"/>
              </a:rPr>
              <a:t>|</a:t>
            </a:r>
            <a:endParaRPr lang="en-US" sz="900" dirty="0"/>
          </a:p>
        </p:txBody>
      </p:sp>
      <p:sp>
        <p:nvSpPr>
          <p:cNvPr id="29" name="Text 27"/>
          <p:cNvSpPr/>
          <p:nvPr/>
        </p:nvSpPr>
        <p:spPr>
          <a:xfrm>
            <a:off x="5843016" y="6400800"/>
            <a:ext cx="512064" cy="146304"/>
          </a:xfrm>
          <a:prstGeom prst="rect">
            <a:avLst/>
          </a:prstGeom>
          <a:noFill/>
          <a:ln/>
        </p:spPr>
        <p:txBody>
          <a:bodyPr wrap="square" lIns="0" tIns="0" rIns="0" bIns="0" rtlCol="0" anchor="ctr">
            <a:normAutofit/>
          </a:bodyPr>
          <a:lstStyle/>
          <a:p>
            <a:pPr indent="0" marL="0">
              <a:buNone/>
            </a:pPr>
            <a:r>
              <a:rPr lang="en-US" sz="900" dirty="0">
                <a:solidFill>
                  <a:srgbClr val="A1A1A6"/>
                </a:solidFill>
                <a:latin typeface="Noto Sans CJK KR" pitchFamily="34" charset="0"/>
                <a:ea typeface="Noto Sans CJK KR" pitchFamily="34" charset="-122"/>
                <a:cs typeface="Noto Sans CJK KR" pitchFamily="34" charset="-120"/>
              </a:rPr>
              <a:t>S103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학술소모임</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학술소모임 260811 발표자료</dc:title>
  <dc:subject>소액 전자상거래 사기 피해자를 위한 사용자 통제형 AI 절차 내비게이터</dc:subject>
  <dc:creator>이태규</dc:creator>
  <cp:lastModifiedBy>이태규</cp:lastModifiedBy>
  <cp:revision>1</cp:revision>
  <dcterms:created xsi:type="dcterms:W3CDTF">2026-08-11T13:01:03Z</dcterms:created>
  <dcterms:modified xsi:type="dcterms:W3CDTF">2026-08-11T13:01:03Z</dcterms:modified>
</cp:coreProperties>
</file>