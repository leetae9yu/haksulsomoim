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본 발표에서는 소액 전자상거래 선입금 사기 피해자의 절차적 단절 완화를 지원하도록 제안된 사용자 통제형 AI 증거·절차 내비게이터 아키텍처를 소개합니다. 본 시스템은 형사 ECRM 신고 준비부터 민사 지급명령, 강제집행 추적까지 전체 구제 파이프라인의 안내와 증거 관리를 지원합니다. 본 브리핑에서 제시하는 시스템 경계와 위험 통제 정책은 연구자가 제안하는 아키텍처안이며, 확정된 법적 적법성을 최종 담보하는 것이 아니므로 향후 정밀한 법적 검증이 요구됩니다.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연구의 핵심 명제는 소액 사기 피해 구제의 본질적 구조가 법적 절차의 단순한 부재가 아니라는 점입니다. 구제 과정은 형사 신고, 민사 소송, 강제집행이라는 서로 다른 관문 사이에서 절차적 단절을 지닙니다. 특히 형사 절차 진행 자체는 피해금의 자동 환급을 보장하지 않으며, 실질적 피해 회수를 위해서는 소송 촉진 등에 관한 특례법상 배상명령을 신청하거나 별도의 민사소송 및 지급명령을 거쳐 집행권원을 확보해야 합니다. 또한 집행권원을 얻더라도 채무자의 무자력 위험이 상존하므로, 어떠한 법적 집행권원도 자동 환급을 담보할 수 없습니다. 따라서 AI 내비게이터는 문서 자동 작성이 아니라 각 관문 간의 증거 보존과 절차 연결 지원에 집중해야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경찰청 사이버범죄 현황에 따르면 2024년 사이버사기 발생 건수는 총 100,539건으로 집계됩니다. 그러나 이 수치를 해석할 때는 주의가 필요합니다. 첫째, 100,539건은 경찰청이 집계한 2024년 사이버사기 발생건수일 뿐, 피해자 수, 총 피해액, 실질 피해금 회수율, 또는 법률 서비스 시장 규모를 직접 증명하지 않습니다. 둘째, 2024년 신종 유형이 추가되어 전년 총계 비교 해석에 주의해야 합니다. 셋째, 공정거래위원회·한국소비자단체협의회 자율분쟁조정위원회의 전자상거래 분쟁조정 접수 82건은 당사자 간 자율 합의를 전제로 하므로 범죄 행위인 선입금 사기의 대용치로 쓸 수 없습니다. 따라서 본 아키텍처는 통계적 과장 없이 정밀하게 검증된 수치 범위 내에서만 안내를 제공합니다.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사건 접수 시 AI 내비게이터의 첫 관문은 사기죄 성립 여부를 직접 판정하는 것이 아니라 법적 라우팅을 위한 사실 분류입니다. 형법 제347조상 사기죄는 행위 당시 상대방을 속이려는 편취의 고의가 입증되어야 하며, 단순한 배송 지연이나 미배송 사실만으로는 사기죄가 성립하지 않습니다. 또한 순수 개인 간 거래(C2C) 조건에서는 판매자가 통신판매업자가 아니므로 전자상거래법상 7일 청약철회권이 자동 적용되지 않습니다. 한편, 일반 재화 거래 사기는 전기통신금융사기 특별법 제2조에 따라 계좌 즉시 지급정지 및 환급 대상에서 제외됩니다. 따라서 AI는 거래 주체, 결제 수단, 편취 정황을 3대 축으로 정밀 분류하여 올바른 공공 절차로 안내해야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신고부터 실질적인 피해 회수까지는 총 6개의 법적 게이트를 거치게 됩니다. 먼저 형사 절차 진행만으로는 피해금이 자동으로 회수되지 않는다는 점을 분명히 알아두어야 합니다. 피해금을 되찾기 위해서는 형사 재판 단계에서 배상명령을 신청하거나, 별도의 민사소송 및 강제집행 절차를 함께 추진해야 합니다. 온라인 ECRM 신고 후에는 경찰서 직접 방문 조사가 원칙이지만, 다수 피해자가 발생한 사건에서는 일부 피해자의 방문 진술이 이미 확인된 경우 예외적으로 방문 출석이 면제될 수 있습니다. 한편, 형사 재판에서 배상명령 신청이 불허되는 것은 법률 용어로 '각하'를 의미합니다. 배상명령이 각하 처리되면 지급명령이나 민사소송 등의 민사적 경로를 고려할 수 있으나, 이는 의무가 아닌 선택적 구제 방안입니다. 이후 집행권원을 확보하여 재산명시나 채권압류 등 실질적인 회수 절차를 이어가야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승소 판결이나 확정된 지급명령 등 집행권원은 채권자가 강제집행을 신청할 수 있는 기초일 뿐이며, 그 자체로 현금 회수를 보장하는 것은 아닙니다. 만약 채무자가 무자력 상태이거나 재산을 은닉한 경우에는 실질적인 회수가 매우 어렵거나 불가능해질 수 있습니다. 또한 민사집행법에 따라 채무자의 일부 예금 등은 법정 압류금지 대상에 해당할 수 있어 회수에 제약이 따릅니다. 아울러 채무자의 재산을 파악하기 위해 재산조회를 신청할 경우 조회 기관별로 각각 비용이 발생한다는 점을 유의해야 합니다. 따라서 집행권원 확보 이후에도 피고의 재산 상태와 절차 비용을 종합적으로 고려하여 전략적으로 대응해야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슬라이드는 AI 법률 보조 서비스의 핵심 설계 방향성과 리스크 통제 기준을 설명합니다. 이는 법적 면책을 의미하는 세이프하버가 아니라 보수적인 제품 리스크 정책을 적용한 결과입니다. 변호사법 제109조 리스크는 비변호사가 금품, 향응 또는 기타 이익을 받거나 받을 것을 약속하고 법률사무를 취급하거나 알선하는 행위에서 발생합니다. 따라서 본 서비스는 개별 사용자 맞춤형 완성 법률문서 작성, 승소 및 결과 예측, 법률 대리, 합의 중재 및 협상, 채권회수 보장이나 대행을 일절 제공하지 않는 원칙을 엄격히 준수합니다. 제품은 사용자가 직접 통제하는 절차 내비게이터 역할을 수행하며, 수집된 증거의 해시 관리 및 연표 구조화로 무결성을 보존하고 검증된 공공 절차 Handoff와 기한 관리만을 안전하게 지원합니다.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증거 아키텍처는 수집된 데이터의 안전한 보호를 위해 별도 원본 보관 구조를 적용합니다. 수집 이후 단계에서는 SHA-256 해시와 RFC 3161 타임스탬프를 활용하며, 이는 신뢰할 수 있는 타임스탬프 가정을 전제로 수집 후 변경 감지 및 특정 시점 이전 데이터 존재 증명을 지원합니다. 또한 체계적인 출처 관리를 통해 데이터 생성 이력을 투명하게 기록합니다. OCR 추출 결과를 포함한 모든 자료는 사용자의 사전 직접 검토를 거쳐 사용자가 기관에 직접 공식 제출하도록 설계되었습니다. 본 서비스는 자동적인 진정성이나 증거능력 입증을 제공하지 않으며, 수사기관이나 법원 등 외부 기관으로의 직접 전송도 수행하지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슬라이드는 선입금 피해 구제 절차를 효율적으로 관리하기 위한 9단계 독립 상태 머신 구조를 설명합니다. 피해 발생 초기 유형 분류부터 최종 종결 및 시효 관리에 이르기까지 전 과정을 9개 독립 단위 상태로 엄격하게 구분하여 운영합니다. 이 과정에서 가장 핵심적인 원칙은 AI의 임의적 판단에 의한 절차 진행을 완전히 배제하고, 오직 수사기관이나 법원 등 외부 기관이 발급한 확정 서류가 제출되거나 사용자가 직접 검토 후 승인한 경우에만 다음 단계로 전환되도록 설계했다는 점입니다. 각 단계별 관문에서는 법정 기한과 다음 단계에서 이행해야 할 유효한 동작을 맞춤형으로 안내하여 절차적 혼선을 방지합니다. 다만, 이는 사용자의 자율적 대응을 지원하기 위한 절차적 정보 안내일 뿐이며, 개별 사건의 법정 기한 완수나 구체적인 수사·재판 결과를 보장하거나 확약하지는 않는다는 점을 명확히 명시합니다.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슬라이드는 변호사법 제109조 준수를 위해 설정한 리스크 정책 범주와 기능적 경계를 다룹니다. 당사는 서비스 기능을 제품상 허용, 추가 통제, 제품상 금지의 세 가지 위험 정책 범주로 선명하게 구별하여 관리합니다. 제품상 허용 영역에서는 사용자가 입력한 사실관계의 객관적 정리, 변경 감지를 위한 해시값 생성, 공개된 법령 및 판례 정보 제공을 제공합니다. 추가 통제 영역에서는 공공 기관 서식 예시 제공 및 중개 수수료나 대가성 이익 취득이 전혀 없는 변호사 연계를 철저한 관리하에 운영합니다. 마지막으로 제품상 금지 영역에서는 개별 사건에 맞춘 완제품 형태의 법률 서식 작성, 승소 확률에 대한 임의적 판정, 환불 대리나 피해자와의 직접 협상 행위를 엄격히 금지합니다. 이를 통해 변호사법 제109조가 규정한 이익 요소를 배제하도록 설계해 위험을 낮춘다.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슬라이드는 개인정보 보호법(PIPA) 준수와 인간 승인 절차를 기반으로 한 제품 데이터 관리 체계를 설명합니다. 개인정보 수명주기 관리 관점에서 제출된 정보는 안전하게 분리된 Raw Vault에 보관되며, 서비스 목적 달성 후 불필요해진 개인정보는 지체 없이 파기하는 것을 원칙으로 합니다. 다만, 전자상거래법 등 관련 법령에 따른 법정 보유 기간이 명시된 경우에는 해당 법정 보존 예외 규정에 따라 필요한 최소 기간 동안만 별도 분리하여 보존합니다. 또한 사용자의 데이터는 AI 모델 학습에 절대로 사용되지 아니하며, 고성능 국외 OCR 처리를 활용할 경우 정보주체의 사전 동의를 받거나 PIPA상 허용된 기타 법적 근거를 철저히 확보하고 관련 사실을 투명하게 고지합니다. 이에 더해 계좌번호, 피해 금액 등 핵심 데이터는 사용자 100% 직접 검토 및 승인 절차를 필수로 거치도록 설계하여 오류 가능성을 줄이고 인간 검토 책임을 명확히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슬라이드는 공공 기관 및 사법 절차와의 사전 설계된 연계 및 안내(Handoff) 전략을 명시합니다. 본 서비스는 공공 시스템을 우회하거나 대행하지 않고, ECRM, 대법원 전자소송, 소비자24, 법률구조공단 등 검증된 공식 접수 창구로 사용자를 안전하게 안내하도록 설계된 Handoff 구조를 취합니다. 당사는 공공 기관과 시스템 간 직접적인 API 연동이나 자동 제출 기능을 제공하지 않으며, 사용자가 정돈된 증거 PDF 파일과 제출 체크리스트를 지참하여 스스로 공식 창구에 접수하도록 지원합니다. 특히 대법원 전자소송 시스템 등은 지급명령이나 민사소송을 신청하는 외부 신청 접수 포털일 뿐이며, 해당 시스템 접속 자체가 집행권원을 자동으로 생성하거나 부여하는 것은 아니라는 점을 분명히 고지합니다. 이를 통해 공공 행정 및 사법 절차의 엄격성을 존중하고 법적 오류와 과대 오인을 방지합니다.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슬라이드는 서비스 구현을 위한 5단계 실현 로드맵을 제시합니다. 서비스 개발은 법률적 적법성 완결을 확증하는 것이 아니라 법률 및 개인정보 위험 경계를 우선 검토하기 위해 Phase 0 단계부터 출발합니다. Phase 0에서는 변호사법과 개인정보 보호법에 따른 금지 경계 확정 및 DPIA 영향평가를 수행하며, Phase 1에서는 개인화 판단을 배제한 Local-first 증거 정리 프로토타입을 구축합니다. Phase 2에서는 검증된 공공 정보 기반의 절차 내비게이터를 구현합니다. 이어서 Phase 3에서는 중고거래 벤치마크와 OWASP 프롬프트 인젝션 방어 테스트를 통해 프롬프트 인젝션 방어를 시험합니다. 마지막 Phase 4에서는 사건 알선 대가나 성과 수수료 연동을 완전히 배제하고, 면허 변호사의 실질적 지휘 및 감독 하에 시범 검토를 진행합니다.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서비스의 단계별 이행을 결정하는 5가지 Go/No-Go 통제 지표입니다. 본 프로젝트는 기능의 다과보다 안전성을 우선시하며, 기준 미달 시 다음 단계 이행을 즉시 중단합니다. 첫째, 증거 수집 시점 SHA-256 해시 생성 및 Provenance 기록 성공률 100%를 요구합니다. 둘째, 계좌번호와 금액 등 핵심 데이터에 대한 사용자 명시적 직접 승인율 100%를 통제합니다. 셋째, 이미지 기반 프롬프트 인젝션 공격 시 권한 탈취 및 법적 오안내 발생 0건을 검증합니다. 넷째, 승소 보장 등 미검증 법률 주장의 표출 건수 0건을 유지합니다. 다섯째, 사건 알선 대가나 성과 수수료 연동 매출 모델의 완전 부존재를 법률적으로 검증합니다.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연구의 결론은 제품이 소액 사기 구제 과정의 절차적 단절 완화를 도울 뿐 완벽히 해결하지는 못한다는 점입니다. 핵심 가치는 완벽한 증거 무결성 보장이 아니라, 수집 후 SHA-256 해시 기반 변경 감지 및 출처 추적(Provenance) 기록 제공에 있습니다. 아울러 비변호사 AI 전용 Safe Harbor를 발견하지 못하였으며, 평균 절차 소요 기간과 실제 회수율 데이터는 확인되지 않았고, 피해금 회수율 상승 효과 또한 실증적으로 검증되지 않았음을 밝깁니다. 더불어 배상명령 지연이자 및 사건별 가변 비용은 범용화할 수 없다. 이에 따라 전자증거능력 법원 인용 사례 미비, 플랫폼 정책 및 공공 API 미확정 등 법적·기술적 7대 한계를 명시하고 연구를 수행합니다.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연구 방법론 및 3가지 학술 토론 질문을 제시합니다. 본 보고서에 기재된 14인 융합 연구진과 2회 조사는 방법론적 자체 보고(Self-report) 한계를 가지며, S001부터 S102까지의 출처 레저 목록 역시 수집 개수의 기록일 뿐 각 문헌의 동등한 학술적 품질을 증명하는 근거는 아님을 밝힙니다. 이러한 한계 바탕 위에서, 첫째 비변호사 AI의 법률 안내 허용 경계, 둘째 수집 후 SHA-256 해시 및 Provenance 기록이 전자증거의 신뢰성 평가에 가지는 실질적 의미, 셋째 공공 이관 패키지 표준화 방안에 대해 학술적 토론을 제안합니다.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PER">
    <p:bg>
      <p:bgPr>
        <a:solidFill>
          <a:srgbClr val="F7F6F3"/>
        </a:solidFill>
      </p:bgPr>
    </p:bg>
    <p:spTree>
      <p:nvGrpSpPr>
        <p:cNvPr id="1" name=""/>
        <p:cNvGrpSpPr/>
        <p:nvPr/>
      </p:nvGrpSpPr>
      <p:grpSpPr>
        <a:xfrm>
          <a:off x="0" y="0"/>
          <a:ext cx="0" cy="0"/>
          <a:chOff x="0" y="0"/>
          <a:chExt cx="0" cy="0"/>
        </a:xfrm>
      </p:grpSpPr>
      <p:sp>
        <p:nvSpPr>
          <p:cNvPr id="2" name="Shape 0"/>
          <p:cNvSpPr/>
          <p:nvPr/>
        </p:nvSpPr>
        <p:spPr>
          <a:xfrm>
            <a:off x="502920" y="6510528"/>
            <a:ext cx="11183112" cy="0"/>
          </a:xfrm>
          <a:prstGeom prst="line">
            <a:avLst/>
          </a:prstGeom>
          <a:noFill/>
          <a:ln w="8890">
            <a:solidFill>
              <a:srgbClr val="DCE5EE"/>
            </a:solidFill>
            <a:prstDash val="solid"/>
          </a:ln>
        </p:spPr>
      </p:sp>
      <p:sp>
        <p:nvSpPr>
          <p:cNvPr id="25" name="Slide Number Placeholder 0"/>
          <p:cNvSpPr>
            <a:spLocks noGrp="1"/>
          </p:cNvSpPr>
          <p:nvPr>
            <p:ph type="sldNum" sz="quarter" idx="4294967295"/>
          </p:nvPr>
        </p:nvSpPr>
        <p:spPr>
          <a:xfrm>
            <a:off x="530352" y="6556248"/>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8A97A5"/>
                </a:solidFill>
                <a:latin typeface="Source Code Pro"/>
                <a:ea typeface="Source Code Pro"/>
                <a:cs typeface="Source Code Pro"/>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30352" y="6556248"/>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8A97A5"/>
                </a:solidFill>
                <a:latin typeface="Source Code Pro"/>
                <a:ea typeface="Source Code Pro"/>
                <a:cs typeface="Source Code Pro"/>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E54"/>
        </a:solidFill>
      </p:bgPr>
    </p:bg>
    <p:spTree>
      <p:nvGrpSpPr>
        <p:cNvPr id="1" name=""/>
        <p:cNvGrpSpPr/>
        <p:nvPr/>
      </p:nvGrpSpPr>
      <p:grpSpPr>
        <a:xfrm>
          <a:off x="0" y="0"/>
          <a:ext cx="0" cy="0"/>
          <a:chOff x="0" y="0"/>
          <a:chExt cx="0" cy="0"/>
        </a:xfrm>
      </p:grpSpPr>
      <p:sp>
        <p:nvSpPr>
          <p:cNvPr id="2" name="Text 0"/>
          <p:cNvSpPr txBox="1"/>
          <p:nvPr/>
        </p:nvSpPr>
        <p:spPr>
          <a:xfrm>
            <a:off x="658368" y="475488"/>
            <a:ext cx="5029200" cy="274320"/>
          </a:xfrm>
          <a:prstGeom prst="rect">
            <a:avLst/>
          </a:prstGeom>
          <a:noFill/>
          <a:ln/>
        </p:spPr>
        <p:txBody>
          <a:bodyPr wrap="square" lIns="0" tIns="0" rIns="0" bIns="0" rtlCol="0" anchor="ctr">
            <a:normAutofit/>
          </a:bodyPr>
          <a:lstStyle/>
          <a:p>
            <a:pPr algn="l" indent="0" marL="0">
              <a:lnSpc>
                <a:spcPct val="92000"/>
              </a:lnSpc>
              <a:buNone/>
            </a:pPr>
            <a:r>
              <a:rPr lang="en-US" sz="1000" b="1" dirty="0">
                <a:solidFill>
                  <a:srgbClr val="B9B9F9"/>
                </a:solidFill>
                <a:latin typeface="Source Code Pro" pitchFamily="34" charset="0"/>
                <a:ea typeface="Source Code Pro" pitchFamily="34" charset="-122"/>
                <a:cs typeface="Source Code Pro" pitchFamily="34" charset="-120"/>
              </a:rPr>
              <a:t>소액 전자상거래 선입금 사기 피해 구제 브리핑</a:t>
            </a:r>
            <a:endParaRPr lang="en-US" sz="1000" dirty="0"/>
          </a:p>
        </p:txBody>
      </p:sp>
      <p:sp>
        <p:nvSpPr>
          <p:cNvPr id="3" name="Text 1"/>
          <p:cNvSpPr txBox="1"/>
          <p:nvPr/>
        </p:nvSpPr>
        <p:spPr>
          <a:xfrm>
            <a:off x="658368" y="1051560"/>
            <a:ext cx="9784080" cy="1417320"/>
          </a:xfrm>
          <a:prstGeom prst="rect">
            <a:avLst/>
          </a:prstGeom>
          <a:noFill/>
          <a:ln/>
        </p:spPr>
        <p:txBody>
          <a:bodyPr wrap="square" lIns="0" tIns="0" rIns="0" bIns="0" rtlCol="0" anchor="t">
            <a:normAutofit/>
          </a:bodyPr>
          <a:lstStyle/>
          <a:p>
            <a:pPr algn="l" indent="0" marL="0">
              <a:lnSpc>
                <a:spcPct val="92000"/>
              </a:lnSpc>
              <a:buNone/>
            </a:pPr>
            <a:r>
              <a:rPr lang="en-US" sz="3000" b="1" dirty="0">
                <a:solidFill>
                  <a:srgbClr val="FFFFFF"/>
                </a:solidFill>
                <a:latin typeface="Noto Sans CJK KR" pitchFamily="34" charset="0"/>
                <a:ea typeface="Noto Sans CJK KR" pitchFamily="34" charset="-122"/>
                <a:cs typeface="Noto Sans CJK KR" pitchFamily="34" charset="-120"/>
              </a:rPr>
              <a:t>사용자 통제형 AI 증거·절차 내비게이터</a:t>
            </a:r>
            <a:endParaRPr lang="en-US" sz="3000" dirty="0"/>
          </a:p>
        </p:txBody>
      </p:sp>
      <p:sp>
        <p:nvSpPr>
          <p:cNvPr id="4" name="Text 2"/>
          <p:cNvSpPr txBox="1"/>
          <p:nvPr/>
        </p:nvSpPr>
        <p:spPr>
          <a:xfrm>
            <a:off x="685800" y="2743200"/>
            <a:ext cx="8138160" cy="685800"/>
          </a:xfrm>
          <a:prstGeom prst="rect">
            <a:avLst/>
          </a:prstGeom>
          <a:noFill/>
          <a:ln/>
        </p:spPr>
        <p:txBody>
          <a:bodyPr wrap="square" lIns="0" tIns="0" rIns="0" bIns="0" rtlCol="0" anchor="t">
            <a:normAutofit/>
          </a:bodyPr>
          <a:lstStyle/>
          <a:p>
            <a:pPr algn="l" indent="0" marL="0">
              <a:lnSpc>
                <a:spcPct val="92000"/>
              </a:lnSpc>
              <a:buNone/>
            </a:pPr>
            <a:r>
              <a:rPr lang="en-US" sz="1700" dirty="0">
                <a:solidFill>
                  <a:srgbClr val="DCE5EE"/>
                </a:solidFill>
                <a:latin typeface="Noto Sans CJK KR" pitchFamily="34" charset="0"/>
                <a:ea typeface="Noto Sans CJK KR" pitchFamily="34" charset="-122"/>
                <a:cs typeface="Noto Sans CJK KR" pitchFamily="34" charset="-120"/>
              </a:rPr>
              <a:t>형사 신고 준비부터 민사 강제집행까지 단계별 절차 안내와 증거 관리를 지원한다.</a:t>
            </a:r>
            <a:endParaRPr lang="en-US" sz="1700" dirty="0"/>
          </a:p>
        </p:txBody>
      </p:sp>
      <p:sp>
        <p:nvSpPr>
          <p:cNvPr id="5" name="Shape 3"/>
          <p:cNvSpPr/>
          <p:nvPr/>
        </p:nvSpPr>
        <p:spPr>
          <a:xfrm>
            <a:off x="685800" y="4617720"/>
            <a:ext cx="10241280" cy="0"/>
          </a:xfrm>
          <a:prstGeom prst="line">
            <a:avLst/>
          </a:prstGeom>
          <a:noFill/>
          <a:ln w="29210">
            <a:solidFill>
              <a:srgbClr val="F96BEE"/>
            </a:solidFill>
            <a:prstDash val="solid"/>
            <a:tailEnd type="triangle"/>
          </a:ln>
        </p:spPr>
      </p:sp>
      <p:sp>
        <p:nvSpPr>
          <p:cNvPr id="6" name="Shape 4"/>
          <p:cNvSpPr/>
          <p:nvPr/>
        </p:nvSpPr>
        <p:spPr>
          <a:xfrm>
            <a:off x="685800" y="4480560"/>
            <a:ext cx="274320" cy="274320"/>
          </a:xfrm>
          <a:prstGeom prst="ellipse">
            <a:avLst/>
          </a:prstGeom>
          <a:solidFill>
            <a:srgbClr val="FFFFFF"/>
          </a:solidFill>
          <a:ln w="12700">
            <a:solidFill>
              <a:srgbClr val="FFFFFF"/>
            </a:solidFill>
            <a:prstDash val="solid"/>
          </a:ln>
        </p:spPr>
      </p:sp>
      <p:sp>
        <p:nvSpPr>
          <p:cNvPr id="7" name="Text 5"/>
          <p:cNvSpPr txBox="1"/>
          <p:nvPr/>
        </p:nvSpPr>
        <p:spPr>
          <a:xfrm>
            <a:off x="393192" y="4864608"/>
            <a:ext cx="868680" cy="320040"/>
          </a:xfrm>
          <a:prstGeom prst="rect">
            <a:avLst/>
          </a:prstGeom>
          <a:noFill/>
          <a:ln/>
        </p:spPr>
        <p:txBody>
          <a:bodyPr wrap="square" lIns="0" tIns="0" rIns="0" bIns="0" rtlCol="0" anchor="ctr">
            <a:normAutofit/>
          </a:bodyPr>
          <a:lstStyle/>
          <a:p>
            <a:pPr algn="ctr" indent="0" marL="0">
              <a:lnSpc>
                <a:spcPct val="92000"/>
              </a:lnSpc>
              <a:buNone/>
            </a:pPr>
            <a:r>
              <a:rPr lang="en-US" sz="1050" b="1" dirty="0">
                <a:solidFill>
                  <a:srgbClr val="FFFFFF"/>
                </a:solidFill>
                <a:latin typeface="Noto Sans CJK KR" pitchFamily="34" charset="0"/>
                <a:ea typeface="Noto Sans CJK KR" pitchFamily="34" charset="-122"/>
                <a:cs typeface="Noto Sans CJK KR" pitchFamily="34" charset="-120"/>
              </a:rPr>
              <a:t>형사 신고 준비</a:t>
            </a:r>
            <a:endParaRPr lang="en-US" sz="1050" dirty="0"/>
          </a:p>
        </p:txBody>
      </p:sp>
      <p:sp>
        <p:nvSpPr>
          <p:cNvPr id="8" name="Shape 6"/>
          <p:cNvSpPr/>
          <p:nvPr/>
        </p:nvSpPr>
        <p:spPr>
          <a:xfrm>
            <a:off x="2560320" y="4480560"/>
            <a:ext cx="274320" cy="274320"/>
          </a:xfrm>
          <a:prstGeom prst="ellipse">
            <a:avLst/>
          </a:prstGeom>
          <a:solidFill>
            <a:srgbClr val="FFFFFF"/>
          </a:solidFill>
          <a:ln w="12700">
            <a:solidFill>
              <a:srgbClr val="FFFFFF"/>
            </a:solidFill>
            <a:prstDash val="solid"/>
          </a:ln>
        </p:spPr>
      </p:sp>
      <p:sp>
        <p:nvSpPr>
          <p:cNvPr id="9" name="Text 7"/>
          <p:cNvSpPr txBox="1"/>
          <p:nvPr/>
        </p:nvSpPr>
        <p:spPr>
          <a:xfrm>
            <a:off x="2267712" y="4864608"/>
            <a:ext cx="868680" cy="320040"/>
          </a:xfrm>
          <a:prstGeom prst="rect">
            <a:avLst/>
          </a:prstGeom>
          <a:noFill/>
          <a:ln/>
        </p:spPr>
        <p:txBody>
          <a:bodyPr wrap="square" lIns="0" tIns="0" rIns="0" bIns="0" rtlCol="0" anchor="ctr">
            <a:normAutofit/>
          </a:bodyPr>
          <a:lstStyle/>
          <a:p>
            <a:pPr algn="ctr" indent="0" marL="0">
              <a:lnSpc>
                <a:spcPct val="92000"/>
              </a:lnSpc>
              <a:buNone/>
            </a:pPr>
            <a:r>
              <a:rPr lang="en-US" sz="1050" b="1" dirty="0">
                <a:solidFill>
                  <a:srgbClr val="FFFFFF"/>
                </a:solidFill>
                <a:latin typeface="Noto Sans CJK KR" pitchFamily="34" charset="0"/>
                <a:ea typeface="Noto Sans CJK KR" pitchFamily="34" charset="-122"/>
                <a:cs typeface="Noto Sans CJK KR" pitchFamily="34" charset="-120"/>
              </a:rPr>
              <a:t>집행권원 확보</a:t>
            </a:r>
            <a:endParaRPr lang="en-US" sz="1050" dirty="0"/>
          </a:p>
        </p:txBody>
      </p:sp>
      <p:sp>
        <p:nvSpPr>
          <p:cNvPr id="10" name="Shape 8"/>
          <p:cNvSpPr/>
          <p:nvPr/>
        </p:nvSpPr>
        <p:spPr>
          <a:xfrm>
            <a:off x="4434840" y="4480560"/>
            <a:ext cx="274320" cy="274320"/>
          </a:xfrm>
          <a:prstGeom prst="ellipse">
            <a:avLst/>
          </a:prstGeom>
          <a:solidFill>
            <a:srgbClr val="FFFFFF"/>
          </a:solidFill>
          <a:ln w="12700">
            <a:solidFill>
              <a:srgbClr val="FFFFFF"/>
            </a:solidFill>
            <a:prstDash val="solid"/>
          </a:ln>
        </p:spPr>
      </p:sp>
      <p:sp>
        <p:nvSpPr>
          <p:cNvPr id="11" name="Text 9"/>
          <p:cNvSpPr txBox="1"/>
          <p:nvPr/>
        </p:nvSpPr>
        <p:spPr>
          <a:xfrm>
            <a:off x="4142232" y="4864608"/>
            <a:ext cx="868680" cy="320040"/>
          </a:xfrm>
          <a:prstGeom prst="rect">
            <a:avLst/>
          </a:prstGeom>
          <a:noFill/>
          <a:ln/>
        </p:spPr>
        <p:txBody>
          <a:bodyPr wrap="square" lIns="0" tIns="0" rIns="0" bIns="0" rtlCol="0" anchor="ctr">
            <a:normAutofit/>
          </a:bodyPr>
          <a:lstStyle/>
          <a:p>
            <a:pPr algn="ctr" indent="0" marL="0">
              <a:lnSpc>
                <a:spcPct val="92000"/>
              </a:lnSpc>
              <a:buNone/>
            </a:pPr>
            <a:r>
              <a:rPr lang="en-US" sz="1050" b="1" dirty="0">
                <a:solidFill>
                  <a:srgbClr val="FFFFFF"/>
                </a:solidFill>
                <a:latin typeface="Noto Sans CJK KR" pitchFamily="34" charset="0"/>
                <a:ea typeface="Noto Sans CJK KR" pitchFamily="34" charset="-122"/>
                <a:cs typeface="Noto Sans CJK KR" pitchFamily="34" charset="-120"/>
              </a:rPr>
              <a:t>강제집행 추적</a:t>
            </a:r>
            <a:endParaRPr lang="en-US" sz="1050" dirty="0"/>
          </a:p>
        </p:txBody>
      </p:sp>
      <p:sp>
        <p:nvSpPr>
          <p:cNvPr id="12" name="Shape 10"/>
          <p:cNvSpPr/>
          <p:nvPr/>
        </p:nvSpPr>
        <p:spPr>
          <a:xfrm>
            <a:off x="6309360" y="4480560"/>
            <a:ext cx="274320" cy="274320"/>
          </a:xfrm>
          <a:prstGeom prst="ellipse">
            <a:avLst/>
          </a:prstGeom>
          <a:solidFill>
            <a:srgbClr val="FFFFFF"/>
          </a:solidFill>
          <a:ln w="12700">
            <a:solidFill>
              <a:srgbClr val="FFFFFF"/>
            </a:solidFill>
            <a:prstDash val="solid"/>
          </a:ln>
        </p:spPr>
      </p:sp>
      <p:sp>
        <p:nvSpPr>
          <p:cNvPr id="13" name="Text 11"/>
          <p:cNvSpPr txBox="1"/>
          <p:nvPr/>
        </p:nvSpPr>
        <p:spPr>
          <a:xfrm>
            <a:off x="6016752" y="4864608"/>
            <a:ext cx="868680" cy="320040"/>
          </a:xfrm>
          <a:prstGeom prst="rect">
            <a:avLst/>
          </a:prstGeom>
          <a:noFill/>
          <a:ln/>
        </p:spPr>
        <p:txBody>
          <a:bodyPr wrap="square" lIns="0" tIns="0" rIns="0" bIns="0" rtlCol="0" anchor="ctr">
            <a:normAutofit/>
          </a:bodyPr>
          <a:lstStyle/>
          <a:p>
            <a:pPr algn="ctr" indent="0" marL="0">
              <a:lnSpc>
                <a:spcPct val="92000"/>
              </a:lnSpc>
              <a:buNone/>
            </a:pPr>
            <a:r>
              <a:rPr lang="en-US" sz="1050" b="1" dirty="0">
                <a:solidFill>
                  <a:srgbClr val="FFFFFF"/>
                </a:solidFill>
                <a:latin typeface="Noto Sans CJK KR" pitchFamily="34" charset="0"/>
                <a:ea typeface="Noto Sans CJK KR" pitchFamily="34" charset="-122"/>
                <a:cs typeface="Noto Sans CJK KR" pitchFamily="34" charset="-120"/>
              </a:rPr>
              <a:t>사용자 통제</a:t>
            </a:r>
            <a:endParaRPr lang="en-US" sz="1050" dirty="0"/>
          </a:p>
        </p:txBody>
      </p:sp>
      <p:sp>
        <p:nvSpPr>
          <p:cNvPr id="14" name="Text 12"/>
          <p:cNvSpPr txBox="1"/>
          <p:nvPr/>
        </p:nvSpPr>
        <p:spPr>
          <a:xfrm>
            <a:off x="685800" y="5989320"/>
            <a:ext cx="4389120" cy="274320"/>
          </a:xfrm>
          <a:prstGeom prst="rect">
            <a:avLst/>
          </a:prstGeom>
          <a:noFill/>
          <a:ln/>
        </p:spPr>
        <p:txBody>
          <a:bodyPr wrap="square" lIns="0" tIns="0" rIns="0" bIns="0" rtlCol="0" anchor="ctr">
            <a:normAutofit/>
          </a:bodyPr>
          <a:lstStyle/>
          <a:p>
            <a:pPr algn="l" indent="0" marL="0">
              <a:lnSpc>
                <a:spcPct val="92000"/>
              </a:lnSpc>
              <a:buNone/>
            </a:pPr>
            <a:r>
              <a:rPr lang="en-US" sz="1200" dirty="0">
                <a:solidFill>
                  <a:srgbClr val="B9B9F9"/>
                </a:solidFill>
                <a:latin typeface="Noto Sans CJK KR" pitchFamily="34" charset="0"/>
                <a:ea typeface="Noto Sans CJK KR" pitchFamily="34" charset="-122"/>
                <a:cs typeface="Noto Sans CJK KR" pitchFamily="34" charset="-120"/>
              </a:rPr>
              <a:t>이태규</a:t>
            </a:r>
            <a:endParaRPr lang="en-US" sz="1200" dirty="0"/>
          </a:p>
        </p:txBody>
      </p:sp>
      <p:sp>
        <p:nvSpPr>
          <p:cNvPr id="15" name="Text 13"/>
          <p:cNvSpPr txBox="1"/>
          <p:nvPr/>
        </p:nvSpPr>
        <p:spPr>
          <a:xfrm>
            <a:off x="9875520" y="5989320"/>
            <a:ext cx="1417320" cy="274320"/>
          </a:xfrm>
          <a:prstGeom prst="rect">
            <a:avLst/>
          </a:prstGeom>
          <a:noFill/>
          <a:ln/>
        </p:spPr>
        <p:txBody>
          <a:bodyPr wrap="square" lIns="0" tIns="0" rIns="0" bIns="0" rtlCol="0" anchor="ctr">
            <a:normAutofit/>
          </a:bodyPr>
          <a:lstStyle/>
          <a:p>
            <a:pPr algn="r" indent="0" marL="0">
              <a:lnSpc>
                <a:spcPct val="92000"/>
              </a:lnSpc>
              <a:buNone/>
            </a:pPr>
            <a:r>
              <a:rPr lang="en-US" sz="1000" dirty="0">
                <a:solidFill>
                  <a:srgbClr val="B9B9F9"/>
                </a:solidFill>
                <a:latin typeface="Source Code Pro" pitchFamily="34" charset="0"/>
                <a:ea typeface="Source Code Pro" pitchFamily="34" charset="-122"/>
                <a:cs typeface="Source Code Pro" pitchFamily="34" charset="-120"/>
              </a:rPr>
              <a:t>2026.08.11</a:t>
            </a:r>
            <a:endParaRPr lang="en-US" sz="1000" dirty="0"/>
          </a:p>
        </p:txBody>
      </p:sp>
      <p:sp>
        <p:nvSpPr>
          <p:cNvPr id="16" name="Text 14"/>
          <p:cNvSpPr txBox="1"/>
          <p:nvPr/>
        </p:nvSpPr>
        <p:spPr>
          <a:xfrm>
            <a:off x="4754880" y="6291072"/>
            <a:ext cx="6903720" cy="182880"/>
          </a:xfrm>
          <a:prstGeom prst="rect">
            <a:avLst/>
          </a:prstGeom>
          <a:noFill/>
          <a:ln/>
        </p:spPr>
        <p:txBody>
          <a:bodyPr wrap="square" lIns="0" tIns="0" rIns="0" bIns="0" rtlCol="0" anchor="ctr">
            <a:normAutofit/>
          </a:bodyPr>
          <a:lstStyle/>
          <a:p>
            <a:pPr algn="r" indent="0" marL="0">
              <a:lnSpc>
                <a:spcPct val="92000"/>
              </a:lnSpc>
              <a:buNone/>
            </a:pPr>
            <a:r>
              <a:rPr lang="en-US" sz="900" dirty="0">
                <a:solidFill>
                  <a:srgbClr val="B9B9F9"/>
                </a:solidFill>
                <a:latin typeface="Source Code Pro" pitchFamily="34" charset="0"/>
                <a:ea typeface="Source Code Pro" pitchFamily="34" charset="-122"/>
                <a:cs typeface="Source Code Pro" pitchFamily="34" charset="-120"/>
              </a:rPr>
              <a:t>[S001] [S002] [S059] [S089]</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30352" y="310896"/>
            <a:ext cx="4389120" cy="210312"/>
          </a:xfrm>
          <a:prstGeom prst="rect">
            <a:avLst/>
          </a:prstGeom>
          <a:noFill/>
          <a:ln/>
        </p:spPr>
        <p:txBody>
          <a:bodyPr wrap="square" lIns="0" tIns="0" rIns="0" bIns="0" rtlCol="0" anchor="ctr">
            <a:normAutofit/>
          </a:bodyPr>
          <a:lstStyle/>
          <a:p>
            <a:pPr algn="l" indent="0" marL="0">
              <a:lnSpc>
                <a:spcPct val="92000"/>
              </a:lnSpc>
              <a:buNone/>
            </a:pPr>
            <a:r>
              <a:rPr lang="en-US" sz="900" b="1" spc="140" kern="0" dirty="0">
                <a:solidFill>
                  <a:srgbClr val="533AFD"/>
                </a:solidFill>
                <a:latin typeface="Source Code Pro" pitchFamily="34" charset="0"/>
                <a:ea typeface="Source Code Pro" pitchFamily="34" charset="-122"/>
                <a:cs typeface="Source Code Pro" pitchFamily="34" charset="-120"/>
              </a:rPr>
              <a:t>핵심 명제: 사후 구제의 절차적 단절</a:t>
            </a:r>
            <a:endParaRPr lang="en-US" sz="900" dirty="0"/>
          </a:p>
        </p:txBody>
      </p:sp>
      <p:sp>
        <p:nvSpPr>
          <p:cNvPr id="3" name="Text 1"/>
          <p:cNvSpPr txBox="1"/>
          <p:nvPr/>
        </p:nvSpPr>
        <p:spPr>
          <a:xfrm>
            <a:off x="530352" y="566928"/>
            <a:ext cx="11018520" cy="512064"/>
          </a:xfrm>
          <a:prstGeom prst="rect">
            <a:avLst/>
          </a:prstGeom>
          <a:noFill/>
          <a:ln/>
        </p:spPr>
        <p:txBody>
          <a:bodyPr wrap="square" lIns="0" tIns="0" rIns="0" bIns="0" rtlCol="0" anchor="ctr">
            <a:normAutofit/>
          </a:bodyPr>
          <a:lstStyle/>
          <a:p>
            <a:pPr algn="l" indent="0" marL="0">
              <a:lnSpc>
                <a:spcPct val="92000"/>
              </a:lnSpc>
              <a:buNone/>
            </a:pPr>
            <a:r>
              <a:rPr lang="en-US" sz="2400" b="1" dirty="0">
                <a:solidFill>
                  <a:srgbClr val="061B31"/>
                </a:solidFill>
                <a:latin typeface="Noto Sans CJK KR" pitchFamily="34" charset="0"/>
                <a:ea typeface="Noto Sans CJK KR" pitchFamily="34" charset="-122"/>
                <a:cs typeface="Noto Sans CJK KR" pitchFamily="34" charset="-120"/>
              </a:rPr>
              <a:t>구제 절차는 있다. 연결이 없다.</a:t>
            </a:r>
            <a:endParaRPr lang="en-US" sz="2400" dirty="0"/>
          </a:p>
        </p:txBody>
      </p:sp>
      <p:sp>
        <p:nvSpPr>
          <p:cNvPr id="4" name="Shape 2"/>
          <p:cNvSpPr/>
          <p:nvPr/>
        </p:nvSpPr>
        <p:spPr>
          <a:xfrm>
            <a:off x="530352" y="1124712"/>
            <a:ext cx="960120" cy="0"/>
          </a:xfrm>
          <a:prstGeom prst="line">
            <a:avLst/>
          </a:prstGeom>
          <a:noFill/>
          <a:ln w="38100">
            <a:solidFill>
              <a:srgbClr val="533AFD"/>
            </a:solidFill>
            <a:prstDash val="solid"/>
            <a:headEnd type="none"/>
            <a:tailEnd type="none"/>
          </a:ln>
        </p:spPr>
      </p:sp>
      <p:sp>
        <p:nvSpPr>
          <p:cNvPr id="5" name="Text 3"/>
          <p:cNvSpPr txBox="1"/>
          <p:nvPr/>
        </p:nvSpPr>
        <p:spPr>
          <a:xfrm>
            <a:off x="4754880" y="6291072"/>
            <a:ext cx="6903720" cy="182880"/>
          </a:xfrm>
          <a:prstGeom prst="rect">
            <a:avLst/>
          </a:prstGeom>
          <a:noFill/>
          <a:ln/>
        </p:spPr>
        <p:txBody>
          <a:bodyPr wrap="square" lIns="0" tIns="0" rIns="0" bIns="0" rtlCol="0" anchor="ctr">
            <a:normAutofit/>
          </a:bodyPr>
          <a:lstStyle/>
          <a:p>
            <a:pPr algn="r" indent="0" marL="0">
              <a:lnSpc>
                <a:spcPct val="92000"/>
              </a:lnSpc>
              <a:buNone/>
            </a:pPr>
            <a:r>
              <a:rPr lang="en-US" sz="900" dirty="0">
                <a:solidFill>
                  <a:srgbClr val="8A97A5"/>
                </a:solidFill>
                <a:latin typeface="Source Code Pro" pitchFamily="34" charset="0"/>
                <a:ea typeface="Source Code Pro" pitchFamily="34" charset="-122"/>
                <a:cs typeface="Source Code Pro" pitchFamily="34" charset="-120"/>
              </a:rPr>
              <a:t>[S001–S003] [S039] [S102]</a:t>
            </a:r>
            <a:endParaRPr lang="en-US" sz="900" dirty="0"/>
          </a:p>
        </p:txBody>
      </p:sp>
      <p:sp>
        <p:nvSpPr>
          <p:cNvPr id="6" name="Text 4"/>
          <p:cNvSpPr txBox="1"/>
          <p:nvPr/>
        </p:nvSpPr>
        <p:spPr>
          <a:xfrm>
            <a:off x="530352" y="1325880"/>
            <a:ext cx="11018520" cy="502920"/>
          </a:xfrm>
          <a:prstGeom prst="rect">
            <a:avLst/>
          </a:prstGeom>
          <a:noFill/>
          <a:ln/>
        </p:spPr>
        <p:txBody>
          <a:bodyPr wrap="square" lIns="0" tIns="0" rIns="0" bIns="0" rtlCol="0" anchor="t">
            <a:normAutofit/>
          </a:bodyPr>
          <a:lstStyle/>
          <a:p>
            <a:pPr algn="l" indent="0" marL="0">
              <a:lnSpc>
                <a:spcPct val="92000"/>
              </a:lnSpc>
              <a:buNone/>
            </a:pPr>
            <a:r>
              <a:rPr lang="en-US" sz="2000" b="1" dirty="0">
                <a:solidFill>
                  <a:srgbClr val="061B31"/>
                </a:solidFill>
                <a:latin typeface="Noto Sans CJK KR" pitchFamily="34" charset="0"/>
                <a:ea typeface="Noto Sans CJK KR" pitchFamily="34" charset="-122"/>
                <a:cs typeface="Noto Sans CJK KR" pitchFamily="34" charset="-120"/>
              </a:rPr>
              <a:t>형사 절차만으로 피해금이 자동 환급되지 않으며 배상명령이나 별도 민사집행 연결이 필요하다.</a:t>
            </a:r>
            <a:endParaRPr lang="en-US" sz="2000" dirty="0"/>
          </a:p>
        </p:txBody>
      </p:sp>
      <p:sp>
        <p:nvSpPr>
          <p:cNvPr id="7" name="Shape 5"/>
          <p:cNvSpPr/>
          <p:nvPr/>
        </p:nvSpPr>
        <p:spPr>
          <a:xfrm>
            <a:off x="530352" y="2148840"/>
            <a:ext cx="2523744" cy="1965960"/>
          </a:xfrm>
          <a:prstGeom prst="roundRect">
            <a:avLst>
              <a:gd name="adj" fmla="val 2791"/>
            </a:avLst>
          </a:prstGeom>
          <a:solidFill>
            <a:srgbClr val="FFFFFF"/>
          </a:solidFill>
          <a:ln w="10160">
            <a:solidFill>
              <a:srgbClr val="DCE5EE"/>
            </a:solidFill>
            <a:prstDash val="solid"/>
          </a:ln>
        </p:spPr>
      </p:sp>
      <p:sp>
        <p:nvSpPr>
          <p:cNvPr id="8" name="Shape 6"/>
          <p:cNvSpPr/>
          <p:nvPr/>
        </p:nvSpPr>
        <p:spPr>
          <a:xfrm>
            <a:off x="530352" y="2148840"/>
            <a:ext cx="2523744" cy="0"/>
          </a:xfrm>
          <a:prstGeom prst="line">
            <a:avLst/>
          </a:prstGeom>
          <a:noFill/>
          <a:ln w="38100">
            <a:solidFill>
              <a:srgbClr val="533AFD"/>
            </a:solidFill>
            <a:prstDash val="solid"/>
            <a:headEnd type="none"/>
            <a:tailEnd type="none"/>
          </a:ln>
        </p:spPr>
      </p:sp>
      <p:sp>
        <p:nvSpPr>
          <p:cNvPr id="9" name="Text 7"/>
          <p:cNvSpPr txBox="1"/>
          <p:nvPr/>
        </p:nvSpPr>
        <p:spPr>
          <a:xfrm>
            <a:off x="713232" y="2295144"/>
            <a:ext cx="2157984"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사기·민사 구별</a:t>
            </a:r>
            <a:endParaRPr lang="en-US" sz="1400" dirty="0"/>
          </a:p>
        </p:txBody>
      </p:sp>
      <p:sp>
        <p:nvSpPr>
          <p:cNvPr id="10" name="Text 8"/>
          <p:cNvSpPr txBox="1"/>
          <p:nvPr/>
        </p:nvSpPr>
        <p:spPr>
          <a:xfrm>
            <a:off x="713232" y="2660904"/>
            <a:ext cx="2157984" cy="1307592"/>
          </a:xfrm>
          <a:prstGeom prst="rect">
            <a:avLst/>
          </a:prstGeom>
          <a:noFill/>
          <a:ln/>
        </p:spPr>
        <p:txBody>
          <a:bodyPr wrap="square" lIns="0" tIns="0" rIns="0" bIns="0" rtlCol="0" anchor="t">
            <a:normAutofit/>
          </a:bodyPr>
          <a:lstStyle/>
          <a:p>
            <a:pPr algn="l" indent="0" marL="0">
              <a:lnSpc>
                <a:spcPct val="92000"/>
              </a:lnSpc>
              <a:buNone/>
            </a:pPr>
            <a:r>
              <a:rPr lang="en-US" sz="1250" dirty="0">
                <a:solidFill>
                  <a:srgbClr val="526274"/>
                </a:solidFill>
                <a:latin typeface="Noto Sans CJK KR" pitchFamily="34" charset="0"/>
                <a:ea typeface="Noto Sans CJK KR" pitchFamily="34" charset="-122"/>
                <a:cs typeface="Noto Sans CJK KR" pitchFamily="34" charset="-120"/>
              </a:rPr>
              <a:t>형사 절차 자체는 피해금의 자동 환급을 미보장</a:t>
            </a:r>
            <a:endParaRPr lang="en-US" sz="1250" dirty="0"/>
          </a:p>
        </p:txBody>
      </p:sp>
      <p:sp>
        <p:nvSpPr>
          <p:cNvPr id="11" name="Shape 9"/>
          <p:cNvSpPr/>
          <p:nvPr/>
        </p:nvSpPr>
        <p:spPr>
          <a:xfrm>
            <a:off x="3346704" y="2148840"/>
            <a:ext cx="2523744" cy="1965960"/>
          </a:xfrm>
          <a:prstGeom prst="roundRect">
            <a:avLst>
              <a:gd name="adj" fmla="val 2791"/>
            </a:avLst>
          </a:prstGeom>
          <a:solidFill>
            <a:srgbClr val="FFFFFF"/>
          </a:solidFill>
          <a:ln w="10160">
            <a:solidFill>
              <a:srgbClr val="DCE5EE"/>
            </a:solidFill>
            <a:prstDash val="solid"/>
          </a:ln>
        </p:spPr>
      </p:sp>
      <p:sp>
        <p:nvSpPr>
          <p:cNvPr id="12" name="Shape 10"/>
          <p:cNvSpPr/>
          <p:nvPr/>
        </p:nvSpPr>
        <p:spPr>
          <a:xfrm>
            <a:off x="3346704" y="2148840"/>
            <a:ext cx="2523744" cy="0"/>
          </a:xfrm>
          <a:prstGeom prst="line">
            <a:avLst/>
          </a:prstGeom>
          <a:noFill/>
          <a:ln w="38100">
            <a:solidFill>
              <a:srgbClr val="A66712"/>
            </a:solidFill>
            <a:prstDash val="solid"/>
            <a:headEnd type="none"/>
            <a:tailEnd type="none"/>
          </a:ln>
        </p:spPr>
      </p:sp>
      <p:sp>
        <p:nvSpPr>
          <p:cNvPr id="13" name="Text 11"/>
          <p:cNvSpPr txBox="1"/>
          <p:nvPr/>
        </p:nvSpPr>
        <p:spPr>
          <a:xfrm>
            <a:off x="3529584" y="2295144"/>
            <a:ext cx="2157984"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증거 무결성</a:t>
            </a:r>
            <a:endParaRPr lang="en-US" sz="1400" dirty="0"/>
          </a:p>
        </p:txBody>
      </p:sp>
      <p:sp>
        <p:nvSpPr>
          <p:cNvPr id="14" name="Text 12"/>
          <p:cNvSpPr txBox="1"/>
          <p:nvPr/>
        </p:nvSpPr>
        <p:spPr>
          <a:xfrm>
            <a:off x="3529584" y="2660904"/>
            <a:ext cx="2157984" cy="1307592"/>
          </a:xfrm>
          <a:prstGeom prst="rect">
            <a:avLst/>
          </a:prstGeom>
          <a:noFill/>
          <a:ln/>
        </p:spPr>
        <p:txBody>
          <a:bodyPr wrap="square" lIns="0" tIns="0" rIns="0" bIns="0" rtlCol="0" anchor="t">
            <a:normAutofit/>
          </a:bodyPr>
          <a:lstStyle/>
          <a:p>
            <a:pPr algn="l" indent="0" marL="0">
              <a:lnSpc>
                <a:spcPct val="92000"/>
              </a:lnSpc>
              <a:buNone/>
            </a:pPr>
            <a:r>
              <a:rPr lang="en-US" sz="1250" dirty="0">
                <a:solidFill>
                  <a:srgbClr val="526274"/>
                </a:solidFill>
                <a:latin typeface="Noto Sans CJK KR" pitchFamily="34" charset="0"/>
                <a:ea typeface="Noto Sans CJK KR" pitchFamily="34" charset="-122"/>
                <a:cs typeface="Noto Sans CJK KR" pitchFamily="34" charset="-120"/>
              </a:rPr>
              <a:t>배상명령 또는 별도 민사 소송 및 강제집행 필요</a:t>
            </a:r>
            <a:endParaRPr lang="en-US" sz="1250" dirty="0"/>
          </a:p>
        </p:txBody>
      </p:sp>
      <p:sp>
        <p:nvSpPr>
          <p:cNvPr id="15" name="Shape 13"/>
          <p:cNvSpPr/>
          <p:nvPr/>
        </p:nvSpPr>
        <p:spPr>
          <a:xfrm>
            <a:off x="6163056" y="2148840"/>
            <a:ext cx="2523744" cy="1965960"/>
          </a:xfrm>
          <a:prstGeom prst="roundRect">
            <a:avLst>
              <a:gd name="adj" fmla="val 2791"/>
            </a:avLst>
          </a:prstGeom>
          <a:solidFill>
            <a:srgbClr val="FFFFFF"/>
          </a:solidFill>
          <a:ln w="10160">
            <a:solidFill>
              <a:srgbClr val="DCE5EE"/>
            </a:solidFill>
            <a:prstDash val="solid"/>
          </a:ln>
        </p:spPr>
      </p:sp>
      <p:sp>
        <p:nvSpPr>
          <p:cNvPr id="16" name="Shape 14"/>
          <p:cNvSpPr/>
          <p:nvPr/>
        </p:nvSpPr>
        <p:spPr>
          <a:xfrm>
            <a:off x="6163056" y="2148840"/>
            <a:ext cx="2523744" cy="0"/>
          </a:xfrm>
          <a:prstGeom prst="line">
            <a:avLst/>
          </a:prstGeom>
          <a:noFill/>
          <a:ln w="38100">
            <a:solidFill>
              <a:srgbClr val="C73555"/>
            </a:solidFill>
            <a:prstDash val="solid"/>
            <a:headEnd type="none"/>
            <a:tailEnd type="none"/>
          </a:ln>
        </p:spPr>
      </p:sp>
      <p:sp>
        <p:nvSpPr>
          <p:cNvPr id="17" name="Text 15"/>
          <p:cNvSpPr txBox="1"/>
          <p:nvPr/>
        </p:nvSpPr>
        <p:spPr>
          <a:xfrm>
            <a:off x="6345936" y="2295144"/>
            <a:ext cx="2157984"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공공 관문 파편화</a:t>
            </a:r>
            <a:endParaRPr lang="en-US" sz="1400" dirty="0"/>
          </a:p>
        </p:txBody>
      </p:sp>
      <p:sp>
        <p:nvSpPr>
          <p:cNvPr id="18" name="Text 16"/>
          <p:cNvSpPr txBox="1"/>
          <p:nvPr/>
        </p:nvSpPr>
        <p:spPr>
          <a:xfrm>
            <a:off x="6345936" y="2660904"/>
            <a:ext cx="2157984" cy="1307592"/>
          </a:xfrm>
          <a:prstGeom prst="rect">
            <a:avLst/>
          </a:prstGeom>
          <a:noFill/>
          <a:ln/>
        </p:spPr>
        <p:txBody>
          <a:bodyPr wrap="square" lIns="0" tIns="0" rIns="0" bIns="0" rtlCol="0" anchor="t">
            <a:normAutofit/>
          </a:bodyPr>
          <a:lstStyle/>
          <a:p>
            <a:pPr algn="l" indent="0" marL="0">
              <a:lnSpc>
                <a:spcPct val="92000"/>
              </a:lnSpc>
              <a:buNone/>
            </a:pPr>
            <a:r>
              <a:rPr lang="en-US" sz="1250" dirty="0">
                <a:solidFill>
                  <a:srgbClr val="526274"/>
                </a:solidFill>
                <a:latin typeface="Noto Sans CJK KR" pitchFamily="34" charset="0"/>
                <a:ea typeface="Noto Sans CJK KR" pitchFamily="34" charset="-122"/>
                <a:cs typeface="Noto Sans CJK KR" pitchFamily="34" charset="-120"/>
              </a:rPr>
              <a:t>집행권원 확보 후에도 채무자 무자력 위험 상존</a:t>
            </a:r>
            <a:endParaRPr lang="en-US" sz="1250" dirty="0"/>
          </a:p>
        </p:txBody>
      </p:sp>
      <p:sp>
        <p:nvSpPr>
          <p:cNvPr id="19" name="Shape 17"/>
          <p:cNvSpPr/>
          <p:nvPr/>
        </p:nvSpPr>
        <p:spPr>
          <a:xfrm>
            <a:off x="8979408" y="2148840"/>
            <a:ext cx="2523744" cy="1965960"/>
          </a:xfrm>
          <a:prstGeom prst="roundRect">
            <a:avLst>
              <a:gd name="adj" fmla="val 2791"/>
            </a:avLst>
          </a:prstGeom>
          <a:solidFill>
            <a:srgbClr val="FFFFFF"/>
          </a:solidFill>
          <a:ln w="10160">
            <a:solidFill>
              <a:srgbClr val="DCE5EE"/>
            </a:solidFill>
            <a:prstDash val="solid"/>
          </a:ln>
        </p:spPr>
      </p:sp>
      <p:sp>
        <p:nvSpPr>
          <p:cNvPr id="20" name="Shape 18"/>
          <p:cNvSpPr/>
          <p:nvPr/>
        </p:nvSpPr>
        <p:spPr>
          <a:xfrm>
            <a:off x="8979408" y="2148840"/>
            <a:ext cx="2523744" cy="0"/>
          </a:xfrm>
          <a:prstGeom prst="line">
            <a:avLst/>
          </a:prstGeom>
          <a:noFill/>
          <a:ln w="38100">
            <a:solidFill>
              <a:srgbClr val="168A52"/>
            </a:solidFill>
            <a:prstDash val="solid"/>
            <a:headEnd type="none"/>
            <a:tailEnd type="none"/>
          </a:ln>
        </p:spPr>
      </p:sp>
      <p:sp>
        <p:nvSpPr>
          <p:cNvPr id="21" name="Text 19"/>
          <p:cNvSpPr txBox="1"/>
          <p:nvPr/>
        </p:nvSpPr>
        <p:spPr>
          <a:xfrm>
            <a:off x="9162288" y="2295144"/>
            <a:ext cx="2157984"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집행권원·회수 분리</a:t>
            </a:r>
            <a:endParaRPr lang="en-US" sz="1400" dirty="0"/>
          </a:p>
        </p:txBody>
      </p:sp>
      <p:sp>
        <p:nvSpPr>
          <p:cNvPr id="25" name="Slide Number Placeholder 0"/>
          <p:cNvSpPr>
            <a:spLocks noGrp="1"/>
          </p:cNvSpPr>
          <p:nvPr>
            <p:ph type="sldNum" sz="quarter" idx="4294967295"/>
          </p:nvPr>
        </p:nvSpPr>
        <p:spPr>
          <a:xfrm>
            <a:off x="530352" y="6556248"/>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8A97A5"/>
                </a:solidFill>
                <a:latin typeface="Source Code Pro"/>
                <a:ea typeface="Source Code Pro"/>
                <a:cs typeface="Source Code Pro"/>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30352" y="310896"/>
            <a:ext cx="4389120" cy="210312"/>
          </a:xfrm>
          <a:prstGeom prst="rect">
            <a:avLst/>
          </a:prstGeom>
          <a:noFill/>
          <a:ln/>
        </p:spPr>
        <p:txBody>
          <a:bodyPr wrap="square" lIns="0" tIns="0" rIns="0" bIns="0" rtlCol="0" anchor="ctr">
            <a:normAutofit/>
          </a:bodyPr>
          <a:lstStyle/>
          <a:p>
            <a:pPr algn="l" indent="0" marL="0">
              <a:lnSpc>
                <a:spcPct val="92000"/>
              </a:lnSpc>
              <a:buNone/>
            </a:pPr>
            <a:r>
              <a:rPr lang="en-US" sz="900" b="1" spc="140" kern="0" dirty="0">
                <a:solidFill>
                  <a:srgbClr val="533AFD"/>
                </a:solidFill>
                <a:latin typeface="Source Code Pro" pitchFamily="34" charset="0"/>
                <a:ea typeface="Source Code Pro" pitchFamily="34" charset="-122"/>
                <a:cs typeface="Source Code Pro" pitchFamily="34" charset="-120"/>
              </a:rPr>
              <a:t>공공 통계의 실증적 규모와 해석의 한계</a:t>
            </a:r>
            <a:endParaRPr lang="en-US" sz="900" dirty="0"/>
          </a:p>
        </p:txBody>
      </p:sp>
      <p:sp>
        <p:nvSpPr>
          <p:cNvPr id="3" name="Text 1"/>
          <p:cNvSpPr txBox="1"/>
          <p:nvPr/>
        </p:nvSpPr>
        <p:spPr>
          <a:xfrm>
            <a:off x="530352" y="566928"/>
            <a:ext cx="11018520" cy="512064"/>
          </a:xfrm>
          <a:prstGeom prst="rect">
            <a:avLst/>
          </a:prstGeom>
          <a:noFill/>
          <a:ln/>
        </p:spPr>
        <p:txBody>
          <a:bodyPr wrap="square" lIns="0" tIns="0" rIns="0" bIns="0" rtlCol="0" anchor="ctr">
            <a:normAutofit/>
          </a:bodyPr>
          <a:lstStyle/>
          <a:p>
            <a:pPr algn="l" indent="0" marL="0">
              <a:lnSpc>
                <a:spcPct val="92000"/>
              </a:lnSpc>
              <a:buNone/>
            </a:pPr>
            <a:r>
              <a:rPr lang="en-US" sz="2400" b="1" dirty="0">
                <a:solidFill>
                  <a:srgbClr val="061B31"/>
                </a:solidFill>
                <a:latin typeface="Noto Sans CJK KR" pitchFamily="34" charset="0"/>
                <a:ea typeface="Noto Sans CJK KR" pitchFamily="34" charset="-122"/>
                <a:cs typeface="Noto Sans CJK KR" pitchFamily="34" charset="-120"/>
              </a:rPr>
              <a:t>100,539건이 말하는 것과 말하지 않는 것</a:t>
            </a:r>
            <a:endParaRPr lang="en-US" sz="2400" dirty="0"/>
          </a:p>
        </p:txBody>
      </p:sp>
      <p:sp>
        <p:nvSpPr>
          <p:cNvPr id="4" name="Shape 2"/>
          <p:cNvSpPr/>
          <p:nvPr/>
        </p:nvSpPr>
        <p:spPr>
          <a:xfrm>
            <a:off x="530352" y="1124712"/>
            <a:ext cx="960120" cy="0"/>
          </a:xfrm>
          <a:prstGeom prst="line">
            <a:avLst/>
          </a:prstGeom>
          <a:noFill/>
          <a:ln w="38100">
            <a:solidFill>
              <a:srgbClr val="533AFD"/>
            </a:solidFill>
            <a:prstDash val="solid"/>
            <a:headEnd type="none"/>
            <a:tailEnd type="none"/>
          </a:ln>
        </p:spPr>
      </p:sp>
      <p:sp>
        <p:nvSpPr>
          <p:cNvPr id="5" name="Text 3"/>
          <p:cNvSpPr txBox="1"/>
          <p:nvPr/>
        </p:nvSpPr>
        <p:spPr>
          <a:xfrm>
            <a:off x="4754880" y="6291072"/>
            <a:ext cx="6903720" cy="182880"/>
          </a:xfrm>
          <a:prstGeom prst="rect">
            <a:avLst/>
          </a:prstGeom>
          <a:noFill/>
          <a:ln/>
        </p:spPr>
        <p:txBody>
          <a:bodyPr wrap="square" lIns="0" tIns="0" rIns="0" bIns="0" rtlCol="0" anchor="ctr">
            <a:normAutofit/>
          </a:bodyPr>
          <a:lstStyle/>
          <a:p>
            <a:pPr algn="r" indent="0" marL="0">
              <a:lnSpc>
                <a:spcPct val="92000"/>
              </a:lnSpc>
              <a:buNone/>
            </a:pPr>
            <a:r>
              <a:rPr lang="en-US" sz="900" dirty="0">
                <a:solidFill>
                  <a:srgbClr val="8A97A5"/>
                </a:solidFill>
                <a:latin typeface="Source Code Pro" pitchFamily="34" charset="0"/>
                <a:ea typeface="Source Code Pro" pitchFamily="34" charset="-122"/>
                <a:cs typeface="Source Code Pro" pitchFamily="34" charset="-120"/>
              </a:rPr>
              <a:t>[S041] [S051] [S062]</a:t>
            </a:r>
            <a:endParaRPr lang="en-US" sz="900" dirty="0"/>
          </a:p>
        </p:txBody>
      </p:sp>
      <p:sp>
        <p:nvSpPr>
          <p:cNvPr id="6" name="Text 4"/>
          <p:cNvSpPr txBox="1"/>
          <p:nvPr/>
        </p:nvSpPr>
        <p:spPr>
          <a:xfrm>
            <a:off x="530352" y="1325880"/>
            <a:ext cx="11018520" cy="502920"/>
          </a:xfrm>
          <a:prstGeom prst="rect">
            <a:avLst/>
          </a:prstGeom>
          <a:noFill/>
          <a:ln/>
        </p:spPr>
        <p:txBody>
          <a:bodyPr wrap="square" lIns="0" tIns="0" rIns="0" bIns="0" rtlCol="0" anchor="t">
            <a:normAutofit/>
          </a:bodyPr>
          <a:lstStyle/>
          <a:p>
            <a:pPr algn="l" indent="0" marL="0">
              <a:lnSpc>
                <a:spcPct val="92000"/>
              </a:lnSpc>
              <a:buNone/>
            </a:pPr>
            <a:r>
              <a:rPr lang="en-US" sz="2000" b="1" dirty="0">
                <a:solidFill>
                  <a:srgbClr val="061B31"/>
                </a:solidFill>
                <a:latin typeface="Noto Sans CJK KR" pitchFamily="34" charset="0"/>
                <a:ea typeface="Noto Sans CJK KR" pitchFamily="34" charset="-122"/>
                <a:cs typeface="Noto Sans CJK KR" pitchFamily="34" charset="-120"/>
              </a:rPr>
              <a:t>100,539건은 경찰청 사이버사기 발생 집계이며 피해액이나 회수율을 직접 증명하지 않는다.</a:t>
            </a:r>
            <a:endParaRPr lang="en-US" sz="2000" dirty="0"/>
          </a:p>
        </p:txBody>
      </p:sp>
      <p:sp>
        <p:nvSpPr>
          <p:cNvPr id="7" name="Shape 5"/>
          <p:cNvSpPr/>
          <p:nvPr/>
        </p:nvSpPr>
        <p:spPr>
          <a:xfrm>
            <a:off x="530352" y="2011680"/>
            <a:ext cx="3931920" cy="3429000"/>
          </a:xfrm>
          <a:prstGeom prst="roundRect">
            <a:avLst>
              <a:gd name="adj" fmla="val 1600"/>
            </a:avLst>
          </a:prstGeom>
          <a:solidFill>
            <a:srgbClr val="1C1E54"/>
          </a:solidFill>
          <a:ln w="10160">
            <a:solidFill>
              <a:srgbClr val="1C1E54"/>
            </a:solidFill>
            <a:prstDash val="solid"/>
          </a:ln>
        </p:spPr>
      </p:sp>
      <p:sp>
        <p:nvSpPr>
          <p:cNvPr id="8" name="Text 6"/>
          <p:cNvSpPr txBox="1"/>
          <p:nvPr/>
        </p:nvSpPr>
        <p:spPr>
          <a:xfrm>
            <a:off x="777240" y="2423160"/>
            <a:ext cx="3429000" cy="1143000"/>
          </a:xfrm>
          <a:prstGeom prst="rect">
            <a:avLst/>
          </a:prstGeom>
          <a:noFill/>
          <a:ln/>
        </p:spPr>
        <p:txBody>
          <a:bodyPr wrap="square" lIns="0" tIns="0" rIns="0" bIns="0" rtlCol="0" anchor="ctr">
            <a:normAutofit/>
          </a:bodyPr>
          <a:lstStyle/>
          <a:p>
            <a:pPr algn="ctr" indent="0" marL="0">
              <a:lnSpc>
                <a:spcPct val="92000"/>
              </a:lnSpc>
              <a:buNone/>
            </a:pPr>
            <a:r>
              <a:rPr lang="en-US" sz="3400" b="1" dirty="0">
                <a:solidFill>
                  <a:srgbClr val="FFFFFF"/>
                </a:solidFill>
                <a:latin typeface="Source Code Pro" pitchFamily="34" charset="0"/>
                <a:ea typeface="Source Code Pro" pitchFamily="34" charset="-122"/>
                <a:cs typeface="Source Code Pro" pitchFamily="34" charset="-120"/>
              </a:rPr>
              <a:t>100,539건</a:t>
            </a:r>
            <a:endParaRPr lang="en-US" sz="3400" dirty="0"/>
          </a:p>
        </p:txBody>
      </p:sp>
      <p:sp>
        <p:nvSpPr>
          <p:cNvPr id="9" name="Text 7"/>
          <p:cNvSpPr txBox="1"/>
          <p:nvPr/>
        </p:nvSpPr>
        <p:spPr>
          <a:xfrm>
            <a:off x="868680" y="3703320"/>
            <a:ext cx="3246120" cy="640080"/>
          </a:xfrm>
          <a:prstGeom prst="rect">
            <a:avLst/>
          </a:prstGeom>
          <a:noFill/>
          <a:ln/>
        </p:spPr>
        <p:txBody>
          <a:bodyPr wrap="square" lIns="0" tIns="0" rIns="0" bIns="0" rtlCol="0" anchor="ctr">
            <a:normAutofit/>
          </a:bodyPr>
          <a:lstStyle/>
          <a:p>
            <a:pPr algn="ctr" indent="0" marL="0">
              <a:lnSpc>
                <a:spcPct val="92000"/>
              </a:lnSpc>
              <a:buNone/>
            </a:pPr>
            <a:r>
              <a:rPr lang="en-US" sz="1400" b="1" dirty="0">
                <a:solidFill>
                  <a:srgbClr val="DCE5EE"/>
                </a:solidFill>
                <a:latin typeface="Noto Sans CJK KR" pitchFamily="34" charset="0"/>
                <a:ea typeface="Noto Sans CJK KR" pitchFamily="34" charset="-122"/>
                <a:cs typeface="Noto Sans CJK KR" pitchFamily="34" charset="-120"/>
              </a:rPr>
              <a:t>경찰청 발생건수</a:t>
            </a:r>
            <a:endParaRPr lang="en-US" sz="1400" dirty="0"/>
          </a:p>
        </p:txBody>
      </p:sp>
      <p:sp>
        <p:nvSpPr>
          <p:cNvPr id="10" name="Text 8"/>
          <p:cNvSpPr txBox="1"/>
          <p:nvPr/>
        </p:nvSpPr>
        <p:spPr>
          <a:xfrm>
            <a:off x="960120" y="4617720"/>
            <a:ext cx="3063240" cy="411480"/>
          </a:xfrm>
          <a:prstGeom prst="rect">
            <a:avLst/>
          </a:prstGeom>
          <a:noFill/>
          <a:ln/>
        </p:spPr>
        <p:txBody>
          <a:bodyPr wrap="square" lIns="0" tIns="0" rIns="0" bIns="0" rtlCol="0" anchor="ctr">
            <a:normAutofit/>
          </a:bodyPr>
          <a:lstStyle/>
          <a:p>
            <a:pPr algn="ctr" indent="0" marL="0">
              <a:lnSpc>
                <a:spcPct val="92000"/>
              </a:lnSpc>
              <a:buNone/>
            </a:pPr>
            <a:r>
              <a:rPr lang="en-US" sz="1100" dirty="0">
                <a:solidFill>
                  <a:srgbClr val="F6B9C8"/>
                </a:solidFill>
                <a:latin typeface="Noto Sans CJK KR" pitchFamily="34" charset="0"/>
                <a:ea typeface="Noto Sans CJK KR" pitchFamily="34" charset="-122"/>
                <a:cs typeface="Noto Sans CJK KR" pitchFamily="34" charset="-120"/>
              </a:rPr>
              <a:t>통계해석 주의</a:t>
            </a:r>
            <a:endParaRPr lang="en-US" sz="1100" dirty="0"/>
          </a:p>
        </p:txBody>
      </p:sp>
      <p:sp>
        <p:nvSpPr>
          <p:cNvPr id="11" name="Shape 9"/>
          <p:cNvSpPr/>
          <p:nvPr/>
        </p:nvSpPr>
        <p:spPr>
          <a:xfrm>
            <a:off x="4983480" y="2286000"/>
            <a:ext cx="82296" cy="82296"/>
          </a:xfrm>
          <a:prstGeom prst="ellipse">
            <a:avLst/>
          </a:prstGeom>
          <a:solidFill>
            <a:srgbClr val="533AFD"/>
          </a:solidFill>
          <a:ln w="12700">
            <a:solidFill>
              <a:srgbClr val="533AFD"/>
            </a:solidFill>
            <a:prstDash val="solid"/>
          </a:ln>
        </p:spPr>
      </p:sp>
      <p:sp>
        <p:nvSpPr>
          <p:cNvPr id="12" name="Text 10"/>
          <p:cNvSpPr txBox="1"/>
          <p:nvPr/>
        </p:nvSpPr>
        <p:spPr>
          <a:xfrm>
            <a:off x="5166360" y="2148840"/>
            <a:ext cx="5897880" cy="975360"/>
          </a:xfrm>
          <a:prstGeom prst="rect">
            <a:avLst/>
          </a:prstGeom>
          <a:noFill/>
          <a:ln/>
        </p:spPr>
        <p:txBody>
          <a:bodyPr wrap="square" lIns="0" tIns="0" rIns="0" bIns="0" rtlCol="0" anchor="ctr">
            <a:normAutofit/>
          </a:bodyPr>
          <a:lstStyle/>
          <a:p>
            <a:pPr algn="l" indent="0" marL="0">
              <a:lnSpc>
                <a:spcPct val="92000"/>
              </a:lnSpc>
              <a:buNone/>
            </a:pPr>
            <a:r>
              <a:rPr lang="en-US" sz="1450" dirty="0">
                <a:solidFill>
                  <a:srgbClr val="526274"/>
                </a:solidFill>
                <a:latin typeface="Noto Sans CJK KR" pitchFamily="34" charset="0"/>
                <a:ea typeface="Noto Sans CJK KR" pitchFamily="34" charset="-122"/>
                <a:cs typeface="Noto Sans CJK KR" pitchFamily="34" charset="-120"/>
              </a:rPr>
              <a:t>100,539건은 2024년 경찰청 사이버사기 발생 건수</a:t>
            </a:r>
            <a:endParaRPr lang="en-US" sz="1450" dirty="0"/>
          </a:p>
        </p:txBody>
      </p:sp>
      <p:sp>
        <p:nvSpPr>
          <p:cNvPr id="13" name="Shape 11"/>
          <p:cNvSpPr/>
          <p:nvPr/>
        </p:nvSpPr>
        <p:spPr>
          <a:xfrm>
            <a:off x="4983480" y="3261360"/>
            <a:ext cx="82296" cy="82296"/>
          </a:xfrm>
          <a:prstGeom prst="ellipse">
            <a:avLst/>
          </a:prstGeom>
          <a:solidFill>
            <a:srgbClr val="533AFD"/>
          </a:solidFill>
          <a:ln w="12700">
            <a:solidFill>
              <a:srgbClr val="533AFD"/>
            </a:solidFill>
            <a:prstDash val="solid"/>
          </a:ln>
        </p:spPr>
      </p:sp>
      <p:sp>
        <p:nvSpPr>
          <p:cNvPr id="14" name="Text 12"/>
          <p:cNvSpPr txBox="1"/>
          <p:nvPr/>
        </p:nvSpPr>
        <p:spPr>
          <a:xfrm>
            <a:off x="5166360" y="3124200"/>
            <a:ext cx="5897880" cy="975360"/>
          </a:xfrm>
          <a:prstGeom prst="rect">
            <a:avLst/>
          </a:prstGeom>
          <a:noFill/>
          <a:ln/>
        </p:spPr>
        <p:txBody>
          <a:bodyPr wrap="square" lIns="0" tIns="0" rIns="0" bIns="0" rtlCol="0" anchor="ctr">
            <a:normAutofit/>
          </a:bodyPr>
          <a:lstStyle/>
          <a:p>
            <a:pPr algn="l" indent="0" marL="0">
              <a:lnSpc>
                <a:spcPct val="92000"/>
              </a:lnSpc>
              <a:buNone/>
            </a:pPr>
            <a:r>
              <a:rPr lang="en-US" sz="1450" dirty="0">
                <a:solidFill>
                  <a:srgbClr val="526274"/>
                </a:solidFill>
                <a:latin typeface="Noto Sans CJK KR" pitchFamily="34" charset="0"/>
                <a:ea typeface="Noto Sans CJK KR" pitchFamily="34" charset="-122"/>
                <a:cs typeface="Noto Sans CJK KR" pitchFamily="34" charset="-120"/>
              </a:rPr>
              <a:t>2024년 신종 유형이 추가되어 전년 총계 비교 해석에 주의</a:t>
            </a:r>
            <a:endParaRPr lang="en-US" sz="1450" dirty="0"/>
          </a:p>
        </p:txBody>
      </p:sp>
      <p:sp>
        <p:nvSpPr>
          <p:cNvPr id="15" name="Shape 13"/>
          <p:cNvSpPr/>
          <p:nvPr/>
        </p:nvSpPr>
        <p:spPr>
          <a:xfrm>
            <a:off x="4983480" y="4236720"/>
            <a:ext cx="82296" cy="82296"/>
          </a:xfrm>
          <a:prstGeom prst="ellipse">
            <a:avLst/>
          </a:prstGeom>
          <a:solidFill>
            <a:srgbClr val="533AFD"/>
          </a:solidFill>
          <a:ln w="12700">
            <a:solidFill>
              <a:srgbClr val="533AFD"/>
            </a:solidFill>
            <a:prstDash val="solid"/>
          </a:ln>
        </p:spPr>
      </p:sp>
      <p:sp>
        <p:nvSpPr>
          <p:cNvPr id="16" name="Text 14"/>
          <p:cNvSpPr txBox="1"/>
          <p:nvPr/>
        </p:nvSpPr>
        <p:spPr>
          <a:xfrm>
            <a:off x="5166360" y="4099560"/>
            <a:ext cx="5897880" cy="975360"/>
          </a:xfrm>
          <a:prstGeom prst="rect">
            <a:avLst/>
          </a:prstGeom>
          <a:noFill/>
          <a:ln/>
        </p:spPr>
        <p:txBody>
          <a:bodyPr wrap="square" lIns="0" tIns="0" rIns="0" bIns="0" rtlCol="0" anchor="ctr">
            <a:normAutofit/>
          </a:bodyPr>
          <a:lstStyle/>
          <a:p>
            <a:pPr algn="l" indent="0" marL="0">
              <a:lnSpc>
                <a:spcPct val="92000"/>
              </a:lnSpc>
              <a:buNone/>
            </a:pPr>
            <a:r>
              <a:rPr lang="en-US" sz="1450" dirty="0">
                <a:solidFill>
                  <a:srgbClr val="526274"/>
                </a:solidFill>
                <a:latin typeface="Noto Sans CJK KR" pitchFamily="34" charset="0"/>
                <a:ea typeface="Noto Sans CJK KR" pitchFamily="34" charset="-122"/>
                <a:cs typeface="Noto Sans CJK KR" pitchFamily="34" charset="-120"/>
              </a:rPr>
              <a:t>자율분쟁조정 82건은 사기 피해 규모 대용치 불가</a:t>
            </a:r>
            <a:endParaRPr lang="en-US" sz="1450" dirty="0"/>
          </a:p>
        </p:txBody>
      </p:sp>
      <p:sp>
        <p:nvSpPr>
          <p:cNvPr id="25" name="Slide Number Placeholder 0"/>
          <p:cNvSpPr>
            <a:spLocks noGrp="1"/>
          </p:cNvSpPr>
          <p:nvPr>
            <p:ph type="sldNum" sz="quarter" idx="4294967295"/>
          </p:nvPr>
        </p:nvSpPr>
        <p:spPr>
          <a:xfrm>
            <a:off x="530352" y="6556248"/>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8A97A5"/>
                </a:solidFill>
                <a:latin typeface="Source Code Pro"/>
                <a:ea typeface="Source Code Pro"/>
                <a:cs typeface="Source Code Pro"/>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30352" y="310896"/>
            <a:ext cx="4389120" cy="210312"/>
          </a:xfrm>
          <a:prstGeom prst="rect">
            <a:avLst/>
          </a:prstGeom>
          <a:noFill/>
          <a:ln/>
        </p:spPr>
        <p:txBody>
          <a:bodyPr wrap="square" lIns="0" tIns="0" rIns="0" bIns="0" rtlCol="0" anchor="ctr">
            <a:normAutofit/>
          </a:bodyPr>
          <a:lstStyle/>
          <a:p>
            <a:pPr algn="l" indent="0" marL="0">
              <a:lnSpc>
                <a:spcPct val="92000"/>
              </a:lnSpc>
              <a:buNone/>
            </a:pPr>
            <a:r>
              <a:rPr lang="en-US" sz="900" b="1" spc="140" kern="0" dirty="0">
                <a:solidFill>
                  <a:srgbClr val="533AFD"/>
                </a:solidFill>
                <a:latin typeface="Source Code Pro" pitchFamily="34" charset="0"/>
                <a:ea typeface="Source Code Pro" pitchFamily="34" charset="-122"/>
                <a:cs typeface="Source Code Pro" pitchFamily="34" charset="-120"/>
              </a:rPr>
              <a:t>초기 분류 및 법적 라우팅 기준</a:t>
            </a:r>
            <a:endParaRPr lang="en-US" sz="900" dirty="0"/>
          </a:p>
        </p:txBody>
      </p:sp>
      <p:sp>
        <p:nvSpPr>
          <p:cNvPr id="3" name="Text 1"/>
          <p:cNvSpPr txBox="1"/>
          <p:nvPr/>
        </p:nvSpPr>
        <p:spPr>
          <a:xfrm>
            <a:off x="530352" y="566928"/>
            <a:ext cx="11018520" cy="512064"/>
          </a:xfrm>
          <a:prstGeom prst="rect">
            <a:avLst/>
          </a:prstGeom>
          <a:noFill/>
          <a:ln/>
        </p:spPr>
        <p:txBody>
          <a:bodyPr wrap="square" lIns="0" tIns="0" rIns="0" bIns="0" rtlCol="0" anchor="ctr">
            <a:normAutofit/>
          </a:bodyPr>
          <a:lstStyle/>
          <a:p>
            <a:pPr algn="l" indent="0" marL="0">
              <a:lnSpc>
                <a:spcPct val="92000"/>
              </a:lnSpc>
              <a:buNone/>
            </a:pPr>
            <a:r>
              <a:rPr lang="en-US" sz="2400" b="1" dirty="0">
                <a:solidFill>
                  <a:srgbClr val="061B31"/>
                </a:solidFill>
                <a:latin typeface="Noto Sans CJK KR" pitchFamily="34" charset="0"/>
                <a:ea typeface="Noto Sans CJK KR" pitchFamily="34" charset="-122"/>
                <a:cs typeface="Noto Sans CJK KR" pitchFamily="34" charset="-120"/>
              </a:rPr>
              <a:t>첫 관문은 ‘사기’ 판정이 아니라 사실 분류다</a:t>
            </a:r>
            <a:endParaRPr lang="en-US" sz="2400" dirty="0"/>
          </a:p>
        </p:txBody>
      </p:sp>
      <p:sp>
        <p:nvSpPr>
          <p:cNvPr id="4" name="Shape 2"/>
          <p:cNvSpPr/>
          <p:nvPr/>
        </p:nvSpPr>
        <p:spPr>
          <a:xfrm>
            <a:off x="530352" y="1124712"/>
            <a:ext cx="960120" cy="0"/>
          </a:xfrm>
          <a:prstGeom prst="line">
            <a:avLst/>
          </a:prstGeom>
          <a:noFill/>
          <a:ln w="38100">
            <a:solidFill>
              <a:srgbClr val="533AFD"/>
            </a:solidFill>
            <a:prstDash val="solid"/>
            <a:headEnd type="none"/>
            <a:tailEnd type="none"/>
          </a:ln>
        </p:spPr>
      </p:sp>
      <p:sp>
        <p:nvSpPr>
          <p:cNvPr id="5" name="Text 3"/>
          <p:cNvSpPr txBox="1"/>
          <p:nvPr/>
        </p:nvSpPr>
        <p:spPr>
          <a:xfrm>
            <a:off x="4754880" y="6291072"/>
            <a:ext cx="6903720" cy="182880"/>
          </a:xfrm>
          <a:prstGeom prst="rect">
            <a:avLst/>
          </a:prstGeom>
          <a:noFill/>
          <a:ln/>
        </p:spPr>
        <p:txBody>
          <a:bodyPr wrap="square" lIns="0" tIns="0" rIns="0" bIns="0" rtlCol="0" anchor="ctr">
            <a:normAutofit/>
          </a:bodyPr>
          <a:lstStyle/>
          <a:p>
            <a:pPr algn="r" indent="0" marL="0">
              <a:lnSpc>
                <a:spcPct val="92000"/>
              </a:lnSpc>
              <a:buNone/>
            </a:pPr>
            <a:r>
              <a:rPr lang="en-US" sz="900" dirty="0">
                <a:solidFill>
                  <a:srgbClr val="8A97A5"/>
                </a:solidFill>
                <a:latin typeface="Source Code Pro" pitchFamily="34" charset="0"/>
                <a:ea typeface="Source Code Pro" pitchFamily="34" charset="-122"/>
                <a:cs typeface="Source Code Pro" pitchFamily="34" charset="-120"/>
              </a:rPr>
              <a:t>[S059] [S088] [S097] [S098]</a:t>
            </a:r>
            <a:endParaRPr lang="en-US" sz="900" dirty="0"/>
          </a:p>
        </p:txBody>
      </p:sp>
      <p:sp>
        <p:nvSpPr>
          <p:cNvPr id="6" name="Text 4"/>
          <p:cNvSpPr txBox="1"/>
          <p:nvPr/>
        </p:nvSpPr>
        <p:spPr>
          <a:xfrm>
            <a:off x="530352" y="1325880"/>
            <a:ext cx="11018520" cy="502920"/>
          </a:xfrm>
          <a:prstGeom prst="rect">
            <a:avLst/>
          </a:prstGeom>
          <a:noFill/>
          <a:ln/>
        </p:spPr>
        <p:txBody>
          <a:bodyPr wrap="square" lIns="0" tIns="0" rIns="0" bIns="0" rtlCol="0" anchor="t">
            <a:normAutofit/>
          </a:bodyPr>
          <a:lstStyle/>
          <a:p>
            <a:pPr algn="l" indent="0" marL="0">
              <a:lnSpc>
                <a:spcPct val="92000"/>
              </a:lnSpc>
              <a:buNone/>
            </a:pPr>
            <a:r>
              <a:rPr lang="en-US" sz="2000" b="1" dirty="0">
                <a:solidFill>
                  <a:srgbClr val="061B31"/>
                </a:solidFill>
                <a:latin typeface="Noto Sans CJK KR" pitchFamily="34" charset="0"/>
                <a:ea typeface="Noto Sans CJK KR" pitchFamily="34" charset="-122"/>
                <a:cs typeface="Noto Sans CJK KR" pitchFamily="34" charset="-120"/>
              </a:rPr>
              <a:t>단순 미배송만으로 사기가 성립하지 않으며 순수 C2C 조건은 7일 청약철회가 적용되지 않는다.</a:t>
            </a:r>
            <a:endParaRPr lang="en-US" sz="2000" dirty="0"/>
          </a:p>
        </p:txBody>
      </p:sp>
      <p:sp>
        <p:nvSpPr>
          <p:cNvPr id="7" name="Shape 5"/>
          <p:cNvSpPr/>
          <p:nvPr/>
        </p:nvSpPr>
        <p:spPr>
          <a:xfrm>
            <a:off x="2260397" y="2697480"/>
            <a:ext cx="7640726" cy="0"/>
          </a:xfrm>
          <a:prstGeom prst="line">
            <a:avLst/>
          </a:prstGeom>
          <a:noFill/>
          <a:ln w="29210">
            <a:solidFill>
              <a:srgbClr val="533AFD"/>
            </a:solidFill>
            <a:prstDash val="solid"/>
            <a:tailEnd type="triangle"/>
          </a:ln>
        </p:spPr>
      </p:sp>
      <p:sp>
        <p:nvSpPr>
          <p:cNvPr id="8" name="Shape 6"/>
          <p:cNvSpPr/>
          <p:nvPr/>
        </p:nvSpPr>
        <p:spPr>
          <a:xfrm>
            <a:off x="685800" y="2240280"/>
            <a:ext cx="3499104" cy="914400"/>
          </a:xfrm>
          <a:prstGeom prst="roundRect">
            <a:avLst>
              <a:gd name="adj" fmla="val 6000"/>
            </a:avLst>
          </a:prstGeom>
          <a:solidFill>
            <a:srgbClr val="E9E7FF"/>
          </a:solidFill>
          <a:ln w="10160">
            <a:solidFill>
              <a:srgbClr val="533AFD"/>
            </a:solidFill>
            <a:prstDash val="solid"/>
          </a:ln>
        </p:spPr>
      </p:sp>
      <p:sp>
        <p:nvSpPr>
          <p:cNvPr id="9" name="Text 7"/>
          <p:cNvSpPr txBox="1"/>
          <p:nvPr/>
        </p:nvSpPr>
        <p:spPr>
          <a:xfrm>
            <a:off x="777240" y="2313432"/>
            <a:ext cx="3316224" cy="137160"/>
          </a:xfrm>
          <a:prstGeom prst="rect">
            <a:avLst/>
          </a:prstGeom>
          <a:noFill/>
          <a:ln/>
        </p:spPr>
        <p:txBody>
          <a:bodyPr wrap="square" lIns="0" tIns="0" rIns="0" bIns="0" rtlCol="0" anchor="ctr">
            <a:normAutofit/>
          </a:bodyPr>
          <a:lstStyle/>
          <a:p>
            <a:pPr algn="l" indent="0" marL="0">
              <a:lnSpc>
                <a:spcPct val="92000"/>
              </a:lnSpc>
              <a:buNone/>
            </a:pPr>
            <a:r>
              <a:rPr lang="en-US" sz="750" dirty="0">
                <a:solidFill>
                  <a:srgbClr val="533AFD"/>
                </a:solidFill>
                <a:latin typeface="Source Code Pro" pitchFamily="34" charset="0"/>
                <a:ea typeface="Source Code Pro" pitchFamily="34" charset="-122"/>
                <a:cs typeface="Source Code Pro" pitchFamily="34" charset="-120"/>
              </a:rPr>
              <a:t>01</a:t>
            </a:r>
            <a:endParaRPr lang="en-US" sz="750" dirty="0"/>
          </a:p>
        </p:txBody>
      </p:sp>
      <p:sp>
        <p:nvSpPr>
          <p:cNvPr id="10" name="Text 8"/>
          <p:cNvSpPr txBox="1"/>
          <p:nvPr/>
        </p:nvSpPr>
        <p:spPr>
          <a:xfrm>
            <a:off x="777240" y="2459736"/>
            <a:ext cx="3316224" cy="658368"/>
          </a:xfrm>
          <a:prstGeom prst="rect">
            <a:avLst/>
          </a:prstGeom>
          <a:noFill/>
          <a:ln/>
        </p:spPr>
        <p:txBody>
          <a:bodyPr wrap="square" lIns="0" tIns="0" rIns="0" bIns="0" rtlCol="0" anchor="ctr">
            <a:normAutofit/>
          </a:bodyPr>
          <a:lstStyle/>
          <a:p>
            <a:pPr algn="ctr" indent="0" marL="0">
              <a:lnSpc>
                <a:spcPct val="92000"/>
              </a:lnSpc>
              <a:buNone/>
            </a:pPr>
            <a:r>
              <a:rPr lang="en-US" sz="1200" b="1" dirty="0">
                <a:solidFill>
                  <a:srgbClr val="061B31"/>
                </a:solidFill>
                <a:latin typeface="Noto Sans CJK KR" pitchFamily="34" charset="0"/>
                <a:ea typeface="Noto Sans CJK KR" pitchFamily="34" charset="-122"/>
                <a:cs typeface="Noto Sans CJK KR" pitchFamily="34" charset="-120"/>
              </a:rPr>
              <a:t>통신판매업자</a:t>
            </a:r>
            <a:endParaRPr lang="en-US" sz="1200" dirty="0"/>
          </a:p>
        </p:txBody>
      </p:sp>
      <p:sp>
        <p:nvSpPr>
          <p:cNvPr id="11" name="Shape 9"/>
          <p:cNvSpPr/>
          <p:nvPr/>
        </p:nvSpPr>
        <p:spPr>
          <a:xfrm>
            <a:off x="4331208" y="2240280"/>
            <a:ext cx="3499104" cy="914400"/>
          </a:xfrm>
          <a:prstGeom prst="roundRect">
            <a:avLst>
              <a:gd name="adj" fmla="val 6000"/>
            </a:avLst>
          </a:prstGeom>
          <a:solidFill>
            <a:srgbClr val="FFFFFF"/>
          </a:solidFill>
          <a:ln w="10160">
            <a:solidFill>
              <a:srgbClr val="DCE5EE"/>
            </a:solidFill>
            <a:prstDash val="solid"/>
          </a:ln>
        </p:spPr>
      </p:sp>
      <p:sp>
        <p:nvSpPr>
          <p:cNvPr id="12" name="Text 10"/>
          <p:cNvSpPr txBox="1"/>
          <p:nvPr/>
        </p:nvSpPr>
        <p:spPr>
          <a:xfrm>
            <a:off x="4422648" y="2313432"/>
            <a:ext cx="3316224" cy="137160"/>
          </a:xfrm>
          <a:prstGeom prst="rect">
            <a:avLst/>
          </a:prstGeom>
          <a:noFill/>
          <a:ln/>
        </p:spPr>
        <p:txBody>
          <a:bodyPr wrap="square" lIns="0" tIns="0" rIns="0" bIns="0" rtlCol="0" anchor="ctr">
            <a:normAutofit/>
          </a:bodyPr>
          <a:lstStyle/>
          <a:p>
            <a:pPr algn="l" indent="0" marL="0">
              <a:lnSpc>
                <a:spcPct val="92000"/>
              </a:lnSpc>
              <a:buNone/>
            </a:pPr>
            <a:r>
              <a:rPr lang="en-US" sz="750" dirty="0">
                <a:solidFill>
                  <a:srgbClr val="533AFD"/>
                </a:solidFill>
                <a:latin typeface="Source Code Pro" pitchFamily="34" charset="0"/>
                <a:ea typeface="Source Code Pro" pitchFamily="34" charset="-122"/>
                <a:cs typeface="Source Code Pro" pitchFamily="34" charset="-120"/>
              </a:rPr>
              <a:t>02</a:t>
            </a:r>
            <a:endParaRPr lang="en-US" sz="750" dirty="0"/>
          </a:p>
        </p:txBody>
      </p:sp>
      <p:sp>
        <p:nvSpPr>
          <p:cNvPr id="13" name="Text 11"/>
          <p:cNvSpPr txBox="1"/>
          <p:nvPr/>
        </p:nvSpPr>
        <p:spPr>
          <a:xfrm>
            <a:off x="4422648" y="2459736"/>
            <a:ext cx="3316224" cy="658368"/>
          </a:xfrm>
          <a:prstGeom prst="rect">
            <a:avLst/>
          </a:prstGeom>
          <a:noFill/>
          <a:ln/>
        </p:spPr>
        <p:txBody>
          <a:bodyPr wrap="square" lIns="0" tIns="0" rIns="0" bIns="0" rtlCol="0" anchor="ctr">
            <a:normAutofit/>
          </a:bodyPr>
          <a:lstStyle/>
          <a:p>
            <a:pPr algn="ctr" indent="0" marL="0">
              <a:lnSpc>
                <a:spcPct val="92000"/>
              </a:lnSpc>
              <a:buNone/>
            </a:pPr>
            <a:r>
              <a:rPr lang="en-US" sz="1200" b="1" dirty="0">
                <a:solidFill>
                  <a:srgbClr val="061B31"/>
                </a:solidFill>
                <a:latin typeface="Noto Sans CJK KR" pitchFamily="34" charset="0"/>
                <a:ea typeface="Noto Sans CJK KR" pitchFamily="34" charset="-122"/>
                <a:cs typeface="Noto Sans CJK KR" pitchFamily="34" charset="-120"/>
              </a:rPr>
              <a:t>자율분쟁조정</a:t>
            </a:r>
            <a:endParaRPr lang="en-US" sz="1200" dirty="0"/>
          </a:p>
        </p:txBody>
      </p:sp>
      <p:sp>
        <p:nvSpPr>
          <p:cNvPr id="14" name="Shape 12"/>
          <p:cNvSpPr/>
          <p:nvPr/>
        </p:nvSpPr>
        <p:spPr>
          <a:xfrm>
            <a:off x="7976616" y="2240280"/>
            <a:ext cx="3499104" cy="914400"/>
          </a:xfrm>
          <a:prstGeom prst="roundRect">
            <a:avLst>
              <a:gd name="adj" fmla="val 6000"/>
            </a:avLst>
          </a:prstGeom>
          <a:solidFill>
            <a:srgbClr val="FFFFFF"/>
          </a:solidFill>
          <a:ln w="10160">
            <a:solidFill>
              <a:srgbClr val="DCE5EE"/>
            </a:solidFill>
            <a:prstDash val="solid"/>
          </a:ln>
        </p:spPr>
      </p:sp>
      <p:sp>
        <p:nvSpPr>
          <p:cNvPr id="15" name="Text 13"/>
          <p:cNvSpPr txBox="1"/>
          <p:nvPr/>
        </p:nvSpPr>
        <p:spPr>
          <a:xfrm>
            <a:off x="8068056" y="2313432"/>
            <a:ext cx="3316224" cy="137160"/>
          </a:xfrm>
          <a:prstGeom prst="rect">
            <a:avLst/>
          </a:prstGeom>
          <a:noFill/>
          <a:ln/>
        </p:spPr>
        <p:txBody>
          <a:bodyPr wrap="square" lIns="0" tIns="0" rIns="0" bIns="0" rtlCol="0" anchor="ctr">
            <a:normAutofit/>
          </a:bodyPr>
          <a:lstStyle/>
          <a:p>
            <a:pPr algn="l" indent="0" marL="0">
              <a:lnSpc>
                <a:spcPct val="92000"/>
              </a:lnSpc>
              <a:buNone/>
            </a:pPr>
            <a:r>
              <a:rPr lang="en-US" sz="750" dirty="0">
                <a:solidFill>
                  <a:srgbClr val="533AFD"/>
                </a:solidFill>
                <a:latin typeface="Source Code Pro" pitchFamily="34" charset="0"/>
                <a:ea typeface="Source Code Pro" pitchFamily="34" charset="-122"/>
                <a:cs typeface="Source Code Pro" pitchFamily="34" charset="-120"/>
              </a:rPr>
              <a:t>03</a:t>
            </a:r>
            <a:endParaRPr lang="en-US" sz="750" dirty="0"/>
          </a:p>
        </p:txBody>
      </p:sp>
      <p:sp>
        <p:nvSpPr>
          <p:cNvPr id="16" name="Text 14"/>
          <p:cNvSpPr txBox="1"/>
          <p:nvPr/>
        </p:nvSpPr>
        <p:spPr>
          <a:xfrm>
            <a:off x="8068056" y="2459736"/>
            <a:ext cx="3316224" cy="658368"/>
          </a:xfrm>
          <a:prstGeom prst="rect">
            <a:avLst/>
          </a:prstGeom>
          <a:noFill/>
          <a:ln/>
        </p:spPr>
        <p:txBody>
          <a:bodyPr wrap="square" lIns="0" tIns="0" rIns="0" bIns="0" rtlCol="0" anchor="ctr">
            <a:normAutofit/>
          </a:bodyPr>
          <a:lstStyle/>
          <a:p>
            <a:pPr algn="ctr" indent="0" marL="0">
              <a:lnSpc>
                <a:spcPct val="92000"/>
              </a:lnSpc>
              <a:buNone/>
            </a:pPr>
            <a:r>
              <a:rPr lang="en-US" sz="1200" b="1" dirty="0">
                <a:solidFill>
                  <a:srgbClr val="061B31"/>
                </a:solidFill>
                <a:latin typeface="Noto Sans CJK KR" pitchFamily="34" charset="0"/>
                <a:ea typeface="Noto Sans CJK KR" pitchFamily="34" charset="-122"/>
                <a:cs typeface="Noto Sans CJK KR" pitchFamily="34" charset="-120"/>
              </a:rPr>
              <a:t>편취고의 확인</a:t>
            </a:r>
            <a:endParaRPr lang="en-US" sz="1200" dirty="0"/>
          </a:p>
        </p:txBody>
      </p:sp>
      <p:sp>
        <p:nvSpPr>
          <p:cNvPr id="17" name="Shape 15"/>
          <p:cNvSpPr/>
          <p:nvPr/>
        </p:nvSpPr>
        <p:spPr>
          <a:xfrm>
            <a:off x="960120" y="3931920"/>
            <a:ext cx="82296" cy="82296"/>
          </a:xfrm>
          <a:prstGeom prst="ellipse">
            <a:avLst/>
          </a:prstGeom>
          <a:solidFill>
            <a:srgbClr val="533AFD"/>
          </a:solidFill>
          <a:ln w="12700">
            <a:solidFill>
              <a:srgbClr val="533AFD"/>
            </a:solidFill>
            <a:prstDash val="solid"/>
          </a:ln>
        </p:spPr>
      </p:sp>
      <p:sp>
        <p:nvSpPr>
          <p:cNvPr id="18" name="Text 16"/>
          <p:cNvSpPr txBox="1"/>
          <p:nvPr/>
        </p:nvSpPr>
        <p:spPr>
          <a:xfrm>
            <a:off x="1143000" y="3794760"/>
            <a:ext cx="9966960" cy="502920"/>
          </a:xfrm>
          <a:prstGeom prst="rect">
            <a:avLst/>
          </a:prstGeom>
          <a:noFill/>
          <a:ln/>
        </p:spPr>
        <p:txBody>
          <a:bodyPr wrap="square" lIns="0" tIns="0" rIns="0" bIns="0" rtlCol="0" anchor="ctr">
            <a:normAutofit/>
          </a:bodyPr>
          <a:lstStyle/>
          <a:p>
            <a:pPr algn="l" indent="0" marL="0">
              <a:lnSpc>
                <a:spcPct val="92000"/>
              </a:lnSpc>
              <a:buNone/>
            </a:pPr>
            <a:r>
              <a:rPr lang="en-US" sz="1400" dirty="0">
                <a:solidFill>
                  <a:srgbClr val="526274"/>
                </a:solidFill>
                <a:latin typeface="Noto Sans CJK KR" pitchFamily="34" charset="0"/>
                <a:ea typeface="Noto Sans CJK KR" pitchFamily="34" charset="-122"/>
                <a:cs typeface="Noto Sans CJK KR" pitchFamily="34" charset="-120"/>
              </a:rPr>
              <a:t>미배송만으로 사기 확정 불가, 거래 당시 편취 범의 입증 필요</a:t>
            </a:r>
            <a:endParaRPr lang="en-US" sz="1400" dirty="0"/>
          </a:p>
        </p:txBody>
      </p:sp>
      <p:sp>
        <p:nvSpPr>
          <p:cNvPr id="19" name="Shape 17"/>
          <p:cNvSpPr/>
          <p:nvPr/>
        </p:nvSpPr>
        <p:spPr>
          <a:xfrm>
            <a:off x="960120" y="4434840"/>
            <a:ext cx="82296" cy="82296"/>
          </a:xfrm>
          <a:prstGeom prst="ellipse">
            <a:avLst/>
          </a:prstGeom>
          <a:solidFill>
            <a:srgbClr val="533AFD"/>
          </a:solidFill>
          <a:ln w="12700">
            <a:solidFill>
              <a:srgbClr val="533AFD"/>
            </a:solidFill>
            <a:prstDash val="solid"/>
          </a:ln>
        </p:spPr>
      </p:sp>
      <p:sp>
        <p:nvSpPr>
          <p:cNvPr id="20" name="Text 18"/>
          <p:cNvSpPr txBox="1"/>
          <p:nvPr/>
        </p:nvSpPr>
        <p:spPr>
          <a:xfrm>
            <a:off x="1143000" y="4297680"/>
            <a:ext cx="9966960" cy="502920"/>
          </a:xfrm>
          <a:prstGeom prst="rect">
            <a:avLst/>
          </a:prstGeom>
          <a:noFill/>
          <a:ln/>
        </p:spPr>
        <p:txBody>
          <a:bodyPr wrap="square" lIns="0" tIns="0" rIns="0" bIns="0" rtlCol="0" anchor="ctr">
            <a:normAutofit/>
          </a:bodyPr>
          <a:lstStyle/>
          <a:p>
            <a:pPr algn="l" indent="0" marL="0">
              <a:lnSpc>
                <a:spcPct val="92000"/>
              </a:lnSpc>
              <a:buNone/>
            </a:pPr>
            <a:r>
              <a:rPr lang="en-US" sz="1400" dirty="0">
                <a:solidFill>
                  <a:srgbClr val="526274"/>
                </a:solidFill>
                <a:latin typeface="Noto Sans CJK KR" pitchFamily="34" charset="0"/>
                <a:ea typeface="Noto Sans CJK KR" pitchFamily="34" charset="-122"/>
                <a:cs typeface="Noto Sans CJK KR" pitchFamily="34" charset="-120"/>
              </a:rPr>
              <a:t>순수 C2C 거래 조건 시 7일 청약철회권 자동 적용 없음</a:t>
            </a:r>
            <a:endParaRPr lang="en-US" sz="1400" dirty="0"/>
          </a:p>
        </p:txBody>
      </p:sp>
      <p:sp>
        <p:nvSpPr>
          <p:cNvPr id="21" name="Shape 19"/>
          <p:cNvSpPr/>
          <p:nvPr/>
        </p:nvSpPr>
        <p:spPr>
          <a:xfrm>
            <a:off x="960120" y="4937760"/>
            <a:ext cx="82296" cy="82296"/>
          </a:xfrm>
          <a:prstGeom prst="ellipse">
            <a:avLst/>
          </a:prstGeom>
          <a:solidFill>
            <a:srgbClr val="533AFD"/>
          </a:solidFill>
          <a:ln w="12700">
            <a:solidFill>
              <a:srgbClr val="533AFD"/>
            </a:solidFill>
            <a:prstDash val="solid"/>
          </a:ln>
        </p:spPr>
      </p:sp>
      <p:sp>
        <p:nvSpPr>
          <p:cNvPr id="22" name="Text 20"/>
          <p:cNvSpPr txBox="1"/>
          <p:nvPr/>
        </p:nvSpPr>
        <p:spPr>
          <a:xfrm>
            <a:off x="1143000" y="4800600"/>
            <a:ext cx="9966960" cy="502920"/>
          </a:xfrm>
          <a:prstGeom prst="rect">
            <a:avLst/>
          </a:prstGeom>
          <a:noFill/>
          <a:ln/>
        </p:spPr>
        <p:txBody>
          <a:bodyPr wrap="square" lIns="0" tIns="0" rIns="0" bIns="0" rtlCol="0" anchor="ctr">
            <a:normAutofit/>
          </a:bodyPr>
          <a:lstStyle/>
          <a:p>
            <a:pPr algn="l" indent="0" marL="0">
              <a:lnSpc>
                <a:spcPct val="92000"/>
              </a:lnSpc>
              <a:buNone/>
            </a:pPr>
            <a:r>
              <a:rPr lang="en-US" sz="1400" dirty="0">
                <a:solidFill>
                  <a:srgbClr val="526274"/>
                </a:solidFill>
                <a:latin typeface="Noto Sans CJK KR" pitchFamily="34" charset="0"/>
                <a:ea typeface="Noto Sans CJK KR" pitchFamily="34" charset="-122"/>
                <a:cs typeface="Noto Sans CJK KR" pitchFamily="34" charset="-120"/>
              </a:rPr>
              <a:t>일반 재화 사기는 피싱 특례법상 지급정지 대상 제외</a:t>
            </a:r>
            <a:endParaRPr lang="en-US" sz="1400" dirty="0"/>
          </a:p>
        </p:txBody>
      </p:sp>
      <p:sp>
        <p:nvSpPr>
          <p:cNvPr id="25" name="Slide Number Placeholder 0"/>
          <p:cNvSpPr>
            <a:spLocks noGrp="1"/>
          </p:cNvSpPr>
          <p:nvPr>
            <p:ph type="sldNum" sz="quarter" idx="4294967295"/>
          </p:nvPr>
        </p:nvSpPr>
        <p:spPr>
          <a:xfrm>
            <a:off x="530352" y="6556248"/>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8A97A5"/>
                </a:solidFill>
                <a:latin typeface="Source Code Pro"/>
                <a:ea typeface="Source Code Pro"/>
                <a:cs typeface="Source Code Pro"/>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30352" y="310896"/>
            <a:ext cx="4389120" cy="210312"/>
          </a:xfrm>
          <a:prstGeom prst="rect">
            <a:avLst/>
          </a:prstGeom>
          <a:noFill/>
          <a:ln/>
        </p:spPr>
        <p:txBody>
          <a:bodyPr wrap="square" lIns="0" tIns="0" rIns="0" bIns="0" rtlCol="0" anchor="ctr">
            <a:normAutofit/>
          </a:bodyPr>
          <a:lstStyle/>
          <a:p>
            <a:pPr algn="l" indent="0" marL="0">
              <a:lnSpc>
                <a:spcPct val="92000"/>
              </a:lnSpc>
              <a:buNone/>
            </a:pPr>
            <a:r>
              <a:rPr lang="en-US" sz="900" b="1" spc="140" kern="0" dirty="0">
                <a:solidFill>
                  <a:srgbClr val="533AFD"/>
                </a:solidFill>
                <a:latin typeface="Source Code Pro" pitchFamily="34" charset="0"/>
                <a:ea typeface="Source Code Pro" pitchFamily="34" charset="-122"/>
                <a:cs typeface="Source Code Pro" pitchFamily="34" charset="-120"/>
              </a:rPr>
              <a:t>Section 2. 사후 구제 로드맵</a:t>
            </a:r>
            <a:endParaRPr lang="en-US" sz="900" dirty="0"/>
          </a:p>
        </p:txBody>
      </p:sp>
      <p:sp>
        <p:nvSpPr>
          <p:cNvPr id="3" name="Text 1"/>
          <p:cNvSpPr txBox="1"/>
          <p:nvPr/>
        </p:nvSpPr>
        <p:spPr>
          <a:xfrm>
            <a:off x="530352" y="566928"/>
            <a:ext cx="11018520" cy="512064"/>
          </a:xfrm>
          <a:prstGeom prst="rect">
            <a:avLst/>
          </a:prstGeom>
          <a:noFill/>
          <a:ln/>
        </p:spPr>
        <p:txBody>
          <a:bodyPr wrap="square" lIns="0" tIns="0" rIns="0" bIns="0" rtlCol="0" anchor="ctr">
            <a:normAutofit/>
          </a:bodyPr>
          <a:lstStyle/>
          <a:p>
            <a:pPr algn="l" indent="0" marL="0">
              <a:lnSpc>
                <a:spcPct val="92000"/>
              </a:lnSpc>
              <a:buNone/>
            </a:pPr>
            <a:r>
              <a:rPr lang="en-US" sz="2400" b="1" dirty="0">
                <a:solidFill>
                  <a:srgbClr val="061B31"/>
                </a:solidFill>
                <a:latin typeface="Noto Sans CJK KR" pitchFamily="34" charset="0"/>
                <a:ea typeface="Noto Sans CJK KR" pitchFamily="34" charset="-122"/>
                <a:cs typeface="Noto Sans CJK KR" pitchFamily="34" charset="-120"/>
              </a:rPr>
              <a:t>신고에서 회수까지, 6개의 법적 게이트</a:t>
            </a:r>
            <a:endParaRPr lang="en-US" sz="2400" dirty="0"/>
          </a:p>
        </p:txBody>
      </p:sp>
      <p:sp>
        <p:nvSpPr>
          <p:cNvPr id="4" name="Shape 2"/>
          <p:cNvSpPr/>
          <p:nvPr/>
        </p:nvSpPr>
        <p:spPr>
          <a:xfrm>
            <a:off x="530352" y="1124712"/>
            <a:ext cx="960120" cy="0"/>
          </a:xfrm>
          <a:prstGeom prst="line">
            <a:avLst/>
          </a:prstGeom>
          <a:noFill/>
          <a:ln w="38100">
            <a:solidFill>
              <a:srgbClr val="533AFD"/>
            </a:solidFill>
            <a:prstDash val="solid"/>
            <a:headEnd type="none"/>
            <a:tailEnd type="none"/>
          </a:ln>
        </p:spPr>
      </p:sp>
      <p:sp>
        <p:nvSpPr>
          <p:cNvPr id="5" name="Text 3"/>
          <p:cNvSpPr txBox="1"/>
          <p:nvPr/>
        </p:nvSpPr>
        <p:spPr>
          <a:xfrm>
            <a:off x="4754880" y="6291072"/>
            <a:ext cx="6903720" cy="182880"/>
          </a:xfrm>
          <a:prstGeom prst="rect">
            <a:avLst/>
          </a:prstGeom>
          <a:noFill/>
          <a:ln/>
        </p:spPr>
        <p:txBody>
          <a:bodyPr wrap="square" lIns="0" tIns="0" rIns="0" bIns="0" rtlCol="0" anchor="ctr">
            <a:normAutofit/>
          </a:bodyPr>
          <a:lstStyle/>
          <a:p>
            <a:pPr algn="r" indent="0" marL="0">
              <a:lnSpc>
                <a:spcPct val="92000"/>
              </a:lnSpc>
              <a:buNone/>
            </a:pPr>
            <a:r>
              <a:rPr lang="en-US" sz="900" dirty="0">
                <a:solidFill>
                  <a:srgbClr val="8A97A5"/>
                </a:solidFill>
                <a:latin typeface="Source Code Pro" pitchFamily="34" charset="0"/>
                <a:ea typeface="Source Code Pro" pitchFamily="34" charset="-122"/>
                <a:cs typeface="Source Code Pro" pitchFamily="34" charset="-120"/>
              </a:rPr>
              <a:t>[S013] [S014] [S020] [S032] [S039] [S047] [S101] [S102]</a:t>
            </a:r>
            <a:endParaRPr lang="en-US" sz="900" dirty="0"/>
          </a:p>
        </p:txBody>
      </p:sp>
      <p:sp>
        <p:nvSpPr>
          <p:cNvPr id="6" name="Text 4"/>
          <p:cNvSpPr txBox="1"/>
          <p:nvPr/>
        </p:nvSpPr>
        <p:spPr>
          <a:xfrm>
            <a:off x="530352" y="1325880"/>
            <a:ext cx="11018520" cy="502920"/>
          </a:xfrm>
          <a:prstGeom prst="rect">
            <a:avLst/>
          </a:prstGeom>
          <a:noFill/>
          <a:ln/>
        </p:spPr>
        <p:txBody>
          <a:bodyPr wrap="square" lIns="0" tIns="0" rIns="0" bIns="0" rtlCol="0" anchor="t">
            <a:normAutofit/>
          </a:bodyPr>
          <a:lstStyle/>
          <a:p>
            <a:pPr algn="l" indent="0" marL="0">
              <a:lnSpc>
                <a:spcPct val="92000"/>
              </a:lnSpc>
              <a:buNone/>
            </a:pPr>
            <a:r>
              <a:rPr lang="en-US" sz="2000" b="1" dirty="0">
                <a:solidFill>
                  <a:srgbClr val="061B31"/>
                </a:solidFill>
                <a:latin typeface="Noto Sans CJK KR" pitchFamily="34" charset="0"/>
                <a:ea typeface="Noto Sans CJK KR" pitchFamily="34" charset="-122"/>
                <a:cs typeface="Noto Sans CJK KR" pitchFamily="34" charset="-120"/>
              </a:rPr>
              <a:t>형사절차만으로 자동 회수되지 않으며 배상명령 또는 별도 민사·집행 경로가 필요</a:t>
            </a:r>
            <a:endParaRPr lang="en-US" sz="2000" dirty="0"/>
          </a:p>
        </p:txBody>
      </p:sp>
      <p:sp>
        <p:nvSpPr>
          <p:cNvPr id="7" name="Shape 5"/>
          <p:cNvSpPr/>
          <p:nvPr/>
        </p:nvSpPr>
        <p:spPr>
          <a:xfrm>
            <a:off x="1362456" y="2628900"/>
            <a:ext cx="9436608" cy="0"/>
          </a:xfrm>
          <a:prstGeom prst="line">
            <a:avLst/>
          </a:prstGeom>
          <a:noFill/>
          <a:ln w="29210">
            <a:solidFill>
              <a:srgbClr val="533AFD"/>
            </a:solidFill>
            <a:prstDash val="solid"/>
            <a:tailEnd type="triangle"/>
          </a:ln>
        </p:spPr>
      </p:sp>
      <p:sp>
        <p:nvSpPr>
          <p:cNvPr id="8" name="Shape 6"/>
          <p:cNvSpPr/>
          <p:nvPr/>
        </p:nvSpPr>
        <p:spPr>
          <a:xfrm>
            <a:off x="594360" y="2194560"/>
            <a:ext cx="1706880" cy="868680"/>
          </a:xfrm>
          <a:prstGeom prst="roundRect">
            <a:avLst>
              <a:gd name="adj" fmla="val 6316"/>
            </a:avLst>
          </a:prstGeom>
          <a:solidFill>
            <a:srgbClr val="E9E7FF"/>
          </a:solidFill>
          <a:ln w="10160">
            <a:solidFill>
              <a:srgbClr val="533AFD"/>
            </a:solidFill>
            <a:prstDash val="solid"/>
          </a:ln>
        </p:spPr>
      </p:sp>
      <p:sp>
        <p:nvSpPr>
          <p:cNvPr id="9" name="Text 7"/>
          <p:cNvSpPr txBox="1"/>
          <p:nvPr/>
        </p:nvSpPr>
        <p:spPr>
          <a:xfrm>
            <a:off x="685800" y="2267712"/>
            <a:ext cx="1524000" cy="137160"/>
          </a:xfrm>
          <a:prstGeom prst="rect">
            <a:avLst/>
          </a:prstGeom>
          <a:noFill/>
          <a:ln/>
        </p:spPr>
        <p:txBody>
          <a:bodyPr wrap="square" lIns="0" tIns="0" rIns="0" bIns="0" rtlCol="0" anchor="ctr">
            <a:normAutofit/>
          </a:bodyPr>
          <a:lstStyle/>
          <a:p>
            <a:pPr algn="l" indent="0" marL="0">
              <a:lnSpc>
                <a:spcPct val="92000"/>
              </a:lnSpc>
              <a:buNone/>
            </a:pPr>
            <a:r>
              <a:rPr lang="en-US" sz="750" dirty="0">
                <a:solidFill>
                  <a:srgbClr val="533AFD"/>
                </a:solidFill>
                <a:latin typeface="Source Code Pro" pitchFamily="34" charset="0"/>
                <a:ea typeface="Source Code Pro" pitchFamily="34" charset="-122"/>
                <a:cs typeface="Source Code Pro" pitchFamily="34" charset="-120"/>
              </a:rPr>
              <a:t>01</a:t>
            </a:r>
            <a:endParaRPr lang="en-US" sz="750" dirty="0"/>
          </a:p>
        </p:txBody>
      </p:sp>
      <p:sp>
        <p:nvSpPr>
          <p:cNvPr id="10" name="Text 8"/>
          <p:cNvSpPr txBox="1"/>
          <p:nvPr/>
        </p:nvSpPr>
        <p:spPr>
          <a:xfrm>
            <a:off x="685800" y="2414016"/>
            <a:ext cx="1524000" cy="612648"/>
          </a:xfrm>
          <a:prstGeom prst="rect">
            <a:avLst/>
          </a:prstGeom>
          <a:noFill/>
          <a:ln/>
        </p:spPr>
        <p:txBody>
          <a:bodyPr wrap="square" lIns="0" tIns="0" rIns="0" bIns="0" rtlCol="0" anchor="ctr">
            <a:normAutofit/>
          </a:bodyPr>
          <a:lstStyle/>
          <a:p>
            <a:pPr algn="ctr" indent="0" marL="0">
              <a:lnSpc>
                <a:spcPct val="92000"/>
              </a:lnSpc>
              <a:buNone/>
            </a:pPr>
            <a:r>
              <a:rPr lang="en-US" sz="1200" b="1" dirty="0">
                <a:solidFill>
                  <a:srgbClr val="061B31"/>
                </a:solidFill>
                <a:latin typeface="Noto Sans CJK KR" pitchFamily="34" charset="0"/>
                <a:ea typeface="Noto Sans CJK KR" pitchFamily="34" charset="-122"/>
                <a:cs typeface="Noto Sans CJK KR" pitchFamily="34" charset="-120"/>
              </a:rPr>
              <a:t>증거보존·ECRM</a:t>
            </a:r>
            <a:endParaRPr lang="en-US" sz="1200" dirty="0"/>
          </a:p>
        </p:txBody>
      </p:sp>
      <p:sp>
        <p:nvSpPr>
          <p:cNvPr id="11" name="Shape 9"/>
          <p:cNvSpPr/>
          <p:nvPr/>
        </p:nvSpPr>
        <p:spPr>
          <a:xfrm>
            <a:off x="2447544" y="2194560"/>
            <a:ext cx="1706880" cy="868680"/>
          </a:xfrm>
          <a:prstGeom prst="roundRect">
            <a:avLst>
              <a:gd name="adj" fmla="val 6316"/>
            </a:avLst>
          </a:prstGeom>
          <a:solidFill>
            <a:srgbClr val="FFFFFF"/>
          </a:solidFill>
          <a:ln w="10160">
            <a:solidFill>
              <a:srgbClr val="DCE5EE"/>
            </a:solidFill>
            <a:prstDash val="solid"/>
          </a:ln>
        </p:spPr>
      </p:sp>
      <p:sp>
        <p:nvSpPr>
          <p:cNvPr id="12" name="Text 10"/>
          <p:cNvSpPr txBox="1"/>
          <p:nvPr/>
        </p:nvSpPr>
        <p:spPr>
          <a:xfrm>
            <a:off x="2538984" y="2267712"/>
            <a:ext cx="1524000" cy="137160"/>
          </a:xfrm>
          <a:prstGeom prst="rect">
            <a:avLst/>
          </a:prstGeom>
          <a:noFill/>
          <a:ln/>
        </p:spPr>
        <p:txBody>
          <a:bodyPr wrap="square" lIns="0" tIns="0" rIns="0" bIns="0" rtlCol="0" anchor="ctr">
            <a:normAutofit/>
          </a:bodyPr>
          <a:lstStyle/>
          <a:p>
            <a:pPr algn="l" indent="0" marL="0">
              <a:lnSpc>
                <a:spcPct val="92000"/>
              </a:lnSpc>
              <a:buNone/>
            </a:pPr>
            <a:r>
              <a:rPr lang="en-US" sz="750" dirty="0">
                <a:solidFill>
                  <a:srgbClr val="533AFD"/>
                </a:solidFill>
                <a:latin typeface="Source Code Pro" pitchFamily="34" charset="0"/>
                <a:ea typeface="Source Code Pro" pitchFamily="34" charset="-122"/>
                <a:cs typeface="Source Code Pro" pitchFamily="34" charset="-120"/>
              </a:rPr>
              <a:t>02</a:t>
            </a:r>
            <a:endParaRPr lang="en-US" sz="750" dirty="0"/>
          </a:p>
        </p:txBody>
      </p:sp>
      <p:sp>
        <p:nvSpPr>
          <p:cNvPr id="13" name="Text 11"/>
          <p:cNvSpPr txBox="1"/>
          <p:nvPr/>
        </p:nvSpPr>
        <p:spPr>
          <a:xfrm>
            <a:off x="2538984" y="2414016"/>
            <a:ext cx="1524000" cy="612648"/>
          </a:xfrm>
          <a:prstGeom prst="rect">
            <a:avLst/>
          </a:prstGeom>
          <a:noFill/>
          <a:ln/>
        </p:spPr>
        <p:txBody>
          <a:bodyPr wrap="square" lIns="0" tIns="0" rIns="0" bIns="0" rtlCol="0" anchor="ctr">
            <a:normAutofit/>
          </a:bodyPr>
          <a:lstStyle/>
          <a:p>
            <a:pPr algn="ctr" indent="0" marL="0">
              <a:lnSpc>
                <a:spcPct val="92000"/>
              </a:lnSpc>
              <a:buNone/>
            </a:pPr>
            <a:r>
              <a:rPr lang="en-US" sz="1200" b="1" dirty="0">
                <a:solidFill>
                  <a:srgbClr val="061B31"/>
                </a:solidFill>
                <a:latin typeface="Noto Sans CJK KR" pitchFamily="34" charset="0"/>
                <a:ea typeface="Noto Sans CJK KR" pitchFamily="34" charset="-122"/>
                <a:cs typeface="Noto Sans CJK KR" pitchFamily="34" charset="-120"/>
              </a:rPr>
              <a:t>형사·배상명령</a:t>
            </a:r>
            <a:endParaRPr lang="en-US" sz="1200" dirty="0"/>
          </a:p>
        </p:txBody>
      </p:sp>
      <p:sp>
        <p:nvSpPr>
          <p:cNvPr id="14" name="Shape 12"/>
          <p:cNvSpPr/>
          <p:nvPr/>
        </p:nvSpPr>
        <p:spPr>
          <a:xfrm>
            <a:off x="4300728" y="2194560"/>
            <a:ext cx="1706880" cy="868680"/>
          </a:xfrm>
          <a:prstGeom prst="roundRect">
            <a:avLst>
              <a:gd name="adj" fmla="val 6316"/>
            </a:avLst>
          </a:prstGeom>
          <a:solidFill>
            <a:srgbClr val="FFFFFF"/>
          </a:solidFill>
          <a:ln w="10160">
            <a:solidFill>
              <a:srgbClr val="DCE5EE"/>
            </a:solidFill>
            <a:prstDash val="solid"/>
          </a:ln>
        </p:spPr>
      </p:sp>
      <p:sp>
        <p:nvSpPr>
          <p:cNvPr id="15" name="Text 13"/>
          <p:cNvSpPr txBox="1"/>
          <p:nvPr/>
        </p:nvSpPr>
        <p:spPr>
          <a:xfrm>
            <a:off x="4392168" y="2267712"/>
            <a:ext cx="1524000" cy="137160"/>
          </a:xfrm>
          <a:prstGeom prst="rect">
            <a:avLst/>
          </a:prstGeom>
          <a:noFill/>
          <a:ln/>
        </p:spPr>
        <p:txBody>
          <a:bodyPr wrap="square" lIns="0" tIns="0" rIns="0" bIns="0" rtlCol="0" anchor="ctr">
            <a:normAutofit/>
          </a:bodyPr>
          <a:lstStyle/>
          <a:p>
            <a:pPr algn="l" indent="0" marL="0">
              <a:lnSpc>
                <a:spcPct val="92000"/>
              </a:lnSpc>
              <a:buNone/>
            </a:pPr>
            <a:r>
              <a:rPr lang="en-US" sz="750" dirty="0">
                <a:solidFill>
                  <a:srgbClr val="533AFD"/>
                </a:solidFill>
                <a:latin typeface="Source Code Pro" pitchFamily="34" charset="0"/>
                <a:ea typeface="Source Code Pro" pitchFamily="34" charset="-122"/>
                <a:cs typeface="Source Code Pro" pitchFamily="34" charset="-120"/>
              </a:rPr>
              <a:t>03</a:t>
            </a:r>
            <a:endParaRPr lang="en-US" sz="750" dirty="0"/>
          </a:p>
        </p:txBody>
      </p:sp>
      <p:sp>
        <p:nvSpPr>
          <p:cNvPr id="16" name="Text 14"/>
          <p:cNvSpPr txBox="1"/>
          <p:nvPr/>
        </p:nvSpPr>
        <p:spPr>
          <a:xfrm>
            <a:off x="4392168" y="2414016"/>
            <a:ext cx="1524000" cy="612648"/>
          </a:xfrm>
          <a:prstGeom prst="rect">
            <a:avLst/>
          </a:prstGeom>
          <a:noFill/>
          <a:ln/>
        </p:spPr>
        <p:txBody>
          <a:bodyPr wrap="square" lIns="0" tIns="0" rIns="0" bIns="0" rtlCol="0" anchor="ctr">
            <a:normAutofit/>
          </a:bodyPr>
          <a:lstStyle/>
          <a:p>
            <a:pPr algn="ctr" indent="0" marL="0">
              <a:lnSpc>
                <a:spcPct val="92000"/>
              </a:lnSpc>
              <a:buNone/>
            </a:pPr>
            <a:r>
              <a:rPr lang="en-US" sz="1200" b="1" dirty="0">
                <a:solidFill>
                  <a:srgbClr val="061B31"/>
                </a:solidFill>
                <a:latin typeface="Noto Sans CJK KR" pitchFamily="34" charset="0"/>
                <a:ea typeface="Noto Sans CJK KR" pitchFamily="34" charset="-122"/>
                <a:cs typeface="Noto Sans CJK KR" pitchFamily="34" charset="-120"/>
              </a:rPr>
              <a:t>민사·지급명령</a:t>
            </a:r>
            <a:endParaRPr lang="en-US" sz="1200" dirty="0"/>
          </a:p>
        </p:txBody>
      </p:sp>
      <p:sp>
        <p:nvSpPr>
          <p:cNvPr id="17" name="Shape 15"/>
          <p:cNvSpPr/>
          <p:nvPr/>
        </p:nvSpPr>
        <p:spPr>
          <a:xfrm>
            <a:off x="6153912" y="2194560"/>
            <a:ext cx="1706880" cy="868680"/>
          </a:xfrm>
          <a:prstGeom prst="roundRect">
            <a:avLst>
              <a:gd name="adj" fmla="val 6316"/>
            </a:avLst>
          </a:prstGeom>
          <a:solidFill>
            <a:srgbClr val="FFFFFF"/>
          </a:solidFill>
          <a:ln w="10160">
            <a:solidFill>
              <a:srgbClr val="DCE5EE"/>
            </a:solidFill>
            <a:prstDash val="solid"/>
          </a:ln>
        </p:spPr>
      </p:sp>
      <p:sp>
        <p:nvSpPr>
          <p:cNvPr id="18" name="Text 16"/>
          <p:cNvSpPr txBox="1"/>
          <p:nvPr/>
        </p:nvSpPr>
        <p:spPr>
          <a:xfrm>
            <a:off x="6245352" y="2267712"/>
            <a:ext cx="1524000" cy="137160"/>
          </a:xfrm>
          <a:prstGeom prst="rect">
            <a:avLst/>
          </a:prstGeom>
          <a:noFill/>
          <a:ln/>
        </p:spPr>
        <p:txBody>
          <a:bodyPr wrap="square" lIns="0" tIns="0" rIns="0" bIns="0" rtlCol="0" anchor="ctr">
            <a:normAutofit/>
          </a:bodyPr>
          <a:lstStyle/>
          <a:p>
            <a:pPr algn="l" indent="0" marL="0">
              <a:lnSpc>
                <a:spcPct val="92000"/>
              </a:lnSpc>
              <a:buNone/>
            </a:pPr>
            <a:r>
              <a:rPr lang="en-US" sz="750" dirty="0">
                <a:solidFill>
                  <a:srgbClr val="533AFD"/>
                </a:solidFill>
                <a:latin typeface="Source Code Pro" pitchFamily="34" charset="0"/>
                <a:ea typeface="Source Code Pro" pitchFamily="34" charset="-122"/>
                <a:cs typeface="Source Code Pro" pitchFamily="34" charset="-120"/>
              </a:rPr>
              <a:t>04</a:t>
            </a:r>
            <a:endParaRPr lang="en-US" sz="750" dirty="0"/>
          </a:p>
        </p:txBody>
      </p:sp>
      <p:sp>
        <p:nvSpPr>
          <p:cNvPr id="19" name="Text 17"/>
          <p:cNvSpPr txBox="1"/>
          <p:nvPr/>
        </p:nvSpPr>
        <p:spPr>
          <a:xfrm>
            <a:off x="6245352" y="2414016"/>
            <a:ext cx="1524000" cy="612648"/>
          </a:xfrm>
          <a:prstGeom prst="rect">
            <a:avLst/>
          </a:prstGeom>
          <a:noFill/>
          <a:ln/>
        </p:spPr>
        <p:txBody>
          <a:bodyPr wrap="square" lIns="0" tIns="0" rIns="0" bIns="0" rtlCol="0" anchor="ctr">
            <a:normAutofit/>
          </a:bodyPr>
          <a:lstStyle/>
          <a:p>
            <a:pPr algn="ctr" indent="0" marL="0">
              <a:lnSpc>
                <a:spcPct val="92000"/>
              </a:lnSpc>
              <a:buNone/>
            </a:pPr>
            <a:r>
              <a:rPr lang="en-US" sz="1200" b="1" dirty="0">
                <a:solidFill>
                  <a:srgbClr val="061B31"/>
                </a:solidFill>
                <a:latin typeface="Noto Sans CJK KR" pitchFamily="34" charset="0"/>
                <a:ea typeface="Noto Sans CJK KR" pitchFamily="34" charset="-122"/>
                <a:cs typeface="Noto Sans CJK KR" pitchFamily="34" charset="-120"/>
              </a:rPr>
              <a:t>집행권원 확보</a:t>
            </a:r>
            <a:endParaRPr lang="en-US" sz="1200" dirty="0"/>
          </a:p>
        </p:txBody>
      </p:sp>
      <p:sp>
        <p:nvSpPr>
          <p:cNvPr id="20" name="Shape 18"/>
          <p:cNvSpPr/>
          <p:nvPr/>
        </p:nvSpPr>
        <p:spPr>
          <a:xfrm>
            <a:off x="8007096" y="2194560"/>
            <a:ext cx="1706880" cy="868680"/>
          </a:xfrm>
          <a:prstGeom prst="roundRect">
            <a:avLst>
              <a:gd name="adj" fmla="val 6316"/>
            </a:avLst>
          </a:prstGeom>
          <a:solidFill>
            <a:srgbClr val="FFFFFF"/>
          </a:solidFill>
          <a:ln w="10160">
            <a:solidFill>
              <a:srgbClr val="DCE5EE"/>
            </a:solidFill>
            <a:prstDash val="solid"/>
          </a:ln>
        </p:spPr>
      </p:sp>
      <p:sp>
        <p:nvSpPr>
          <p:cNvPr id="21" name="Text 19"/>
          <p:cNvSpPr txBox="1"/>
          <p:nvPr/>
        </p:nvSpPr>
        <p:spPr>
          <a:xfrm>
            <a:off x="8098536" y="2267712"/>
            <a:ext cx="1524000" cy="137160"/>
          </a:xfrm>
          <a:prstGeom prst="rect">
            <a:avLst/>
          </a:prstGeom>
          <a:noFill/>
          <a:ln/>
        </p:spPr>
        <p:txBody>
          <a:bodyPr wrap="square" lIns="0" tIns="0" rIns="0" bIns="0" rtlCol="0" anchor="ctr">
            <a:normAutofit/>
          </a:bodyPr>
          <a:lstStyle/>
          <a:p>
            <a:pPr algn="l" indent="0" marL="0">
              <a:lnSpc>
                <a:spcPct val="92000"/>
              </a:lnSpc>
              <a:buNone/>
            </a:pPr>
            <a:r>
              <a:rPr lang="en-US" sz="750" dirty="0">
                <a:solidFill>
                  <a:srgbClr val="533AFD"/>
                </a:solidFill>
                <a:latin typeface="Source Code Pro" pitchFamily="34" charset="0"/>
                <a:ea typeface="Source Code Pro" pitchFamily="34" charset="-122"/>
                <a:cs typeface="Source Code Pro" pitchFamily="34" charset="-120"/>
              </a:rPr>
              <a:t>05</a:t>
            </a:r>
            <a:endParaRPr lang="en-US" sz="750" dirty="0"/>
          </a:p>
        </p:txBody>
      </p:sp>
      <p:sp>
        <p:nvSpPr>
          <p:cNvPr id="22" name="Text 20"/>
          <p:cNvSpPr txBox="1"/>
          <p:nvPr/>
        </p:nvSpPr>
        <p:spPr>
          <a:xfrm>
            <a:off x="8098536" y="2414016"/>
            <a:ext cx="1524000" cy="612648"/>
          </a:xfrm>
          <a:prstGeom prst="rect">
            <a:avLst/>
          </a:prstGeom>
          <a:noFill/>
          <a:ln/>
        </p:spPr>
        <p:txBody>
          <a:bodyPr wrap="square" lIns="0" tIns="0" rIns="0" bIns="0" rtlCol="0" anchor="ctr">
            <a:normAutofit/>
          </a:bodyPr>
          <a:lstStyle/>
          <a:p>
            <a:pPr algn="ctr" indent="0" marL="0">
              <a:lnSpc>
                <a:spcPct val="92000"/>
              </a:lnSpc>
              <a:buNone/>
            </a:pPr>
            <a:r>
              <a:rPr lang="en-US" sz="1200" b="1" dirty="0">
                <a:solidFill>
                  <a:srgbClr val="061B31"/>
                </a:solidFill>
                <a:latin typeface="Noto Sans CJK KR" pitchFamily="34" charset="0"/>
                <a:ea typeface="Noto Sans CJK KR" pitchFamily="34" charset="-122"/>
                <a:cs typeface="Noto Sans CJK KR" pitchFamily="34" charset="-120"/>
              </a:rPr>
              <a:t>재산명시·조회</a:t>
            </a:r>
            <a:endParaRPr lang="en-US" sz="1200" dirty="0"/>
          </a:p>
        </p:txBody>
      </p:sp>
      <p:sp>
        <p:nvSpPr>
          <p:cNvPr id="23" name="Shape 21"/>
          <p:cNvSpPr/>
          <p:nvPr/>
        </p:nvSpPr>
        <p:spPr>
          <a:xfrm>
            <a:off x="9860280" y="2194560"/>
            <a:ext cx="1706880" cy="868680"/>
          </a:xfrm>
          <a:prstGeom prst="roundRect">
            <a:avLst>
              <a:gd name="adj" fmla="val 6316"/>
            </a:avLst>
          </a:prstGeom>
          <a:solidFill>
            <a:srgbClr val="FFFFFF"/>
          </a:solidFill>
          <a:ln w="10160">
            <a:solidFill>
              <a:srgbClr val="DCE5EE"/>
            </a:solidFill>
            <a:prstDash val="solid"/>
          </a:ln>
        </p:spPr>
      </p:sp>
      <p:sp>
        <p:nvSpPr>
          <p:cNvPr id="24" name="Text 22"/>
          <p:cNvSpPr txBox="1"/>
          <p:nvPr/>
        </p:nvSpPr>
        <p:spPr>
          <a:xfrm>
            <a:off x="9951720" y="2267712"/>
            <a:ext cx="1524000" cy="137160"/>
          </a:xfrm>
          <a:prstGeom prst="rect">
            <a:avLst/>
          </a:prstGeom>
          <a:noFill/>
          <a:ln/>
        </p:spPr>
        <p:txBody>
          <a:bodyPr wrap="square" lIns="0" tIns="0" rIns="0" bIns="0" rtlCol="0" anchor="ctr">
            <a:normAutofit/>
          </a:bodyPr>
          <a:lstStyle/>
          <a:p>
            <a:pPr algn="l" indent="0" marL="0">
              <a:lnSpc>
                <a:spcPct val="92000"/>
              </a:lnSpc>
              <a:buNone/>
            </a:pPr>
            <a:r>
              <a:rPr lang="en-US" sz="750" dirty="0">
                <a:solidFill>
                  <a:srgbClr val="533AFD"/>
                </a:solidFill>
                <a:latin typeface="Source Code Pro" pitchFamily="34" charset="0"/>
                <a:ea typeface="Source Code Pro" pitchFamily="34" charset="-122"/>
                <a:cs typeface="Source Code Pro" pitchFamily="34" charset="-120"/>
              </a:rPr>
              <a:t>06</a:t>
            </a:r>
            <a:endParaRPr lang="en-US" sz="750" dirty="0"/>
          </a:p>
        </p:txBody>
      </p:sp>
      <p:sp>
        <p:nvSpPr>
          <p:cNvPr id="25" name="Text 23"/>
          <p:cNvSpPr txBox="1"/>
          <p:nvPr/>
        </p:nvSpPr>
        <p:spPr>
          <a:xfrm>
            <a:off x="9951720" y="2414016"/>
            <a:ext cx="1524000" cy="612648"/>
          </a:xfrm>
          <a:prstGeom prst="rect">
            <a:avLst/>
          </a:prstGeom>
          <a:noFill/>
          <a:ln/>
        </p:spPr>
        <p:txBody>
          <a:bodyPr wrap="square" lIns="0" tIns="0" rIns="0" bIns="0" rtlCol="0" anchor="ctr">
            <a:normAutofit/>
          </a:bodyPr>
          <a:lstStyle/>
          <a:p>
            <a:pPr algn="ctr" indent="0" marL="0">
              <a:lnSpc>
                <a:spcPct val="92000"/>
              </a:lnSpc>
              <a:buNone/>
            </a:pPr>
            <a:r>
              <a:rPr lang="en-US" sz="1200" b="1" dirty="0">
                <a:solidFill>
                  <a:srgbClr val="061B31"/>
                </a:solidFill>
                <a:latin typeface="Noto Sans CJK KR" pitchFamily="34" charset="0"/>
                <a:ea typeface="Noto Sans CJK KR" pitchFamily="34" charset="-122"/>
                <a:cs typeface="Noto Sans CJK KR" pitchFamily="34" charset="-120"/>
              </a:rPr>
              <a:t>채권압류·추심</a:t>
            </a:r>
            <a:endParaRPr lang="en-US" sz="1200" dirty="0"/>
          </a:p>
        </p:txBody>
      </p:sp>
      <p:sp>
        <p:nvSpPr>
          <p:cNvPr id="26" name="Shape 24"/>
          <p:cNvSpPr/>
          <p:nvPr/>
        </p:nvSpPr>
        <p:spPr>
          <a:xfrm>
            <a:off x="868680" y="3931920"/>
            <a:ext cx="82296" cy="82296"/>
          </a:xfrm>
          <a:prstGeom prst="ellipse">
            <a:avLst/>
          </a:prstGeom>
          <a:solidFill>
            <a:srgbClr val="533AFD"/>
          </a:solidFill>
          <a:ln w="12700">
            <a:solidFill>
              <a:srgbClr val="533AFD"/>
            </a:solidFill>
            <a:prstDash val="solid"/>
          </a:ln>
        </p:spPr>
      </p:sp>
      <p:sp>
        <p:nvSpPr>
          <p:cNvPr id="27" name="Text 25"/>
          <p:cNvSpPr txBox="1"/>
          <p:nvPr/>
        </p:nvSpPr>
        <p:spPr>
          <a:xfrm>
            <a:off x="1051560" y="3794760"/>
            <a:ext cx="10149840" cy="472440"/>
          </a:xfrm>
          <a:prstGeom prst="rect">
            <a:avLst/>
          </a:prstGeom>
          <a:noFill/>
          <a:ln/>
        </p:spPr>
        <p:txBody>
          <a:bodyPr wrap="square" lIns="0" tIns="0" rIns="0" bIns="0" rtlCol="0" anchor="ctr">
            <a:normAutofit/>
          </a:bodyPr>
          <a:lstStyle/>
          <a:p>
            <a:pPr algn="l" indent="0" marL="0">
              <a:lnSpc>
                <a:spcPct val="92000"/>
              </a:lnSpc>
              <a:buNone/>
            </a:pPr>
            <a:r>
              <a:rPr lang="en-US" sz="1350" dirty="0">
                <a:solidFill>
                  <a:srgbClr val="526274"/>
                </a:solidFill>
                <a:latin typeface="Noto Sans CJK KR" pitchFamily="34" charset="0"/>
                <a:ea typeface="Noto Sans CJK KR" pitchFamily="34" charset="-122"/>
                <a:cs typeface="Noto Sans CJK KR" pitchFamily="34" charset="-120"/>
              </a:rPr>
              <a:t>다수 피해 사건 중 일부 피해자 출석 진술 확인 시 출석 예외 가능</a:t>
            </a:r>
            <a:endParaRPr lang="en-US" sz="1350" dirty="0"/>
          </a:p>
        </p:txBody>
      </p:sp>
      <p:sp>
        <p:nvSpPr>
          <p:cNvPr id="28" name="Shape 26"/>
          <p:cNvSpPr/>
          <p:nvPr/>
        </p:nvSpPr>
        <p:spPr>
          <a:xfrm>
            <a:off x="868680" y="4404360"/>
            <a:ext cx="82296" cy="82296"/>
          </a:xfrm>
          <a:prstGeom prst="ellipse">
            <a:avLst/>
          </a:prstGeom>
          <a:solidFill>
            <a:srgbClr val="533AFD"/>
          </a:solidFill>
          <a:ln w="12700">
            <a:solidFill>
              <a:srgbClr val="533AFD"/>
            </a:solidFill>
            <a:prstDash val="solid"/>
          </a:ln>
        </p:spPr>
      </p:sp>
      <p:sp>
        <p:nvSpPr>
          <p:cNvPr id="29" name="Text 27"/>
          <p:cNvSpPr txBox="1"/>
          <p:nvPr/>
        </p:nvSpPr>
        <p:spPr>
          <a:xfrm>
            <a:off x="1051560" y="4267200"/>
            <a:ext cx="10149840" cy="472440"/>
          </a:xfrm>
          <a:prstGeom prst="rect">
            <a:avLst/>
          </a:prstGeom>
          <a:noFill/>
          <a:ln/>
        </p:spPr>
        <p:txBody>
          <a:bodyPr wrap="square" lIns="0" tIns="0" rIns="0" bIns="0" rtlCol="0" anchor="ctr">
            <a:normAutofit/>
          </a:bodyPr>
          <a:lstStyle/>
          <a:p>
            <a:pPr algn="l" indent="0" marL="0">
              <a:lnSpc>
                <a:spcPct val="92000"/>
              </a:lnSpc>
              <a:buNone/>
            </a:pPr>
            <a:r>
              <a:rPr lang="en-US" sz="1350" dirty="0">
                <a:solidFill>
                  <a:srgbClr val="526274"/>
                </a:solidFill>
                <a:latin typeface="Noto Sans CJK KR" pitchFamily="34" charset="0"/>
                <a:ea typeface="Noto Sans CJK KR" pitchFamily="34" charset="-122"/>
                <a:cs typeface="Noto Sans CJK KR" pitchFamily="34" charset="-120"/>
              </a:rPr>
              <a:t>배상신청 각하 시 지급명령·민사소송 절차를 검토 및 진행 가능</a:t>
            </a:r>
            <a:endParaRPr lang="en-US" sz="1350" dirty="0"/>
          </a:p>
        </p:txBody>
      </p:sp>
      <p:sp>
        <p:nvSpPr>
          <p:cNvPr id="30" name="Shape 28"/>
          <p:cNvSpPr/>
          <p:nvPr/>
        </p:nvSpPr>
        <p:spPr>
          <a:xfrm>
            <a:off x="868680" y="4876800"/>
            <a:ext cx="82296" cy="82296"/>
          </a:xfrm>
          <a:prstGeom prst="ellipse">
            <a:avLst/>
          </a:prstGeom>
          <a:solidFill>
            <a:srgbClr val="533AFD"/>
          </a:solidFill>
          <a:ln w="12700">
            <a:solidFill>
              <a:srgbClr val="533AFD"/>
            </a:solidFill>
            <a:prstDash val="solid"/>
          </a:ln>
        </p:spPr>
      </p:sp>
      <p:sp>
        <p:nvSpPr>
          <p:cNvPr id="31" name="Text 29"/>
          <p:cNvSpPr txBox="1"/>
          <p:nvPr/>
        </p:nvSpPr>
        <p:spPr>
          <a:xfrm>
            <a:off x="1051560" y="4739640"/>
            <a:ext cx="10149840" cy="472440"/>
          </a:xfrm>
          <a:prstGeom prst="rect">
            <a:avLst/>
          </a:prstGeom>
          <a:noFill/>
          <a:ln/>
        </p:spPr>
        <p:txBody>
          <a:bodyPr wrap="square" lIns="0" tIns="0" rIns="0" bIns="0" rtlCol="0" anchor="ctr">
            <a:normAutofit/>
          </a:bodyPr>
          <a:lstStyle/>
          <a:p>
            <a:pPr algn="l" indent="0" marL="0">
              <a:lnSpc>
                <a:spcPct val="92000"/>
              </a:lnSpc>
              <a:buNone/>
            </a:pPr>
            <a:r>
              <a:rPr lang="en-US" sz="1350" dirty="0">
                <a:solidFill>
                  <a:srgbClr val="526274"/>
                </a:solidFill>
                <a:latin typeface="Noto Sans CJK KR" pitchFamily="34" charset="0"/>
                <a:ea typeface="Noto Sans CJK KR" pitchFamily="34" charset="-122"/>
                <a:cs typeface="Noto Sans CJK KR" pitchFamily="34" charset="-120"/>
              </a:rPr>
              <a:t>집행권원 확보 후 재산명시·조회 및 채권압류 별도 추적</a:t>
            </a:r>
            <a:endParaRPr lang="en-US" sz="1350" dirty="0"/>
          </a:p>
        </p:txBody>
      </p:sp>
      <p:sp>
        <p:nvSpPr>
          <p:cNvPr id="25" name="Slide Number Placeholder 0"/>
          <p:cNvSpPr>
            <a:spLocks noGrp="1"/>
          </p:cNvSpPr>
          <p:nvPr>
            <p:ph type="sldNum" sz="quarter" idx="4294967295"/>
          </p:nvPr>
        </p:nvSpPr>
        <p:spPr>
          <a:xfrm>
            <a:off x="530352" y="6556248"/>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8A97A5"/>
                </a:solidFill>
                <a:latin typeface="Source Code Pro"/>
                <a:ea typeface="Source Code Pro"/>
                <a:cs typeface="Source Code Pro"/>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C1E54"/>
        </a:solidFill>
      </p:bgPr>
    </p:bg>
    <p:spTree>
      <p:nvGrpSpPr>
        <p:cNvPr id="1" name=""/>
        <p:cNvGrpSpPr/>
        <p:nvPr/>
      </p:nvGrpSpPr>
      <p:grpSpPr>
        <a:xfrm>
          <a:off x="0" y="0"/>
          <a:ext cx="0" cy="0"/>
          <a:chOff x="0" y="0"/>
          <a:chExt cx="0" cy="0"/>
        </a:xfrm>
      </p:grpSpPr>
      <p:sp>
        <p:nvSpPr>
          <p:cNvPr id="2" name="Text 0"/>
          <p:cNvSpPr txBox="1"/>
          <p:nvPr/>
        </p:nvSpPr>
        <p:spPr>
          <a:xfrm>
            <a:off x="530352" y="310896"/>
            <a:ext cx="4389120" cy="210312"/>
          </a:xfrm>
          <a:prstGeom prst="rect">
            <a:avLst/>
          </a:prstGeom>
          <a:noFill/>
          <a:ln/>
        </p:spPr>
        <p:txBody>
          <a:bodyPr wrap="square" lIns="0" tIns="0" rIns="0" bIns="0" rtlCol="0" anchor="ctr">
            <a:normAutofit/>
          </a:bodyPr>
          <a:lstStyle/>
          <a:p>
            <a:pPr algn="l" indent="0" marL="0">
              <a:lnSpc>
                <a:spcPct val="92000"/>
              </a:lnSpc>
              <a:buNone/>
            </a:pPr>
            <a:r>
              <a:rPr lang="en-US" sz="900" b="1" spc="140" kern="0" dirty="0">
                <a:solidFill>
                  <a:srgbClr val="B9B9F9"/>
                </a:solidFill>
                <a:latin typeface="Source Code Pro" pitchFamily="34" charset="0"/>
                <a:ea typeface="Source Code Pro" pitchFamily="34" charset="-122"/>
                <a:cs typeface="Source Code Pro" pitchFamily="34" charset="-120"/>
              </a:rPr>
              <a:t>Section 2. 강제집행과 실질 회수</a:t>
            </a:r>
            <a:endParaRPr lang="en-US" sz="900" dirty="0"/>
          </a:p>
        </p:txBody>
      </p:sp>
      <p:sp>
        <p:nvSpPr>
          <p:cNvPr id="3" name="Text 1"/>
          <p:cNvSpPr txBox="1"/>
          <p:nvPr/>
        </p:nvSpPr>
        <p:spPr>
          <a:xfrm>
            <a:off x="530352" y="566928"/>
            <a:ext cx="11018520" cy="512064"/>
          </a:xfrm>
          <a:prstGeom prst="rect">
            <a:avLst/>
          </a:prstGeom>
          <a:noFill/>
          <a:ln/>
        </p:spPr>
        <p:txBody>
          <a:bodyPr wrap="square" lIns="0" tIns="0" rIns="0" bIns="0" rtlCol="0" anchor="ctr">
            <a:normAutofit/>
          </a:bodyPr>
          <a:lstStyle/>
          <a:p>
            <a:pPr algn="l" indent="0" marL="0">
              <a:lnSpc>
                <a:spcPct val="92000"/>
              </a:lnSpc>
              <a:buNone/>
            </a:pPr>
            <a:r>
              <a:rPr lang="en-US" sz="2400" b="1" dirty="0">
                <a:solidFill>
                  <a:srgbClr val="FFFFFF"/>
                </a:solidFill>
                <a:latin typeface="Noto Sans CJK KR" pitchFamily="34" charset="0"/>
                <a:ea typeface="Noto Sans CJK KR" pitchFamily="34" charset="-122"/>
                <a:cs typeface="Noto Sans CJK KR" pitchFamily="34" charset="-120"/>
              </a:rPr>
              <a:t>집행권원은 돈이 아니다</a:t>
            </a:r>
            <a:endParaRPr lang="en-US" sz="2400" dirty="0"/>
          </a:p>
        </p:txBody>
      </p:sp>
      <p:sp>
        <p:nvSpPr>
          <p:cNvPr id="4" name="Shape 2"/>
          <p:cNvSpPr/>
          <p:nvPr/>
        </p:nvSpPr>
        <p:spPr>
          <a:xfrm>
            <a:off x="530352" y="1124712"/>
            <a:ext cx="960120" cy="0"/>
          </a:xfrm>
          <a:prstGeom prst="line">
            <a:avLst/>
          </a:prstGeom>
          <a:noFill/>
          <a:ln w="38100">
            <a:solidFill>
              <a:srgbClr val="F96BEE"/>
            </a:solidFill>
            <a:prstDash val="solid"/>
            <a:headEnd type="none"/>
            <a:tailEnd type="none"/>
          </a:ln>
        </p:spPr>
      </p:sp>
      <p:sp>
        <p:nvSpPr>
          <p:cNvPr id="5" name="Text 3"/>
          <p:cNvSpPr txBox="1"/>
          <p:nvPr/>
        </p:nvSpPr>
        <p:spPr>
          <a:xfrm>
            <a:off x="4754880" y="6291072"/>
            <a:ext cx="6903720" cy="182880"/>
          </a:xfrm>
          <a:prstGeom prst="rect">
            <a:avLst/>
          </a:prstGeom>
          <a:noFill/>
          <a:ln/>
        </p:spPr>
        <p:txBody>
          <a:bodyPr wrap="square" lIns="0" tIns="0" rIns="0" bIns="0" rtlCol="0" anchor="ctr">
            <a:normAutofit/>
          </a:bodyPr>
          <a:lstStyle/>
          <a:p>
            <a:pPr algn="r" indent="0" marL="0">
              <a:lnSpc>
                <a:spcPct val="92000"/>
              </a:lnSpc>
              <a:buNone/>
            </a:pPr>
            <a:r>
              <a:rPr lang="en-US" sz="900" dirty="0">
                <a:solidFill>
                  <a:srgbClr val="B9B9F9"/>
                </a:solidFill>
                <a:latin typeface="Source Code Pro" pitchFamily="34" charset="0"/>
                <a:ea typeface="Source Code Pro" pitchFamily="34" charset="-122"/>
                <a:cs typeface="Source Code Pro" pitchFamily="34" charset="-120"/>
              </a:rPr>
              <a:t>[S003] [S005] [S035–S040] [S042–S044] [S102]</a:t>
            </a:r>
            <a:endParaRPr lang="en-US" sz="900" dirty="0"/>
          </a:p>
        </p:txBody>
      </p:sp>
      <p:sp>
        <p:nvSpPr>
          <p:cNvPr id="6" name="Text 4"/>
          <p:cNvSpPr txBox="1"/>
          <p:nvPr/>
        </p:nvSpPr>
        <p:spPr>
          <a:xfrm>
            <a:off x="530352" y="1325880"/>
            <a:ext cx="11018520" cy="502920"/>
          </a:xfrm>
          <a:prstGeom prst="rect">
            <a:avLst/>
          </a:prstGeom>
          <a:noFill/>
          <a:ln/>
        </p:spPr>
        <p:txBody>
          <a:bodyPr wrap="square" lIns="0" tIns="0" rIns="0" bIns="0" rtlCol="0" anchor="t">
            <a:normAutofit/>
          </a:bodyPr>
          <a:lstStyle/>
          <a:p>
            <a:pPr algn="l" indent="0" marL="0">
              <a:lnSpc>
                <a:spcPct val="92000"/>
              </a:lnSpc>
              <a:buNone/>
            </a:pPr>
            <a:r>
              <a:rPr lang="en-US" sz="2000" b="1" dirty="0">
                <a:solidFill>
                  <a:srgbClr val="FFFFFF"/>
                </a:solidFill>
                <a:latin typeface="Noto Sans CJK KR" pitchFamily="34" charset="0"/>
                <a:ea typeface="Noto Sans CJK KR" pitchFamily="34" charset="-122"/>
                <a:cs typeface="Noto Sans CJK KR" pitchFamily="34" charset="-120"/>
              </a:rPr>
              <a:t>승소 판결이나 지급명령은 집행 자격일 뿐 피고의 무자력 위험을 해소하지 못한다.</a:t>
            </a:r>
            <a:endParaRPr lang="en-US" sz="2000" dirty="0"/>
          </a:p>
        </p:txBody>
      </p:sp>
      <p:sp>
        <p:nvSpPr>
          <p:cNvPr id="7" name="Shape 5"/>
          <p:cNvSpPr/>
          <p:nvPr/>
        </p:nvSpPr>
        <p:spPr>
          <a:xfrm>
            <a:off x="914400" y="2331720"/>
            <a:ext cx="4297680" cy="2148840"/>
          </a:xfrm>
          <a:prstGeom prst="roundRect">
            <a:avLst>
              <a:gd name="adj" fmla="val 2553"/>
            </a:avLst>
          </a:prstGeom>
          <a:solidFill>
            <a:srgbClr val="27296A"/>
          </a:solidFill>
          <a:ln w="10160">
            <a:solidFill>
              <a:srgbClr val="DCE5EE"/>
            </a:solidFill>
            <a:prstDash val="solid"/>
          </a:ln>
        </p:spPr>
      </p:sp>
      <p:sp>
        <p:nvSpPr>
          <p:cNvPr id="8" name="Shape 6"/>
          <p:cNvSpPr/>
          <p:nvPr/>
        </p:nvSpPr>
        <p:spPr>
          <a:xfrm>
            <a:off x="914400" y="2331720"/>
            <a:ext cx="4297680" cy="0"/>
          </a:xfrm>
          <a:prstGeom prst="line">
            <a:avLst/>
          </a:prstGeom>
          <a:noFill/>
          <a:ln w="38100">
            <a:solidFill>
              <a:srgbClr val="B9B9F9"/>
            </a:solidFill>
            <a:prstDash val="solid"/>
            <a:headEnd type="none"/>
            <a:tailEnd type="none"/>
          </a:ln>
        </p:spPr>
      </p:sp>
      <p:sp>
        <p:nvSpPr>
          <p:cNvPr id="9" name="Text 7"/>
          <p:cNvSpPr txBox="1"/>
          <p:nvPr/>
        </p:nvSpPr>
        <p:spPr>
          <a:xfrm>
            <a:off x="1097280" y="2478024"/>
            <a:ext cx="393192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FFFFFF"/>
                </a:solidFill>
                <a:latin typeface="Noto Sans CJK KR" pitchFamily="34" charset="0"/>
                <a:ea typeface="Noto Sans CJK KR" pitchFamily="34" charset="-122"/>
                <a:cs typeface="Noto Sans CJK KR" pitchFamily="34" charset="-120"/>
              </a:rPr>
              <a:t>집행권원 확보</a:t>
            </a:r>
            <a:endParaRPr lang="en-US" sz="1400" dirty="0"/>
          </a:p>
        </p:txBody>
      </p:sp>
      <p:sp>
        <p:nvSpPr>
          <p:cNvPr id="10" name="Text 8"/>
          <p:cNvSpPr txBox="1"/>
          <p:nvPr/>
        </p:nvSpPr>
        <p:spPr>
          <a:xfrm>
            <a:off x="1097280" y="2843784"/>
            <a:ext cx="3931920" cy="1490472"/>
          </a:xfrm>
          <a:prstGeom prst="rect">
            <a:avLst/>
          </a:prstGeom>
          <a:noFill/>
          <a:ln/>
        </p:spPr>
        <p:txBody>
          <a:bodyPr wrap="square" lIns="0" tIns="0" rIns="0" bIns="0" rtlCol="0" anchor="t">
            <a:normAutofit/>
          </a:bodyPr>
          <a:lstStyle/>
          <a:p>
            <a:pPr algn="l" indent="0" marL="0">
              <a:lnSpc>
                <a:spcPct val="92000"/>
              </a:lnSpc>
              <a:buNone/>
            </a:pPr>
            <a:r>
              <a:rPr lang="en-US" sz="1250" dirty="0">
                <a:solidFill>
                  <a:srgbClr val="DCE5EE"/>
                </a:solidFill>
                <a:latin typeface="Noto Sans CJK KR" pitchFamily="34" charset="0"/>
                <a:ea typeface="Noto Sans CJK KR" pitchFamily="34" charset="-122"/>
                <a:cs typeface="Noto Sans CJK KR" pitchFamily="34" charset="-120"/>
              </a:rPr>
              <a:t>무자력·재산 은닉 시 회수가 어렵거나 불가능할 수 있음</a:t>
            </a:r>
            <a:endParaRPr lang="en-US" sz="1250" dirty="0"/>
          </a:p>
        </p:txBody>
      </p:sp>
      <p:sp>
        <p:nvSpPr>
          <p:cNvPr id="11" name="Shape 9"/>
          <p:cNvSpPr/>
          <p:nvPr/>
        </p:nvSpPr>
        <p:spPr>
          <a:xfrm>
            <a:off x="5303520" y="3410712"/>
            <a:ext cx="1417320" cy="0"/>
          </a:xfrm>
          <a:prstGeom prst="line">
            <a:avLst/>
          </a:prstGeom>
          <a:noFill/>
          <a:ln w="29210">
            <a:solidFill>
              <a:srgbClr val="F96BEE"/>
            </a:solidFill>
            <a:prstDash val="solid"/>
            <a:tailEnd type="triangle"/>
          </a:ln>
        </p:spPr>
      </p:sp>
      <p:sp>
        <p:nvSpPr>
          <p:cNvPr id="12" name="Shape 10"/>
          <p:cNvSpPr/>
          <p:nvPr/>
        </p:nvSpPr>
        <p:spPr>
          <a:xfrm>
            <a:off x="6858000" y="2331720"/>
            <a:ext cx="4297680" cy="2148840"/>
          </a:xfrm>
          <a:prstGeom prst="roundRect">
            <a:avLst>
              <a:gd name="adj" fmla="val 2553"/>
            </a:avLst>
          </a:prstGeom>
          <a:solidFill>
            <a:srgbClr val="27296A"/>
          </a:solidFill>
          <a:ln w="10160">
            <a:solidFill>
              <a:srgbClr val="DCE5EE"/>
            </a:solidFill>
            <a:prstDash val="solid"/>
          </a:ln>
        </p:spPr>
      </p:sp>
      <p:sp>
        <p:nvSpPr>
          <p:cNvPr id="13" name="Shape 11"/>
          <p:cNvSpPr/>
          <p:nvPr/>
        </p:nvSpPr>
        <p:spPr>
          <a:xfrm>
            <a:off x="6858000" y="2331720"/>
            <a:ext cx="4297680" cy="0"/>
          </a:xfrm>
          <a:prstGeom prst="line">
            <a:avLst/>
          </a:prstGeom>
          <a:noFill/>
          <a:ln w="38100">
            <a:solidFill>
              <a:srgbClr val="F96BEE"/>
            </a:solidFill>
            <a:prstDash val="solid"/>
            <a:headEnd type="none"/>
            <a:tailEnd type="none"/>
          </a:ln>
        </p:spPr>
      </p:sp>
      <p:sp>
        <p:nvSpPr>
          <p:cNvPr id="14" name="Text 12"/>
          <p:cNvSpPr txBox="1"/>
          <p:nvPr/>
        </p:nvSpPr>
        <p:spPr>
          <a:xfrm>
            <a:off x="7040880" y="2478024"/>
            <a:ext cx="393192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FFFFFF"/>
                </a:solidFill>
                <a:latin typeface="Noto Sans CJK KR" pitchFamily="34" charset="0"/>
                <a:ea typeface="Noto Sans CJK KR" pitchFamily="34" charset="-122"/>
                <a:cs typeface="Noto Sans CJK KR" pitchFamily="34" charset="-120"/>
              </a:rPr>
              <a:t>승소 판결문</a:t>
            </a:r>
            <a:endParaRPr lang="en-US" sz="1400" dirty="0"/>
          </a:p>
        </p:txBody>
      </p:sp>
      <p:sp>
        <p:nvSpPr>
          <p:cNvPr id="15" name="Text 13"/>
          <p:cNvSpPr txBox="1"/>
          <p:nvPr/>
        </p:nvSpPr>
        <p:spPr>
          <a:xfrm>
            <a:off x="7040880" y="2843784"/>
            <a:ext cx="3931920" cy="1490472"/>
          </a:xfrm>
          <a:prstGeom prst="rect">
            <a:avLst/>
          </a:prstGeom>
          <a:noFill/>
          <a:ln/>
        </p:spPr>
        <p:txBody>
          <a:bodyPr wrap="square" lIns="0" tIns="0" rIns="0" bIns="0" rtlCol="0" anchor="t">
            <a:normAutofit/>
          </a:bodyPr>
          <a:lstStyle/>
          <a:p>
            <a:pPr algn="l" indent="0" marL="0">
              <a:lnSpc>
                <a:spcPct val="92000"/>
              </a:lnSpc>
              <a:buNone/>
            </a:pPr>
            <a:r>
              <a:rPr lang="en-US" sz="1250" dirty="0">
                <a:solidFill>
                  <a:srgbClr val="DCE5EE"/>
                </a:solidFill>
                <a:latin typeface="Noto Sans CJK KR" pitchFamily="34" charset="0"/>
                <a:ea typeface="Noto Sans CJK KR" pitchFamily="34" charset="-122"/>
                <a:cs typeface="Noto Sans CJK KR" pitchFamily="34" charset="-120"/>
              </a:rPr>
              <a:t>민사집행법상 일정 예금 채권은 법정 압류금지 대상</a:t>
            </a:r>
            <a:endParaRPr lang="en-US" sz="1250" dirty="0"/>
          </a:p>
        </p:txBody>
      </p:sp>
      <p:sp>
        <p:nvSpPr>
          <p:cNvPr id="16" name="Text 14"/>
          <p:cNvSpPr txBox="1"/>
          <p:nvPr/>
        </p:nvSpPr>
        <p:spPr>
          <a:xfrm>
            <a:off x="914400" y="4983480"/>
            <a:ext cx="10241280" cy="594360"/>
          </a:xfrm>
          <a:prstGeom prst="rect">
            <a:avLst/>
          </a:prstGeom>
          <a:noFill/>
          <a:ln/>
        </p:spPr>
        <p:txBody>
          <a:bodyPr wrap="square" lIns="0" tIns="0" rIns="0" bIns="0" rtlCol="0" anchor="ctr">
            <a:normAutofit/>
          </a:bodyPr>
          <a:lstStyle/>
          <a:p>
            <a:pPr algn="ctr" indent="0" marL="0">
              <a:lnSpc>
                <a:spcPct val="92000"/>
              </a:lnSpc>
              <a:buNone/>
            </a:pPr>
            <a:r>
              <a:rPr lang="en-US" sz="1400" dirty="0">
                <a:solidFill>
                  <a:srgbClr val="DCE5EE"/>
                </a:solidFill>
                <a:latin typeface="Noto Sans CJK KR" pitchFamily="34" charset="0"/>
                <a:ea typeface="Noto Sans CJK KR" pitchFamily="34" charset="-122"/>
                <a:cs typeface="Noto Sans CJK KR" pitchFamily="34" charset="-120"/>
              </a:rPr>
              <a:t>재산조회 신청 시 조회기관별 비용 발생</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30352" y="310896"/>
            <a:ext cx="4389120" cy="210312"/>
          </a:xfrm>
          <a:prstGeom prst="rect">
            <a:avLst/>
          </a:prstGeom>
          <a:noFill/>
          <a:ln/>
        </p:spPr>
        <p:txBody>
          <a:bodyPr wrap="square" lIns="0" tIns="0" rIns="0" bIns="0" rtlCol="0" anchor="ctr">
            <a:normAutofit/>
          </a:bodyPr>
          <a:lstStyle/>
          <a:p>
            <a:pPr algn="l" indent="0" marL="0">
              <a:lnSpc>
                <a:spcPct val="92000"/>
              </a:lnSpc>
              <a:buNone/>
            </a:pPr>
            <a:r>
              <a:rPr lang="en-US" sz="900" b="1" spc="140" kern="0" dirty="0">
                <a:solidFill>
                  <a:srgbClr val="533AFD"/>
                </a:solidFill>
                <a:latin typeface="Source Code Pro" pitchFamily="34" charset="0"/>
                <a:ea typeface="Source Code Pro" pitchFamily="34" charset="-122"/>
                <a:cs typeface="Source Code Pro" pitchFamily="34" charset="-120"/>
              </a:rPr>
              <a:t>Section 3. AI 서비스 설계</a:t>
            </a:r>
            <a:endParaRPr lang="en-US" sz="900" dirty="0"/>
          </a:p>
        </p:txBody>
      </p:sp>
      <p:sp>
        <p:nvSpPr>
          <p:cNvPr id="3" name="Text 1"/>
          <p:cNvSpPr txBox="1"/>
          <p:nvPr/>
        </p:nvSpPr>
        <p:spPr>
          <a:xfrm>
            <a:off x="530352" y="566928"/>
            <a:ext cx="11018520" cy="512064"/>
          </a:xfrm>
          <a:prstGeom prst="rect">
            <a:avLst/>
          </a:prstGeom>
          <a:noFill/>
          <a:ln/>
        </p:spPr>
        <p:txBody>
          <a:bodyPr wrap="square" lIns="0" tIns="0" rIns="0" bIns="0" rtlCol="0" anchor="ctr">
            <a:normAutofit/>
          </a:bodyPr>
          <a:lstStyle/>
          <a:p>
            <a:pPr algn="l" indent="0" marL="0">
              <a:lnSpc>
                <a:spcPct val="92000"/>
              </a:lnSpc>
              <a:buNone/>
            </a:pPr>
            <a:r>
              <a:rPr lang="en-US" sz="2400" b="1" dirty="0">
                <a:solidFill>
                  <a:srgbClr val="061B31"/>
                </a:solidFill>
                <a:latin typeface="Noto Sans CJK KR" pitchFamily="34" charset="0"/>
                <a:ea typeface="Noto Sans CJK KR" pitchFamily="34" charset="-122"/>
                <a:cs typeface="Noto Sans CJK KR" pitchFamily="34" charset="-120"/>
              </a:rPr>
              <a:t>제품의 답: 사용자가 통제하는 내비게이터</a:t>
            </a:r>
            <a:endParaRPr lang="en-US" sz="2400" dirty="0"/>
          </a:p>
        </p:txBody>
      </p:sp>
      <p:sp>
        <p:nvSpPr>
          <p:cNvPr id="4" name="Shape 2"/>
          <p:cNvSpPr/>
          <p:nvPr/>
        </p:nvSpPr>
        <p:spPr>
          <a:xfrm>
            <a:off x="530352" y="1124712"/>
            <a:ext cx="960120" cy="0"/>
          </a:xfrm>
          <a:prstGeom prst="line">
            <a:avLst/>
          </a:prstGeom>
          <a:noFill/>
          <a:ln w="38100">
            <a:solidFill>
              <a:srgbClr val="533AFD"/>
            </a:solidFill>
            <a:prstDash val="solid"/>
            <a:headEnd type="none"/>
            <a:tailEnd type="none"/>
          </a:ln>
        </p:spPr>
      </p:sp>
      <p:sp>
        <p:nvSpPr>
          <p:cNvPr id="5" name="Text 3"/>
          <p:cNvSpPr txBox="1"/>
          <p:nvPr/>
        </p:nvSpPr>
        <p:spPr>
          <a:xfrm>
            <a:off x="4754880" y="6291072"/>
            <a:ext cx="6903720" cy="182880"/>
          </a:xfrm>
          <a:prstGeom prst="rect">
            <a:avLst/>
          </a:prstGeom>
          <a:noFill/>
          <a:ln/>
        </p:spPr>
        <p:txBody>
          <a:bodyPr wrap="square" lIns="0" tIns="0" rIns="0" bIns="0" rtlCol="0" anchor="ctr">
            <a:normAutofit/>
          </a:bodyPr>
          <a:lstStyle/>
          <a:p>
            <a:pPr algn="r" indent="0" marL="0">
              <a:lnSpc>
                <a:spcPct val="92000"/>
              </a:lnSpc>
              <a:buNone/>
            </a:pPr>
            <a:r>
              <a:rPr lang="en-US" sz="900" dirty="0">
                <a:solidFill>
                  <a:srgbClr val="8A97A5"/>
                </a:solidFill>
                <a:latin typeface="Source Code Pro" pitchFamily="34" charset="0"/>
                <a:ea typeface="Source Code Pro" pitchFamily="34" charset="-122"/>
                <a:cs typeface="Source Code Pro" pitchFamily="34" charset="-120"/>
              </a:rPr>
              <a:t>[S089]</a:t>
            </a:r>
            <a:endParaRPr lang="en-US" sz="900" dirty="0"/>
          </a:p>
        </p:txBody>
      </p:sp>
      <p:sp>
        <p:nvSpPr>
          <p:cNvPr id="6" name="Text 4"/>
          <p:cNvSpPr txBox="1"/>
          <p:nvPr/>
        </p:nvSpPr>
        <p:spPr>
          <a:xfrm>
            <a:off x="530352" y="1325880"/>
            <a:ext cx="11018520" cy="502920"/>
          </a:xfrm>
          <a:prstGeom prst="rect">
            <a:avLst/>
          </a:prstGeom>
          <a:noFill/>
          <a:ln/>
        </p:spPr>
        <p:txBody>
          <a:bodyPr wrap="square" lIns="0" tIns="0" rIns="0" bIns="0" rtlCol="0" anchor="t">
            <a:normAutofit/>
          </a:bodyPr>
          <a:lstStyle/>
          <a:p>
            <a:pPr algn="l" indent="0" marL="0">
              <a:lnSpc>
                <a:spcPct val="92000"/>
              </a:lnSpc>
              <a:buNone/>
            </a:pPr>
            <a:r>
              <a:rPr lang="en-US" sz="2000" b="1" dirty="0">
                <a:solidFill>
                  <a:srgbClr val="061B31"/>
                </a:solidFill>
                <a:latin typeface="Noto Sans CJK KR" pitchFamily="34" charset="0"/>
                <a:ea typeface="Noto Sans CJK KR" pitchFamily="34" charset="-122"/>
                <a:cs typeface="Noto Sans CJK KR" pitchFamily="34" charset="-120"/>
              </a:rPr>
              <a:t>AI는 법률 대리나 승소 예측이 아닌 증거 무결성 보존과 절차 안내를 보조한다.</a:t>
            </a:r>
            <a:endParaRPr lang="en-US" sz="2000" dirty="0"/>
          </a:p>
        </p:txBody>
      </p:sp>
      <p:sp>
        <p:nvSpPr>
          <p:cNvPr id="7" name="Shape 5"/>
          <p:cNvSpPr/>
          <p:nvPr/>
        </p:nvSpPr>
        <p:spPr>
          <a:xfrm>
            <a:off x="530352" y="2011680"/>
            <a:ext cx="5486400" cy="3611880"/>
          </a:xfrm>
          <a:prstGeom prst="roundRect">
            <a:avLst>
              <a:gd name="adj" fmla="val 1519"/>
            </a:avLst>
          </a:prstGeom>
          <a:solidFill>
            <a:srgbClr val="FFFFFF"/>
          </a:solidFill>
          <a:ln w="10160">
            <a:solidFill>
              <a:srgbClr val="533AFD"/>
            </a:solidFill>
            <a:prstDash val="solid"/>
          </a:ln>
        </p:spPr>
      </p:sp>
      <p:sp>
        <p:nvSpPr>
          <p:cNvPr id="8" name="Text 6"/>
          <p:cNvSpPr txBox="1"/>
          <p:nvPr/>
        </p:nvSpPr>
        <p:spPr>
          <a:xfrm>
            <a:off x="841248" y="2423160"/>
            <a:ext cx="4846320" cy="685800"/>
          </a:xfrm>
          <a:prstGeom prst="rect">
            <a:avLst/>
          </a:prstGeom>
          <a:noFill/>
          <a:ln/>
        </p:spPr>
        <p:txBody>
          <a:bodyPr wrap="square" lIns="0" tIns="0" rIns="0" bIns="0" rtlCol="0" anchor="ctr">
            <a:normAutofit/>
          </a:bodyPr>
          <a:lstStyle/>
          <a:p>
            <a:pPr algn="l" indent="0" marL="0">
              <a:lnSpc>
                <a:spcPct val="92000"/>
              </a:lnSpc>
              <a:buNone/>
            </a:pPr>
            <a:r>
              <a:rPr lang="en-US" sz="2000" b="1" dirty="0">
                <a:solidFill>
                  <a:srgbClr val="061B31"/>
                </a:solidFill>
                <a:latin typeface="Noto Sans CJK KR" pitchFamily="34" charset="0"/>
                <a:ea typeface="Noto Sans CJK KR" pitchFamily="34" charset="-122"/>
                <a:cs typeface="Noto Sans CJK KR" pitchFamily="34" charset="-120"/>
              </a:rPr>
              <a:t>제품 정체성</a:t>
            </a:r>
            <a:endParaRPr lang="en-US" sz="2000" dirty="0"/>
          </a:p>
        </p:txBody>
      </p:sp>
      <p:sp>
        <p:nvSpPr>
          <p:cNvPr id="9" name="Shape 7"/>
          <p:cNvSpPr/>
          <p:nvPr/>
        </p:nvSpPr>
        <p:spPr>
          <a:xfrm>
            <a:off x="841248" y="3383280"/>
            <a:ext cx="82296" cy="82296"/>
          </a:xfrm>
          <a:prstGeom prst="ellipse">
            <a:avLst/>
          </a:prstGeom>
          <a:solidFill>
            <a:srgbClr val="533AFD"/>
          </a:solidFill>
          <a:ln w="12700">
            <a:solidFill>
              <a:srgbClr val="533AFD"/>
            </a:solidFill>
            <a:prstDash val="solid"/>
          </a:ln>
        </p:spPr>
      </p:sp>
      <p:sp>
        <p:nvSpPr>
          <p:cNvPr id="10" name="Text 8"/>
          <p:cNvSpPr txBox="1"/>
          <p:nvPr/>
        </p:nvSpPr>
        <p:spPr>
          <a:xfrm>
            <a:off x="1024128" y="3246120"/>
            <a:ext cx="4480560" cy="640080"/>
          </a:xfrm>
          <a:prstGeom prst="rect">
            <a:avLst/>
          </a:prstGeom>
          <a:noFill/>
          <a:ln/>
        </p:spPr>
        <p:txBody>
          <a:bodyPr wrap="square" lIns="0" tIns="0" rIns="0" bIns="0" rtlCol="0" anchor="ctr">
            <a:normAutofit/>
          </a:bodyPr>
          <a:lstStyle/>
          <a:p>
            <a:pPr algn="l" indent="0" marL="0">
              <a:lnSpc>
                <a:spcPct val="92000"/>
              </a:lnSpc>
              <a:buNone/>
            </a:pPr>
            <a:r>
              <a:rPr lang="en-US" sz="1350" dirty="0">
                <a:solidFill>
                  <a:srgbClr val="526274"/>
                </a:solidFill>
                <a:latin typeface="Noto Sans CJK KR" pitchFamily="34" charset="0"/>
                <a:ea typeface="Noto Sans CJK KR" pitchFamily="34" charset="-122"/>
                <a:cs typeface="Noto Sans CJK KR" pitchFamily="34" charset="-120"/>
              </a:rPr>
              <a:t>제109조상 이익을 전제로 한 비변호사 법률사무 위험 통제</a:t>
            </a:r>
            <a:endParaRPr lang="en-US" sz="1350" dirty="0"/>
          </a:p>
        </p:txBody>
      </p:sp>
      <p:sp>
        <p:nvSpPr>
          <p:cNvPr id="11" name="Shape 9"/>
          <p:cNvSpPr/>
          <p:nvPr/>
        </p:nvSpPr>
        <p:spPr>
          <a:xfrm>
            <a:off x="841248" y="4023360"/>
            <a:ext cx="82296" cy="82296"/>
          </a:xfrm>
          <a:prstGeom prst="ellipse">
            <a:avLst/>
          </a:prstGeom>
          <a:solidFill>
            <a:srgbClr val="533AFD"/>
          </a:solidFill>
          <a:ln w="12700">
            <a:solidFill>
              <a:srgbClr val="533AFD"/>
            </a:solidFill>
            <a:prstDash val="solid"/>
          </a:ln>
        </p:spPr>
      </p:sp>
      <p:sp>
        <p:nvSpPr>
          <p:cNvPr id="12" name="Text 10"/>
          <p:cNvSpPr txBox="1"/>
          <p:nvPr/>
        </p:nvSpPr>
        <p:spPr>
          <a:xfrm>
            <a:off x="1024128" y="3886200"/>
            <a:ext cx="4480560" cy="640080"/>
          </a:xfrm>
          <a:prstGeom prst="rect">
            <a:avLst/>
          </a:prstGeom>
          <a:noFill/>
          <a:ln/>
        </p:spPr>
        <p:txBody>
          <a:bodyPr wrap="square" lIns="0" tIns="0" rIns="0" bIns="0" rtlCol="0" anchor="ctr">
            <a:normAutofit/>
          </a:bodyPr>
          <a:lstStyle/>
          <a:p>
            <a:pPr algn="l" indent="0" marL="0">
              <a:lnSpc>
                <a:spcPct val="92000"/>
              </a:lnSpc>
              <a:buNone/>
            </a:pPr>
            <a:r>
              <a:rPr lang="en-US" sz="1350" dirty="0">
                <a:solidFill>
                  <a:srgbClr val="526274"/>
                </a:solidFill>
                <a:latin typeface="Noto Sans CJK KR" pitchFamily="34" charset="0"/>
                <a:ea typeface="Noto Sans CJK KR" pitchFamily="34" charset="-122"/>
                <a:cs typeface="Noto Sans CJK KR" pitchFamily="34" charset="-120"/>
              </a:rPr>
              <a:t>수집 후 증거 해시 관리 및 연표 구조화에 집중</a:t>
            </a:r>
            <a:endParaRPr lang="en-US" sz="1350" dirty="0"/>
          </a:p>
        </p:txBody>
      </p:sp>
      <p:sp>
        <p:nvSpPr>
          <p:cNvPr id="13" name="Shape 11"/>
          <p:cNvSpPr/>
          <p:nvPr/>
        </p:nvSpPr>
        <p:spPr>
          <a:xfrm>
            <a:off x="841248" y="4663440"/>
            <a:ext cx="82296" cy="82296"/>
          </a:xfrm>
          <a:prstGeom prst="ellipse">
            <a:avLst/>
          </a:prstGeom>
          <a:solidFill>
            <a:srgbClr val="533AFD"/>
          </a:solidFill>
          <a:ln w="12700">
            <a:solidFill>
              <a:srgbClr val="533AFD"/>
            </a:solidFill>
            <a:prstDash val="solid"/>
          </a:ln>
        </p:spPr>
      </p:sp>
      <p:sp>
        <p:nvSpPr>
          <p:cNvPr id="14" name="Text 12"/>
          <p:cNvSpPr txBox="1"/>
          <p:nvPr/>
        </p:nvSpPr>
        <p:spPr>
          <a:xfrm>
            <a:off x="1024128" y="4526280"/>
            <a:ext cx="4480560" cy="640080"/>
          </a:xfrm>
          <a:prstGeom prst="rect">
            <a:avLst/>
          </a:prstGeom>
          <a:noFill/>
          <a:ln/>
        </p:spPr>
        <p:txBody>
          <a:bodyPr wrap="square" lIns="0" tIns="0" rIns="0" bIns="0" rtlCol="0" anchor="ctr">
            <a:normAutofit/>
          </a:bodyPr>
          <a:lstStyle/>
          <a:p>
            <a:pPr algn="l" indent="0" marL="0">
              <a:lnSpc>
                <a:spcPct val="92000"/>
              </a:lnSpc>
              <a:buNone/>
            </a:pPr>
            <a:r>
              <a:rPr lang="en-US" sz="1350" dirty="0">
                <a:solidFill>
                  <a:srgbClr val="526274"/>
                </a:solidFill>
                <a:latin typeface="Noto Sans CJK KR" pitchFamily="34" charset="0"/>
                <a:ea typeface="Noto Sans CJK KR" pitchFamily="34" charset="-122"/>
                <a:cs typeface="Noto Sans CJK KR" pitchFamily="34" charset="-120"/>
              </a:rPr>
              <a:t>검증된 공공 절차 Handoff 및 기한·상태 관리 지원</a:t>
            </a:r>
            <a:endParaRPr lang="en-US" sz="1350" dirty="0"/>
          </a:p>
        </p:txBody>
      </p:sp>
      <p:sp>
        <p:nvSpPr>
          <p:cNvPr id="15" name="Shape 13"/>
          <p:cNvSpPr/>
          <p:nvPr/>
        </p:nvSpPr>
        <p:spPr>
          <a:xfrm>
            <a:off x="6400800" y="2011680"/>
            <a:ext cx="2331720" cy="1417320"/>
          </a:xfrm>
          <a:prstGeom prst="roundRect">
            <a:avLst>
              <a:gd name="adj" fmla="val 3871"/>
            </a:avLst>
          </a:prstGeom>
          <a:solidFill>
            <a:srgbClr val="FBE8ED"/>
          </a:solidFill>
          <a:ln w="10160">
            <a:solidFill>
              <a:srgbClr val="DCE5EE"/>
            </a:solidFill>
            <a:prstDash val="solid"/>
          </a:ln>
        </p:spPr>
      </p:sp>
      <p:sp>
        <p:nvSpPr>
          <p:cNvPr id="16" name="Shape 14"/>
          <p:cNvSpPr/>
          <p:nvPr/>
        </p:nvSpPr>
        <p:spPr>
          <a:xfrm>
            <a:off x="6400800" y="2011680"/>
            <a:ext cx="2331720" cy="0"/>
          </a:xfrm>
          <a:prstGeom prst="line">
            <a:avLst/>
          </a:prstGeom>
          <a:noFill/>
          <a:ln w="38100">
            <a:solidFill>
              <a:srgbClr val="C73555"/>
            </a:solidFill>
            <a:prstDash val="solid"/>
            <a:headEnd type="none"/>
            <a:tailEnd type="none"/>
          </a:ln>
        </p:spPr>
      </p:sp>
      <p:sp>
        <p:nvSpPr>
          <p:cNvPr id="17" name="Text 15"/>
          <p:cNvSpPr txBox="1"/>
          <p:nvPr/>
        </p:nvSpPr>
        <p:spPr>
          <a:xfrm>
            <a:off x="6583680" y="2157984"/>
            <a:ext cx="196596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증거 무결성</a:t>
            </a:r>
            <a:endParaRPr lang="en-US" sz="1400" dirty="0"/>
          </a:p>
        </p:txBody>
      </p:sp>
      <p:sp>
        <p:nvSpPr>
          <p:cNvPr id="18" name="Shape 16"/>
          <p:cNvSpPr/>
          <p:nvPr/>
        </p:nvSpPr>
        <p:spPr>
          <a:xfrm>
            <a:off x="9006840" y="2011680"/>
            <a:ext cx="2331720" cy="1417320"/>
          </a:xfrm>
          <a:prstGeom prst="roundRect">
            <a:avLst>
              <a:gd name="adj" fmla="val 3871"/>
            </a:avLst>
          </a:prstGeom>
          <a:solidFill>
            <a:srgbClr val="FBE8ED"/>
          </a:solidFill>
          <a:ln w="10160">
            <a:solidFill>
              <a:srgbClr val="DCE5EE"/>
            </a:solidFill>
            <a:prstDash val="solid"/>
          </a:ln>
        </p:spPr>
      </p:sp>
      <p:sp>
        <p:nvSpPr>
          <p:cNvPr id="19" name="Shape 17"/>
          <p:cNvSpPr/>
          <p:nvPr/>
        </p:nvSpPr>
        <p:spPr>
          <a:xfrm>
            <a:off x="9006840" y="2011680"/>
            <a:ext cx="2331720" cy="0"/>
          </a:xfrm>
          <a:prstGeom prst="line">
            <a:avLst/>
          </a:prstGeom>
          <a:noFill/>
          <a:ln w="38100">
            <a:solidFill>
              <a:srgbClr val="C73555"/>
            </a:solidFill>
            <a:prstDash val="solid"/>
            <a:headEnd type="none"/>
            <a:tailEnd type="none"/>
          </a:ln>
        </p:spPr>
      </p:sp>
      <p:sp>
        <p:nvSpPr>
          <p:cNvPr id="20" name="Text 18"/>
          <p:cNvSpPr txBox="1"/>
          <p:nvPr/>
        </p:nvSpPr>
        <p:spPr>
          <a:xfrm>
            <a:off x="9189720" y="2157984"/>
            <a:ext cx="196596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절차 라우팅</a:t>
            </a:r>
            <a:endParaRPr lang="en-US" sz="1400" dirty="0"/>
          </a:p>
        </p:txBody>
      </p:sp>
      <p:sp>
        <p:nvSpPr>
          <p:cNvPr id="21" name="Shape 19"/>
          <p:cNvSpPr/>
          <p:nvPr/>
        </p:nvSpPr>
        <p:spPr>
          <a:xfrm>
            <a:off x="6400800" y="3794760"/>
            <a:ext cx="2331720" cy="1417320"/>
          </a:xfrm>
          <a:prstGeom prst="roundRect">
            <a:avLst>
              <a:gd name="adj" fmla="val 3871"/>
            </a:avLst>
          </a:prstGeom>
          <a:solidFill>
            <a:srgbClr val="F7EEDC"/>
          </a:solidFill>
          <a:ln w="10160">
            <a:solidFill>
              <a:srgbClr val="DCE5EE"/>
            </a:solidFill>
            <a:prstDash val="solid"/>
          </a:ln>
        </p:spPr>
      </p:sp>
      <p:sp>
        <p:nvSpPr>
          <p:cNvPr id="22" name="Shape 20"/>
          <p:cNvSpPr/>
          <p:nvPr/>
        </p:nvSpPr>
        <p:spPr>
          <a:xfrm>
            <a:off x="6400800" y="3794760"/>
            <a:ext cx="2331720" cy="0"/>
          </a:xfrm>
          <a:prstGeom prst="line">
            <a:avLst/>
          </a:prstGeom>
          <a:noFill/>
          <a:ln w="38100">
            <a:solidFill>
              <a:srgbClr val="A66712"/>
            </a:solidFill>
            <a:prstDash val="solid"/>
            <a:headEnd type="none"/>
            <a:tailEnd type="none"/>
          </a:ln>
        </p:spPr>
      </p:sp>
      <p:sp>
        <p:nvSpPr>
          <p:cNvPr id="23" name="Text 21"/>
          <p:cNvSpPr txBox="1"/>
          <p:nvPr/>
        </p:nvSpPr>
        <p:spPr>
          <a:xfrm>
            <a:off x="6583680" y="3941064"/>
            <a:ext cx="196596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공공 Handoff</a:t>
            </a:r>
            <a:endParaRPr lang="en-US" sz="1400" dirty="0"/>
          </a:p>
        </p:txBody>
      </p:sp>
      <p:sp>
        <p:nvSpPr>
          <p:cNvPr id="24" name="Shape 22"/>
          <p:cNvSpPr/>
          <p:nvPr/>
        </p:nvSpPr>
        <p:spPr>
          <a:xfrm>
            <a:off x="9006840" y="3794760"/>
            <a:ext cx="2331720" cy="1417320"/>
          </a:xfrm>
          <a:prstGeom prst="roundRect">
            <a:avLst>
              <a:gd name="adj" fmla="val 3871"/>
            </a:avLst>
          </a:prstGeom>
          <a:solidFill>
            <a:srgbClr val="F7EEDC"/>
          </a:solidFill>
          <a:ln w="10160">
            <a:solidFill>
              <a:srgbClr val="DCE5EE"/>
            </a:solidFill>
            <a:prstDash val="solid"/>
          </a:ln>
        </p:spPr>
      </p:sp>
      <p:sp>
        <p:nvSpPr>
          <p:cNvPr id="25" name="Shape 23"/>
          <p:cNvSpPr/>
          <p:nvPr/>
        </p:nvSpPr>
        <p:spPr>
          <a:xfrm>
            <a:off x="9006840" y="3794760"/>
            <a:ext cx="2331720" cy="0"/>
          </a:xfrm>
          <a:prstGeom prst="line">
            <a:avLst/>
          </a:prstGeom>
          <a:noFill/>
          <a:ln w="38100">
            <a:solidFill>
              <a:srgbClr val="A66712"/>
            </a:solidFill>
            <a:prstDash val="solid"/>
            <a:headEnd type="none"/>
            <a:tailEnd type="none"/>
          </a:ln>
        </p:spPr>
      </p:sp>
      <p:sp>
        <p:nvSpPr>
          <p:cNvPr id="26" name="Text 24"/>
          <p:cNvSpPr txBox="1"/>
          <p:nvPr/>
        </p:nvSpPr>
        <p:spPr>
          <a:xfrm>
            <a:off x="9189720" y="3941064"/>
            <a:ext cx="196596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위험 통제</a:t>
            </a:r>
            <a:endParaRPr lang="en-US" sz="1400" dirty="0"/>
          </a:p>
        </p:txBody>
      </p:sp>
      <p:sp>
        <p:nvSpPr>
          <p:cNvPr id="25" name="Slide Number Placeholder 0"/>
          <p:cNvSpPr>
            <a:spLocks noGrp="1"/>
          </p:cNvSpPr>
          <p:nvPr>
            <p:ph type="sldNum" sz="quarter" idx="4294967295"/>
          </p:nvPr>
        </p:nvSpPr>
        <p:spPr>
          <a:xfrm>
            <a:off x="530352" y="6556248"/>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8A97A5"/>
                </a:solidFill>
                <a:latin typeface="Source Code Pro"/>
                <a:ea typeface="Source Code Pro"/>
                <a:cs typeface="Source Code Pro"/>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30352" y="310896"/>
            <a:ext cx="4389120" cy="210312"/>
          </a:xfrm>
          <a:prstGeom prst="rect">
            <a:avLst/>
          </a:prstGeom>
          <a:noFill/>
          <a:ln/>
        </p:spPr>
        <p:txBody>
          <a:bodyPr wrap="square" lIns="0" tIns="0" rIns="0" bIns="0" rtlCol="0" anchor="ctr">
            <a:normAutofit/>
          </a:bodyPr>
          <a:lstStyle/>
          <a:p>
            <a:pPr algn="l" indent="0" marL="0">
              <a:lnSpc>
                <a:spcPct val="92000"/>
              </a:lnSpc>
              <a:buNone/>
            </a:pPr>
            <a:r>
              <a:rPr lang="en-US" sz="900" b="1" spc="140" kern="0" dirty="0">
                <a:solidFill>
                  <a:srgbClr val="533AFD"/>
                </a:solidFill>
                <a:latin typeface="Source Code Pro" pitchFamily="34" charset="0"/>
                <a:ea typeface="Source Code Pro" pitchFamily="34" charset="-122"/>
                <a:cs typeface="Source Code Pro" pitchFamily="34" charset="-120"/>
              </a:rPr>
              <a:t>Section 3. 증거 아키텍처</a:t>
            </a:r>
            <a:endParaRPr lang="en-US" sz="900" dirty="0"/>
          </a:p>
        </p:txBody>
      </p:sp>
      <p:sp>
        <p:nvSpPr>
          <p:cNvPr id="3" name="Text 1"/>
          <p:cNvSpPr txBox="1"/>
          <p:nvPr/>
        </p:nvSpPr>
        <p:spPr>
          <a:xfrm>
            <a:off x="530352" y="566928"/>
            <a:ext cx="11018520" cy="512064"/>
          </a:xfrm>
          <a:prstGeom prst="rect">
            <a:avLst/>
          </a:prstGeom>
          <a:noFill/>
          <a:ln/>
        </p:spPr>
        <p:txBody>
          <a:bodyPr wrap="square" lIns="0" tIns="0" rIns="0" bIns="0" rtlCol="0" anchor="ctr">
            <a:normAutofit/>
          </a:bodyPr>
          <a:lstStyle/>
          <a:p>
            <a:pPr algn="l" indent="0" marL="0">
              <a:lnSpc>
                <a:spcPct val="92000"/>
              </a:lnSpc>
              <a:buNone/>
            </a:pPr>
            <a:r>
              <a:rPr lang="en-US" sz="2400" b="1" dirty="0">
                <a:solidFill>
                  <a:srgbClr val="061B31"/>
                </a:solidFill>
                <a:latin typeface="Noto Sans CJK KR" pitchFamily="34" charset="0"/>
                <a:ea typeface="Noto Sans CJK KR" pitchFamily="34" charset="-122"/>
                <a:cs typeface="Noto Sans CJK KR" pitchFamily="34" charset="-120"/>
              </a:rPr>
              <a:t>증거 Dossier: 원본 보존부터 공공 제출까지</a:t>
            </a:r>
            <a:endParaRPr lang="en-US" sz="2400" dirty="0"/>
          </a:p>
        </p:txBody>
      </p:sp>
      <p:sp>
        <p:nvSpPr>
          <p:cNvPr id="4" name="Shape 2"/>
          <p:cNvSpPr/>
          <p:nvPr/>
        </p:nvSpPr>
        <p:spPr>
          <a:xfrm>
            <a:off x="530352" y="1124712"/>
            <a:ext cx="960120" cy="0"/>
          </a:xfrm>
          <a:prstGeom prst="line">
            <a:avLst/>
          </a:prstGeom>
          <a:noFill/>
          <a:ln w="38100">
            <a:solidFill>
              <a:srgbClr val="533AFD"/>
            </a:solidFill>
            <a:prstDash val="solid"/>
            <a:headEnd type="none"/>
            <a:tailEnd type="none"/>
          </a:ln>
        </p:spPr>
      </p:sp>
      <p:sp>
        <p:nvSpPr>
          <p:cNvPr id="5" name="Text 3"/>
          <p:cNvSpPr txBox="1"/>
          <p:nvPr/>
        </p:nvSpPr>
        <p:spPr>
          <a:xfrm>
            <a:off x="4754880" y="6291072"/>
            <a:ext cx="6903720" cy="182880"/>
          </a:xfrm>
          <a:prstGeom prst="rect">
            <a:avLst/>
          </a:prstGeom>
          <a:noFill/>
          <a:ln/>
        </p:spPr>
        <p:txBody>
          <a:bodyPr wrap="square" lIns="0" tIns="0" rIns="0" bIns="0" rtlCol="0" anchor="ctr">
            <a:normAutofit/>
          </a:bodyPr>
          <a:lstStyle/>
          <a:p>
            <a:pPr algn="r" indent="0" marL="0">
              <a:lnSpc>
                <a:spcPct val="92000"/>
              </a:lnSpc>
              <a:buNone/>
            </a:pPr>
            <a:r>
              <a:rPr lang="en-US" sz="900" dirty="0">
                <a:solidFill>
                  <a:srgbClr val="8A97A5"/>
                </a:solidFill>
                <a:latin typeface="Source Code Pro" pitchFamily="34" charset="0"/>
                <a:ea typeface="Source Code Pro" pitchFamily="34" charset="-122"/>
                <a:cs typeface="Source Code Pro" pitchFamily="34" charset="-120"/>
              </a:rPr>
              <a:t>[S063–S069] [S078]</a:t>
            </a:r>
            <a:endParaRPr lang="en-US" sz="900" dirty="0"/>
          </a:p>
        </p:txBody>
      </p:sp>
      <p:sp>
        <p:nvSpPr>
          <p:cNvPr id="6" name="Text 4"/>
          <p:cNvSpPr txBox="1"/>
          <p:nvPr/>
        </p:nvSpPr>
        <p:spPr>
          <a:xfrm>
            <a:off x="530352" y="1325880"/>
            <a:ext cx="11018520" cy="502920"/>
          </a:xfrm>
          <a:prstGeom prst="rect">
            <a:avLst/>
          </a:prstGeom>
          <a:noFill/>
          <a:ln/>
        </p:spPr>
        <p:txBody>
          <a:bodyPr wrap="square" lIns="0" tIns="0" rIns="0" bIns="0" rtlCol="0" anchor="t">
            <a:normAutofit/>
          </a:bodyPr>
          <a:lstStyle/>
          <a:p>
            <a:pPr algn="l" indent="0" marL="0">
              <a:lnSpc>
                <a:spcPct val="92000"/>
              </a:lnSpc>
              <a:buNone/>
            </a:pPr>
            <a:r>
              <a:rPr lang="en-US" sz="2000" b="1" dirty="0">
                <a:solidFill>
                  <a:srgbClr val="061B31"/>
                </a:solidFill>
                <a:latin typeface="Noto Sans CJK KR" pitchFamily="34" charset="0"/>
                <a:ea typeface="Noto Sans CJK KR" pitchFamily="34" charset="-122"/>
                <a:cs typeface="Noto Sans CJK KR" pitchFamily="34" charset="-120"/>
              </a:rPr>
              <a:t>수집 후 위변조 감지와 특정 시점 이전 존재 입증을 보조하며 사용자가 직접 제출한다.</a:t>
            </a:r>
            <a:endParaRPr lang="en-US" sz="2000" dirty="0"/>
          </a:p>
        </p:txBody>
      </p:sp>
      <p:sp>
        <p:nvSpPr>
          <p:cNvPr id="7" name="Shape 5"/>
          <p:cNvSpPr/>
          <p:nvPr/>
        </p:nvSpPr>
        <p:spPr>
          <a:xfrm>
            <a:off x="1574963" y="2697480"/>
            <a:ext cx="9103035" cy="0"/>
          </a:xfrm>
          <a:prstGeom prst="line">
            <a:avLst/>
          </a:prstGeom>
          <a:noFill/>
          <a:ln w="29210">
            <a:solidFill>
              <a:srgbClr val="533AFD"/>
            </a:solidFill>
            <a:prstDash val="solid"/>
            <a:tailEnd type="triangle"/>
          </a:ln>
        </p:spPr>
      </p:sp>
      <p:sp>
        <p:nvSpPr>
          <p:cNvPr id="8" name="Shape 6"/>
          <p:cNvSpPr/>
          <p:nvPr/>
        </p:nvSpPr>
        <p:spPr>
          <a:xfrm>
            <a:off x="640080" y="2240280"/>
            <a:ext cx="2077517" cy="914400"/>
          </a:xfrm>
          <a:prstGeom prst="roundRect">
            <a:avLst>
              <a:gd name="adj" fmla="val 6000"/>
            </a:avLst>
          </a:prstGeom>
          <a:solidFill>
            <a:srgbClr val="E9E7FF"/>
          </a:solidFill>
          <a:ln w="10160">
            <a:solidFill>
              <a:srgbClr val="533AFD"/>
            </a:solidFill>
            <a:prstDash val="solid"/>
          </a:ln>
        </p:spPr>
      </p:sp>
      <p:sp>
        <p:nvSpPr>
          <p:cNvPr id="9" name="Text 7"/>
          <p:cNvSpPr txBox="1"/>
          <p:nvPr/>
        </p:nvSpPr>
        <p:spPr>
          <a:xfrm>
            <a:off x="731520" y="2313432"/>
            <a:ext cx="1894637" cy="137160"/>
          </a:xfrm>
          <a:prstGeom prst="rect">
            <a:avLst/>
          </a:prstGeom>
          <a:noFill/>
          <a:ln/>
        </p:spPr>
        <p:txBody>
          <a:bodyPr wrap="square" lIns="0" tIns="0" rIns="0" bIns="0" rtlCol="0" anchor="ctr">
            <a:normAutofit/>
          </a:bodyPr>
          <a:lstStyle/>
          <a:p>
            <a:pPr algn="l" indent="0" marL="0">
              <a:lnSpc>
                <a:spcPct val="92000"/>
              </a:lnSpc>
              <a:buNone/>
            </a:pPr>
            <a:r>
              <a:rPr lang="en-US" sz="750" dirty="0">
                <a:solidFill>
                  <a:srgbClr val="533AFD"/>
                </a:solidFill>
                <a:latin typeface="Source Code Pro" pitchFamily="34" charset="0"/>
                <a:ea typeface="Source Code Pro" pitchFamily="34" charset="-122"/>
                <a:cs typeface="Source Code Pro" pitchFamily="34" charset="-120"/>
              </a:rPr>
              <a:t>01</a:t>
            </a:r>
            <a:endParaRPr lang="en-US" sz="750" dirty="0"/>
          </a:p>
        </p:txBody>
      </p:sp>
      <p:sp>
        <p:nvSpPr>
          <p:cNvPr id="10" name="Text 8"/>
          <p:cNvSpPr txBox="1"/>
          <p:nvPr/>
        </p:nvSpPr>
        <p:spPr>
          <a:xfrm>
            <a:off x="731520" y="2459736"/>
            <a:ext cx="1894637" cy="658368"/>
          </a:xfrm>
          <a:prstGeom prst="rect">
            <a:avLst/>
          </a:prstGeom>
          <a:noFill/>
          <a:ln/>
        </p:spPr>
        <p:txBody>
          <a:bodyPr wrap="square" lIns="0" tIns="0" rIns="0" bIns="0" rtlCol="0" anchor="ctr">
            <a:normAutofit/>
          </a:bodyPr>
          <a:lstStyle/>
          <a:p>
            <a:pPr algn="ctr" indent="0" marL="0">
              <a:lnSpc>
                <a:spcPct val="92000"/>
              </a:lnSpc>
              <a:buNone/>
            </a:pPr>
            <a:r>
              <a:rPr lang="en-US" sz="1200" b="1" dirty="0">
                <a:solidFill>
                  <a:srgbClr val="061B31"/>
                </a:solidFill>
                <a:latin typeface="Noto Sans CJK KR" pitchFamily="34" charset="0"/>
                <a:ea typeface="Noto Sans CJK KR" pitchFamily="34" charset="-122"/>
                <a:cs typeface="Noto Sans CJK KR" pitchFamily="34" charset="-120"/>
              </a:rPr>
              <a:t>데이터 보관</a:t>
            </a:r>
            <a:endParaRPr lang="en-US" sz="1200" dirty="0"/>
          </a:p>
        </p:txBody>
      </p:sp>
      <p:sp>
        <p:nvSpPr>
          <p:cNvPr id="11" name="Shape 9"/>
          <p:cNvSpPr/>
          <p:nvPr/>
        </p:nvSpPr>
        <p:spPr>
          <a:xfrm>
            <a:off x="2863901" y="2240280"/>
            <a:ext cx="2077517" cy="914400"/>
          </a:xfrm>
          <a:prstGeom prst="roundRect">
            <a:avLst>
              <a:gd name="adj" fmla="val 6000"/>
            </a:avLst>
          </a:prstGeom>
          <a:solidFill>
            <a:srgbClr val="FFFFFF"/>
          </a:solidFill>
          <a:ln w="10160">
            <a:solidFill>
              <a:srgbClr val="DCE5EE"/>
            </a:solidFill>
            <a:prstDash val="solid"/>
          </a:ln>
        </p:spPr>
      </p:sp>
      <p:sp>
        <p:nvSpPr>
          <p:cNvPr id="12" name="Text 10"/>
          <p:cNvSpPr txBox="1"/>
          <p:nvPr/>
        </p:nvSpPr>
        <p:spPr>
          <a:xfrm>
            <a:off x="2955341" y="2313432"/>
            <a:ext cx="1894637" cy="137160"/>
          </a:xfrm>
          <a:prstGeom prst="rect">
            <a:avLst/>
          </a:prstGeom>
          <a:noFill/>
          <a:ln/>
        </p:spPr>
        <p:txBody>
          <a:bodyPr wrap="square" lIns="0" tIns="0" rIns="0" bIns="0" rtlCol="0" anchor="ctr">
            <a:normAutofit/>
          </a:bodyPr>
          <a:lstStyle/>
          <a:p>
            <a:pPr algn="l" indent="0" marL="0">
              <a:lnSpc>
                <a:spcPct val="92000"/>
              </a:lnSpc>
              <a:buNone/>
            </a:pPr>
            <a:r>
              <a:rPr lang="en-US" sz="750" dirty="0">
                <a:solidFill>
                  <a:srgbClr val="533AFD"/>
                </a:solidFill>
                <a:latin typeface="Source Code Pro" pitchFamily="34" charset="0"/>
                <a:ea typeface="Source Code Pro" pitchFamily="34" charset="-122"/>
                <a:cs typeface="Source Code Pro" pitchFamily="34" charset="-120"/>
              </a:rPr>
              <a:t>02</a:t>
            </a:r>
            <a:endParaRPr lang="en-US" sz="750" dirty="0"/>
          </a:p>
        </p:txBody>
      </p:sp>
      <p:sp>
        <p:nvSpPr>
          <p:cNvPr id="13" name="Text 11"/>
          <p:cNvSpPr txBox="1"/>
          <p:nvPr/>
        </p:nvSpPr>
        <p:spPr>
          <a:xfrm>
            <a:off x="2955341" y="2459736"/>
            <a:ext cx="1894637" cy="658368"/>
          </a:xfrm>
          <a:prstGeom prst="rect">
            <a:avLst/>
          </a:prstGeom>
          <a:noFill/>
          <a:ln/>
        </p:spPr>
        <p:txBody>
          <a:bodyPr wrap="square" lIns="0" tIns="0" rIns="0" bIns="0" rtlCol="0" anchor="ctr">
            <a:normAutofit/>
          </a:bodyPr>
          <a:lstStyle/>
          <a:p>
            <a:pPr algn="ctr" indent="0" marL="0">
              <a:lnSpc>
                <a:spcPct val="92000"/>
              </a:lnSpc>
              <a:buNone/>
            </a:pPr>
            <a:r>
              <a:rPr lang="en-US" sz="1200" b="1" dirty="0">
                <a:solidFill>
                  <a:srgbClr val="061B31"/>
                </a:solidFill>
                <a:latin typeface="Noto Sans CJK KR" pitchFamily="34" charset="0"/>
                <a:ea typeface="Noto Sans CJK KR" pitchFamily="34" charset="-122"/>
                <a:cs typeface="Noto Sans CJK KR" pitchFamily="34" charset="-120"/>
              </a:rPr>
              <a:t>OCR 텍스트</a:t>
            </a:r>
            <a:endParaRPr lang="en-US" sz="1200" dirty="0"/>
          </a:p>
        </p:txBody>
      </p:sp>
      <p:sp>
        <p:nvSpPr>
          <p:cNvPr id="14" name="Shape 12"/>
          <p:cNvSpPr/>
          <p:nvPr/>
        </p:nvSpPr>
        <p:spPr>
          <a:xfrm>
            <a:off x="5087722" y="2240280"/>
            <a:ext cx="2077517" cy="914400"/>
          </a:xfrm>
          <a:prstGeom prst="roundRect">
            <a:avLst>
              <a:gd name="adj" fmla="val 6000"/>
            </a:avLst>
          </a:prstGeom>
          <a:solidFill>
            <a:srgbClr val="FFFFFF"/>
          </a:solidFill>
          <a:ln w="10160">
            <a:solidFill>
              <a:srgbClr val="DCE5EE"/>
            </a:solidFill>
            <a:prstDash val="solid"/>
          </a:ln>
        </p:spPr>
      </p:sp>
      <p:sp>
        <p:nvSpPr>
          <p:cNvPr id="15" name="Text 13"/>
          <p:cNvSpPr txBox="1"/>
          <p:nvPr/>
        </p:nvSpPr>
        <p:spPr>
          <a:xfrm>
            <a:off x="5179162" y="2313432"/>
            <a:ext cx="1894637" cy="137160"/>
          </a:xfrm>
          <a:prstGeom prst="rect">
            <a:avLst/>
          </a:prstGeom>
          <a:noFill/>
          <a:ln/>
        </p:spPr>
        <p:txBody>
          <a:bodyPr wrap="square" lIns="0" tIns="0" rIns="0" bIns="0" rtlCol="0" anchor="ctr">
            <a:normAutofit/>
          </a:bodyPr>
          <a:lstStyle/>
          <a:p>
            <a:pPr algn="l" indent="0" marL="0">
              <a:lnSpc>
                <a:spcPct val="92000"/>
              </a:lnSpc>
              <a:buNone/>
            </a:pPr>
            <a:r>
              <a:rPr lang="en-US" sz="750" dirty="0">
                <a:solidFill>
                  <a:srgbClr val="533AFD"/>
                </a:solidFill>
                <a:latin typeface="Source Code Pro" pitchFamily="34" charset="0"/>
                <a:ea typeface="Source Code Pro" pitchFamily="34" charset="-122"/>
                <a:cs typeface="Source Code Pro" pitchFamily="34" charset="-120"/>
              </a:rPr>
              <a:t>03</a:t>
            </a:r>
            <a:endParaRPr lang="en-US" sz="750" dirty="0"/>
          </a:p>
        </p:txBody>
      </p:sp>
      <p:sp>
        <p:nvSpPr>
          <p:cNvPr id="16" name="Text 14"/>
          <p:cNvSpPr txBox="1"/>
          <p:nvPr/>
        </p:nvSpPr>
        <p:spPr>
          <a:xfrm>
            <a:off x="5179162" y="2459736"/>
            <a:ext cx="1894637" cy="658368"/>
          </a:xfrm>
          <a:prstGeom prst="rect">
            <a:avLst/>
          </a:prstGeom>
          <a:noFill/>
          <a:ln/>
        </p:spPr>
        <p:txBody>
          <a:bodyPr wrap="square" lIns="0" tIns="0" rIns="0" bIns="0" rtlCol="0" anchor="ctr">
            <a:normAutofit/>
          </a:bodyPr>
          <a:lstStyle/>
          <a:p>
            <a:pPr algn="ctr" indent="0" marL="0">
              <a:lnSpc>
                <a:spcPct val="92000"/>
              </a:lnSpc>
              <a:buNone/>
            </a:pPr>
            <a:r>
              <a:rPr lang="en-US" sz="1200" b="1" dirty="0">
                <a:solidFill>
                  <a:srgbClr val="061B31"/>
                </a:solidFill>
                <a:latin typeface="Noto Sans CJK KR" pitchFamily="34" charset="0"/>
                <a:ea typeface="Noto Sans CJK KR" pitchFamily="34" charset="-122"/>
                <a:cs typeface="Noto Sans CJK KR" pitchFamily="34" charset="-120"/>
              </a:rPr>
              <a:t>증거 계보</a:t>
            </a:r>
            <a:endParaRPr lang="en-US" sz="1200" dirty="0"/>
          </a:p>
        </p:txBody>
      </p:sp>
      <p:sp>
        <p:nvSpPr>
          <p:cNvPr id="17" name="Shape 15"/>
          <p:cNvSpPr/>
          <p:nvPr/>
        </p:nvSpPr>
        <p:spPr>
          <a:xfrm>
            <a:off x="7311542" y="2240280"/>
            <a:ext cx="2077517" cy="914400"/>
          </a:xfrm>
          <a:prstGeom prst="roundRect">
            <a:avLst>
              <a:gd name="adj" fmla="val 6000"/>
            </a:avLst>
          </a:prstGeom>
          <a:solidFill>
            <a:srgbClr val="FFFFFF"/>
          </a:solidFill>
          <a:ln w="10160">
            <a:solidFill>
              <a:srgbClr val="DCE5EE"/>
            </a:solidFill>
            <a:prstDash val="solid"/>
          </a:ln>
        </p:spPr>
      </p:sp>
      <p:sp>
        <p:nvSpPr>
          <p:cNvPr id="18" name="Text 16"/>
          <p:cNvSpPr txBox="1"/>
          <p:nvPr/>
        </p:nvSpPr>
        <p:spPr>
          <a:xfrm>
            <a:off x="7402982" y="2313432"/>
            <a:ext cx="1894637" cy="137160"/>
          </a:xfrm>
          <a:prstGeom prst="rect">
            <a:avLst/>
          </a:prstGeom>
          <a:noFill/>
          <a:ln/>
        </p:spPr>
        <p:txBody>
          <a:bodyPr wrap="square" lIns="0" tIns="0" rIns="0" bIns="0" rtlCol="0" anchor="ctr">
            <a:normAutofit/>
          </a:bodyPr>
          <a:lstStyle/>
          <a:p>
            <a:pPr algn="l" indent="0" marL="0">
              <a:lnSpc>
                <a:spcPct val="92000"/>
              </a:lnSpc>
              <a:buNone/>
            </a:pPr>
            <a:r>
              <a:rPr lang="en-US" sz="750" dirty="0">
                <a:solidFill>
                  <a:srgbClr val="533AFD"/>
                </a:solidFill>
                <a:latin typeface="Source Code Pro" pitchFamily="34" charset="0"/>
                <a:ea typeface="Source Code Pro" pitchFamily="34" charset="-122"/>
                <a:cs typeface="Source Code Pro" pitchFamily="34" charset="-120"/>
              </a:rPr>
              <a:t>04</a:t>
            </a:r>
            <a:endParaRPr lang="en-US" sz="750" dirty="0"/>
          </a:p>
        </p:txBody>
      </p:sp>
      <p:sp>
        <p:nvSpPr>
          <p:cNvPr id="19" name="Text 17"/>
          <p:cNvSpPr txBox="1"/>
          <p:nvPr/>
        </p:nvSpPr>
        <p:spPr>
          <a:xfrm>
            <a:off x="7402982" y="2459736"/>
            <a:ext cx="1894637" cy="658368"/>
          </a:xfrm>
          <a:prstGeom prst="rect">
            <a:avLst/>
          </a:prstGeom>
          <a:noFill/>
          <a:ln/>
        </p:spPr>
        <p:txBody>
          <a:bodyPr wrap="square" lIns="0" tIns="0" rIns="0" bIns="0" rtlCol="0" anchor="ctr">
            <a:normAutofit/>
          </a:bodyPr>
          <a:lstStyle/>
          <a:p>
            <a:pPr algn="ctr" indent="0" marL="0">
              <a:lnSpc>
                <a:spcPct val="92000"/>
              </a:lnSpc>
              <a:buNone/>
            </a:pPr>
            <a:r>
              <a:rPr lang="en-US" sz="1200" b="1" dirty="0">
                <a:solidFill>
                  <a:srgbClr val="061B31"/>
                </a:solidFill>
                <a:latin typeface="Noto Sans CJK KR" pitchFamily="34" charset="0"/>
                <a:ea typeface="Noto Sans CJK KR" pitchFamily="34" charset="-122"/>
                <a:cs typeface="Noto Sans CJK KR" pitchFamily="34" charset="-120"/>
              </a:rPr>
              <a:t>인간 확인</a:t>
            </a:r>
            <a:endParaRPr lang="en-US" sz="1200" dirty="0"/>
          </a:p>
        </p:txBody>
      </p:sp>
      <p:sp>
        <p:nvSpPr>
          <p:cNvPr id="20" name="Shape 18"/>
          <p:cNvSpPr/>
          <p:nvPr/>
        </p:nvSpPr>
        <p:spPr>
          <a:xfrm>
            <a:off x="9535363" y="2240280"/>
            <a:ext cx="2077517" cy="914400"/>
          </a:xfrm>
          <a:prstGeom prst="roundRect">
            <a:avLst>
              <a:gd name="adj" fmla="val 6000"/>
            </a:avLst>
          </a:prstGeom>
          <a:solidFill>
            <a:srgbClr val="FFFFFF"/>
          </a:solidFill>
          <a:ln w="10160">
            <a:solidFill>
              <a:srgbClr val="DCE5EE"/>
            </a:solidFill>
            <a:prstDash val="solid"/>
          </a:ln>
        </p:spPr>
      </p:sp>
      <p:sp>
        <p:nvSpPr>
          <p:cNvPr id="21" name="Text 19"/>
          <p:cNvSpPr txBox="1"/>
          <p:nvPr/>
        </p:nvSpPr>
        <p:spPr>
          <a:xfrm>
            <a:off x="9626803" y="2313432"/>
            <a:ext cx="1894637" cy="137160"/>
          </a:xfrm>
          <a:prstGeom prst="rect">
            <a:avLst/>
          </a:prstGeom>
          <a:noFill/>
          <a:ln/>
        </p:spPr>
        <p:txBody>
          <a:bodyPr wrap="square" lIns="0" tIns="0" rIns="0" bIns="0" rtlCol="0" anchor="ctr">
            <a:normAutofit/>
          </a:bodyPr>
          <a:lstStyle/>
          <a:p>
            <a:pPr algn="l" indent="0" marL="0">
              <a:lnSpc>
                <a:spcPct val="92000"/>
              </a:lnSpc>
              <a:buNone/>
            </a:pPr>
            <a:r>
              <a:rPr lang="en-US" sz="750" dirty="0">
                <a:solidFill>
                  <a:srgbClr val="533AFD"/>
                </a:solidFill>
                <a:latin typeface="Source Code Pro" pitchFamily="34" charset="0"/>
                <a:ea typeface="Source Code Pro" pitchFamily="34" charset="-122"/>
                <a:cs typeface="Source Code Pro" pitchFamily="34" charset="-120"/>
              </a:rPr>
              <a:t>05</a:t>
            </a:r>
            <a:endParaRPr lang="en-US" sz="750" dirty="0"/>
          </a:p>
        </p:txBody>
      </p:sp>
      <p:sp>
        <p:nvSpPr>
          <p:cNvPr id="22" name="Text 20"/>
          <p:cNvSpPr txBox="1"/>
          <p:nvPr/>
        </p:nvSpPr>
        <p:spPr>
          <a:xfrm>
            <a:off x="9626803" y="2459736"/>
            <a:ext cx="1894637" cy="658368"/>
          </a:xfrm>
          <a:prstGeom prst="rect">
            <a:avLst/>
          </a:prstGeom>
          <a:noFill/>
          <a:ln/>
        </p:spPr>
        <p:txBody>
          <a:bodyPr wrap="square" lIns="0" tIns="0" rIns="0" bIns="0" rtlCol="0" anchor="ctr">
            <a:normAutofit/>
          </a:bodyPr>
          <a:lstStyle/>
          <a:p>
            <a:pPr algn="ctr" indent="0" marL="0">
              <a:lnSpc>
                <a:spcPct val="92000"/>
              </a:lnSpc>
              <a:buNone/>
            </a:pPr>
            <a:r>
              <a:rPr lang="en-US" sz="1200" b="1" dirty="0">
                <a:solidFill>
                  <a:srgbClr val="061B31"/>
                </a:solidFill>
                <a:latin typeface="Noto Sans CJK KR" pitchFamily="34" charset="0"/>
                <a:ea typeface="Noto Sans CJK KR" pitchFamily="34" charset="-122"/>
                <a:cs typeface="Noto Sans CJK KR" pitchFamily="34" charset="-120"/>
              </a:rPr>
              <a:t>사용자 제출</a:t>
            </a:r>
            <a:endParaRPr lang="en-US" sz="1200" dirty="0"/>
          </a:p>
        </p:txBody>
      </p:sp>
      <p:sp>
        <p:nvSpPr>
          <p:cNvPr id="23" name="Shape 21"/>
          <p:cNvSpPr/>
          <p:nvPr/>
        </p:nvSpPr>
        <p:spPr>
          <a:xfrm>
            <a:off x="914400" y="3977640"/>
            <a:ext cx="82296" cy="82296"/>
          </a:xfrm>
          <a:prstGeom prst="ellipse">
            <a:avLst/>
          </a:prstGeom>
          <a:solidFill>
            <a:srgbClr val="533AFD"/>
          </a:solidFill>
          <a:ln w="12700">
            <a:solidFill>
              <a:srgbClr val="533AFD"/>
            </a:solidFill>
            <a:prstDash val="solid"/>
          </a:ln>
        </p:spPr>
      </p:sp>
      <p:sp>
        <p:nvSpPr>
          <p:cNvPr id="24" name="Text 22"/>
          <p:cNvSpPr txBox="1"/>
          <p:nvPr/>
        </p:nvSpPr>
        <p:spPr>
          <a:xfrm>
            <a:off x="1097280" y="3840480"/>
            <a:ext cx="10058400" cy="502920"/>
          </a:xfrm>
          <a:prstGeom prst="rect">
            <a:avLst/>
          </a:prstGeom>
          <a:noFill/>
          <a:ln/>
        </p:spPr>
        <p:txBody>
          <a:bodyPr wrap="square" lIns="0" tIns="0" rIns="0" bIns="0" rtlCol="0" anchor="ctr">
            <a:normAutofit/>
          </a:bodyPr>
          <a:lstStyle/>
          <a:p>
            <a:pPr algn="l" indent="0" marL="0">
              <a:lnSpc>
                <a:spcPct val="92000"/>
              </a:lnSpc>
              <a:buNone/>
            </a:pPr>
            <a:r>
              <a:rPr lang="en-US" sz="1350" dirty="0">
                <a:solidFill>
                  <a:srgbClr val="526274"/>
                </a:solidFill>
                <a:latin typeface="Noto Sans CJK KR" pitchFamily="34" charset="0"/>
                <a:ea typeface="Noto Sans CJK KR" pitchFamily="34" charset="-122"/>
                <a:cs typeface="Noto Sans CJK KR" pitchFamily="34" charset="-120"/>
              </a:rPr>
              <a:t>SHA-256 기반 위변조 감지·특정 시점 이전 존재 입증 보조</a:t>
            </a:r>
            <a:endParaRPr lang="en-US" sz="1350" dirty="0"/>
          </a:p>
        </p:txBody>
      </p:sp>
      <p:sp>
        <p:nvSpPr>
          <p:cNvPr id="25" name="Shape 23"/>
          <p:cNvSpPr/>
          <p:nvPr/>
        </p:nvSpPr>
        <p:spPr>
          <a:xfrm>
            <a:off x="914400" y="4480560"/>
            <a:ext cx="82296" cy="82296"/>
          </a:xfrm>
          <a:prstGeom prst="ellipse">
            <a:avLst/>
          </a:prstGeom>
          <a:solidFill>
            <a:srgbClr val="533AFD"/>
          </a:solidFill>
          <a:ln w="12700">
            <a:solidFill>
              <a:srgbClr val="533AFD"/>
            </a:solidFill>
            <a:prstDash val="solid"/>
          </a:ln>
        </p:spPr>
      </p:sp>
      <p:sp>
        <p:nvSpPr>
          <p:cNvPr id="26" name="Text 24"/>
          <p:cNvSpPr txBox="1"/>
          <p:nvPr/>
        </p:nvSpPr>
        <p:spPr>
          <a:xfrm>
            <a:off x="1097280" y="4343400"/>
            <a:ext cx="10058400" cy="502920"/>
          </a:xfrm>
          <a:prstGeom prst="rect">
            <a:avLst/>
          </a:prstGeom>
          <a:noFill/>
          <a:ln/>
        </p:spPr>
        <p:txBody>
          <a:bodyPr wrap="square" lIns="0" tIns="0" rIns="0" bIns="0" rtlCol="0" anchor="ctr">
            <a:normAutofit/>
          </a:bodyPr>
          <a:lstStyle/>
          <a:p>
            <a:pPr algn="l" indent="0" marL="0">
              <a:lnSpc>
                <a:spcPct val="92000"/>
              </a:lnSpc>
              <a:buNone/>
            </a:pPr>
            <a:r>
              <a:rPr lang="en-US" sz="1350" dirty="0">
                <a:solidFill>
                  <a:srgbClr val="526274"/>
                </a:solidFill>
                <a:latin typeface="Noto Sans CJK KR" pitchFamily="34" charset="0"/>
                <a:ea typeface="Noto Sans CJK KR" pitchFamily="34" charset="-122"/>
                <a:cs typeface="Noto Sans CJK KR" pitchFamily="34" charset="-120"/>
              </a:rPr>
              <a:t>OCR 추출 정보는 사용자 100% 직접 검토 및 승인</a:t>
            </a:r>
            <a:endParaRPr lang="en-US" sz="1350" dirty="0"/>
          </a:p>
        </p:txBody>
      </p:sp>
      <p:sp>
        <p:nvSpPr>
          <p:cNvPr id="27" name="Shape 25"/>
          <p:cNvSpPr/>
          <p:nvPr/>
        </p:nvSpPr>
        <p:spPr>
          <a:xfrm>
            <a:off x="914400" y="4983480"/>
            <a:ext cx="82296" cy="82296"/>
          </a:xfrm>
          <a:prstGeom prst="ellipse">
            <a:avLst/>
          </a:prstGeom>
          <a:solidFill>
            <a:srgbClr val="533AFD"/>
          </a:solidFill>
          <a:ln w="12700">
            <a:solidFill>
              <a:srgbClr val="533AFD"/>
            </a:solidFill>
            <a:prstDash val="solid"/>
          </a:ln>
        </p:spPr>
      </p:sp>
      <p:sp>
        <p:nvSpPr>
          <p:cNvPr id="28" name="Text 26"/>
          <p:cNvSpPr txBox="1"/>
          <p:nvPr/>
        </p:nvSpPr>
        <p:spPr>
          <a:xfrm>
            <a:off x="1097280" y="4846320"/>
            <a:ext cx="10058400" cy="502920"/>
          </a:xfrm>
          <a:prstGeom prst="rect">
            <a:avLst/>
          </a:prstGeom>
          <a:noFill/>
          <a:ln/>
        </p:spPr>
        <p:txBody>
          <a:bodyPr wrap="square" lIns="0" tIns="0" rIns="0" bIns="0" rtlCol="0" anchor="ctr">
            <a:normAutofit/>
          </a:bodyPr>
          <a:lstStyle/>
          <a:p>
            <a:pPr algn="l" indent="0" marL="0">
              <a:lnSpc>
                <a:spcPct val="92000"/>
              </a:lnSpc>
              <a:buNone/>
            </a:pPr>
            <a:r>
              <a:rPr lang="en-US" sz="1350" dirty="0">
                <a:solidFill>
                  <a:srgbClr val="526274"/>
                </a:solidFill>
                <a:latin typeface="Noto Sans CJK KR" pitchFamily="34" charset="0"/>
                <a:ea typeface="Noto Sans CJK KR" pitchFamily="34" charset="-122"/>
                <a:cs typeface="Noto Sans CJK KR" pitchFamily="34" charset="-120"/>
              </a:rPr>
              <a:t>W3C PROV-O 계보 기록 후 사용자가 PDF 직접 추출 제출</a:t>
            </a:r>
            <a:endParaRPr lang="en-US" sz="1350" dirty="0"/>
          </a:p>
        </p:txBody>
      </p:sp>
      <p:sp>
        <p:nvSpPr>
          <p:cNvPr id="25" name="Slide Number Placeholder 0"/>
          <p:cNvSpPr>
            <a:spLocks noGrp="1"/>
          </p:cNvSpPr>
          <p:nvPr>
            <p:ph type="sldNum" sz="quarter" idx="4294967295"/>
          </p:nvPr>
        </p:nvSpPr>
        <p:spPr>
          <a:xfrm>
            <a:off x="530352" y="6556248"/>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8A97A5"/>
                </a:solidFill>
                <a:latin typeface="Source Code Pro"/>
                <a:ea typeface="Source Code Pro"/>
                <a:cs typeface="Source Code Pro"/>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30352" y="310896"/>
            <a:ext cx="4389120" cy="210312"/>
          </a:xfrm>
          <a:prstGeom prst="rect">
            <a:avLst/>
          </a:prstGeom>
          <a:noFill/>
          <a:ln/>
        </p:spPr>
        <p:txBody>
          <a:bodyPr wrap="square" lIns="0" tIns="0" rIns="0" bIns="0" rtlCol="0" anchor="ctr">
            <a:normAutofit/>
          </a:bodyPr>
          <a:lstStyle/>
          <a:p>
            <a:pPr algn="l" indent="0" marL="0">
              <a:lnSpc>
                <a:spcPct val="92000"/>
              </a:lnSpc>
              <a:buNone/>
            </a:pPr>
            <a:r>
              <a:rPr lang="en-US" sz="900" b="1" spc="140" kern="0" dirty="0">
                <a:solidFill>
                  <a:srgbClr val="533AFD"/>
                </a:solidFill>
                <a:latin typeface="Source Code Pro" pitchFamily="34" charset="0"/>
                <a:ea typeface="Source Code Pro" pitchFamily="34" charset="-122"/>
                <a:cs typeface="Source Code Pro" pitchFamily="34" charset="-120"/>
              </a:rPr>
              <a:t>사용자 주도 절차 관리</a:t>
            </a:r>
            <a:endParaRPr lang="en-US" sz="900" dirty="0"/>
          </a:p>
        </p:txBody>
      </p:sp>
      <p:sp>
        <p:nvSpPr>
          <p:cNvPr id="3" name="Text 1"/>
          <p:cNvSpPr txBox="1"/>
          <p:nvPr/>
        </p:nvSpPr>
        <p:spPr>
          <a:xfrm>
            <a:off x="530352" y="566928"/>
            <a:ext cx="11018520" cy="512064"/>
          </a:xfrm>
          <a:prstGeom prst="rect">
            <a:avLst/>
          </a:prstGeom>
          <a:noFill/>
          <a:ln/>
        </p:spPr>
        <p:txBody>
          <a:bodyPr wrap="square" lIns="0" tIns="0" rIns="0" bIns="0" rtlCol="0" anchor="ctr">
            <a:normAutofit/>
          </a:bodyPr>
          <a:lstStyle/>
          <a:p>
            <a:pPr algn="l" indent="0" marL="0">
              <a:lnSpc>
                <a:spcPct val="92000"/>
              </a:lnSpc>
              <a:buNone/>
            </a:pPr>
            <a:r>
              <a:rPr lang="en-US" sz="2400" b="1" dirty="0">
                <a:solidFill>
                  <a:srgbClr val="061B31"/>
                </a:solidFill>
                <a:latin typeface="Noto Sans CJK KR" pitchFamily="34" charset="0"/>
                <a:ea typeface="Noto Sans CJK KR" pitchFamily="34" charset="-122"/>
                <a:cs typeface="Noto Sans CJK KR" pitchFamily="34" charset="-120"/>
              </a:rPr>
              <a:t>사건을 놓치지 않는 9단계 상태 머신</a:t>
            </a:r>
            <a:endParaRPr lang="en-US" sz="2400" dirty="0"/>
          </a:p>
        </p:txBody>
      </p:sp>
      <p:sp>
        <p:nvSpPr>
          <p:cNvPr id="4" name="Shape 2"/>
          <p:cNvSpPr/>
          <p:nvPr/>
        </p:nvSpPr>
        <p:spPr>
          <a:xfrm>
            <a:off x="530352" y="1124712"/>
            <a:ext cx="960120" cy="0"/>
          </a:xfrm>
          <a:prstGeom prst="line">
            <a:avLst/>
          </a:prstGeom>
          <a:noFill/>
          <a:ln w="38100">
            <a:solidFill>
              <a:srgbClr val="533AFD"/>
            </a:solidFill>
            <a:prstDash val="solid"/>
            <a:headEnd type="none"/>
            <a:tailEnd type="none"/>
          </a:ln>
        </p:spPr>
      </p:sp>
      <p:sp>
        <p:nvSpPr>
          <p:cNvPr id="5" name="Text 3"/>
          <p:cNvSpPr txBox="1"/>
          <p:nvPr/>
        </p:nvSpPr>
        <p:spPr>
          <a:xfrm>
            <a:off x="4754880" y="6291072"/>
            <a:ext cx="6903720" cy="182880"/>
          </a:xfrm>
          <a:prstGeom prst="rect">
            <a:avLst/>
          </a:prstGeom>
          <a:noFill/>
          <a:ln/>
        </p:spPr>
        <p:txBody>
          <a:bodyPr wrap="square" lIns="0" tIns="0" rIns="0" bIns="0" rtlCol="0" anchor="ctr">
            <a:normAutofit/>
          </a:bodyPr>
          <a:lstStyle/>
          <a:p>
            <a:pPr algn="r" indent="0" marL="0">
              <a:lnSpc>
                <a:spcPct val="92000"/>
              </a:lnSpc>
              <a:buNone/>
            </a:pPr>
            <a:r>
              <a:rPr lang="en-US" sz="900" dirty="0">
                <a:solidFill>
                  <a:srgbClr val="8A97A5"/>
                </a:solidFill>
                <a:latin typeface="Source Code Pro" pitchFamily="34" charset="0"/>
                <a:ea typeface="Source Code Pro" pitchFamily="34" charset="-122"/>
                <a:cs typeface="Source Code Pro" pitchFamily="34" charset="-120"/>
              </a:rPr>
              <a:t>[S013] [S039] [S101] [S102]</a:t>
            </a:r>
            <a:endParaRPr lang="en-US" sz="900" dirty="0"/>
          </a:p>
        </p:txBody>
      </p:sp>
      <p:sp>
        <p:nvSpPr>
          <p:cNvPr id="6" name="Text 4"/>
          <p:cNvSpPr txBox="1"/>
          <p:nvPr/>
        </p:nvSpPr>
        <p:spPr>
          <a:xfrm>
            <a:off x="530352" y="1325880"/>
            <a:ext cx="11018520" cy="502920"/>
          </a:xfrm>
          <a:prstGeom prst="rect">
            <a:avLst/>
          </a:prstGeom>
          <a:noFill/>
          <a:ln/>
        </p:spPr>
        <p:txBody>
          <a:bodyPr wrap="square" lIns="0" tIns="0" rIns="0" bIns="0" rtlCol="0" anchor="t">
            <a:normAutofit/>
          </a:bodyPr>
          <a:lstStyle/>
          <a:p>
            <a:pPr algn="l" indent="0" marL="0">
              <a:lnSpc>
                <a:spcPct val="92000"/>
              </a:lnSpc>
              <a:buNone/>
            </a:pPr>
            <a:r>
              <a:rPr lang="en-US" sz="2000" b="1" dirty="0">
                <a:solidFill>
                  <a:srgbClr val="061B31"/>
                </a:solidFill>
                <a:latin typeface="Noto Sans CJK KR" pitchFamily="34" charset="0"/>
                <a:ea typeface="Noto Sans CJK KR" pitchFamily="34" charset="-122"/>
                <a:cs typeface="Noto Sans CJK KR" pitchFamily="34" charset="-120"/>
              </a:rPr>
              <a:t>외부 기관의 확정 서류나 사용자 직접 승인으로만 단계가 이동한다.</a:t>
            </a:r>
            <a:endParaRPr lang="en-US" sz="2000" dirty="0"/>
          </a:p>
        </p:txBody>
      </p:sp>
      <p:sp>
        <p:nvSpPr>
          <p:cNvPr id="7" name="Shape 5"/>
          <p:cNvSpPr/>
          <p:nvPr/>
        </p:nvSpPr>
        <p:spPr>
          <a:xfrm>
            <a:off x="685800" y="1965960"/>
            <a:ext cx="3337560" cy="896112"/>
          </a:xfrm>
          <a:prstGeom prst="roundRect">
            <a:avLst>
              <a:gd name="adj" fmla="val 6122"/>
            </a:avLst>
          </a:prstGeom>
          <a:solidFill>
            <a:srgbClr val="FFFFFF"/>
          </a:solidFill>
          <a:ln w="10160">
            <a:solidFill>
              <a:srgbClr val="DCE5EE"/>
            </a:solidFill>
            <a:prstDash val="solid"/>
          </a:ln>
        </p:spPr>
      </p:sp>
      <p:sp>
        <p:nvSpPr>
          <p:cNvPr id="8" name="Shape 6"/>
          <p:cNvSpPr/>
          <p:nvPr/>
        </p:nvSpPr>
        <p:spPr>
          <a:xfrm>
            <a:off x="685800" y="1965960"/>
            <a:ext cx="3337560" cy="0"/>
          </a:xfrm>
          <a:prstGeom prst="line">
            <a:avLst/>
          </a:prstGeom>
          <a:noFill/>
          <a:ln w="38100">
            <a:solidFill>
              <a:srgbClr val="533AFD"/>
            </a:solidFill>
            <a:prstDash val="solid"/>
            <a:headEnd type="none"/>
            <a:tailEnd type="none"/>
          </a:ln>
        </p:spPr>
      </p:sp>
      <p:sp>
        <p:nvSpPr>
          <p:cNvPr id="9" name="Text 7"/>
          <p:cNvSpPr txBox="1"/>
          <p:nvPr/>
        </p:nvSpPr>
        <p:spPr>
          <a:xfrm>
            <a:off x="868680" y="2112264"/>
            <a:ext cx="297180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1. 유형 분류</a:t>
            </a:r>
            <a:endParaRPr lang="en-US" sz="1400" dirty="0"/>
          </a:p>
        </p:txBody>
      </p:sp>
      <p:sp>
        <p:nvSpPr>
          <p:cNvPr id="10" name="Shape 8"/>
          <p:cNvSpPr/>
          <p:nvPr/>
        </p:nvSpPr>
        <p:spPr>
          <a:xfrm>
            <a:off x="4050792" y="2414016"/>
            <a:ext cx="320040" cy="0"/>
          </a:xfrm>
          <a:prstGeom prst="line">
            <a:avLst/>
          </a:prstGeom>
          <a:noFill/>
          <a:ln w="17780">
            <a:solidFill>
              <a:srgbClr val="533AFD"/>
            </a:solidFill>
            <a:prstDash val="solid"/>
            <a:tailEnd type="triangle"/>
          </a:ln>
        </p:spPr>
      </p:sp>
      <p:sp>
        <p:nvSpPr>
          <p:cNvPr id="11" name="Shape 9"/>
          <p:cNvSpPr/>
          <p:nvPr/>
        </p:nvSpPr>
        <p:spPr>
          <a:xfrm>
            <a:off x="4434840" y="1965960"/>
            <a:ext cx="3337560" cy="896112"/>
          </a:xfrm>
          <a:prstGeom prst="roundRect">
            <a:avLst>
              <a:gd name="adj" fmla="val 6122"/>
            </a:avLst>
          </a:prstGeom>
          <a:solidFill>
            <a:srgbClr val="FFFFFF"/>
          </a:solidFill>
          <a:ln w="10160">
            <a:solidFill>
              <a:srgbClr val="DCE5EE"/>
            </a:solidFill>
            <a:prstDash val="solid"/>
          </a:ln>
        </p:spPr>
      </p:sp>
      <p:sp>
        <p:nvSpPr>
          <p:cNvPr id="12" name="Shape 10"/>
          <p:cNvSpPr/>
          <p:nvPr/>
        </p:nvSpPr>
        <p:spPr>
          <a:xfrm>
            <a:off x="4434840" y="1965960"/>
            <a:ext cx="3337560" cy="0"/>
          </a:xfrm>
          <a:prstGeom prst="line">
            <a:avLst/>
          </a:prstGeom>
          <a:noFill/>
          <a:ln w="38100">
            <a:solidFill>
              <a:srgbClr val="533AFD"/>
            </a:solidFill>
            <a:prstDash val="solid"/>
            <a:headEnd type="none"/>
            <a:tailEnd type="none"/>
          </a:ln>
        </p:spPr>
      </p:sp>
      <p:sp>
        <p:nvSpPr>
          <p:cNvPr id="13" name="Text 11"/>
          <p:cNvSpPr txBox="1"/>
          <p:nvPr/>
        </p:nvSpPr>
        <p:spPr>
          <a:xfrm>
            <a:off x="4617720" y="2112264"/>
            <a:ext cx="297180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2. 증거 보존</a:t>
            </a:r>
            <a:endParaRPr lang="en-US" sz="1400" dirty="0"/>
          </a:p>
        </p:txBody>
      </p:sp>
      <p:sp>
        <p:nvSpPr>
          <p:cNvPr id="14" name="Shape 12"/>
          <p:cNvSpPr/>
          <p:nvPr/>
        </p:nvSpPr>
        <p:spPr>
          <a:xfrm>
            <a:off x="7799832" y="2414016"/>
            <a:ext cx="320040" cy="0"/>
          </a:xfrm>
          <a:prstGeom prst="line">
            <a:avLst/>
          </a:prstGeom>
          <a:noFill/>
          <a:ln w="17780">
            <a:solidFill>
              <a:srgbClr val="533AFD"/>
            </a:solidFill>
            <a:prstDash val="solid"/>
            <a:tailEnd type="triangle"/>
          </a:ln>
        </p:spPr>
      </p:sp>
      <p:sp>
        <p:nvSpPr>
          <p:cNvPr id="15" name="Shape 13"/>
          <p:cNvSpPr/>
          <p:nvPr/>
        </p:nvSpPr>
        <p:spPr>
          <a:xfrm>
            <a:off x="8183880" y="1965960"/>
            <a:ext cx="3337560" cy="896112"/>
          </a:xfrm>
          <a:prstGeom prst="roundRect">
            <a:avLst>
              <a:gd name="adj" fmla="val 6122"/>
            </a:avLst>
          </a:prstGeom>
          <a:solidFill>
            <a:srgbClr val="FFFFFF"/>
          </a:solidFill>
          <a:ln w="10160">
            <a:solidFill>
              <a:srgbClr val="DCE5EE"/>
            </a:solidFill>
            <a:prstDash val="solid"/>
          </a:ln>
        </p:spPr>
      </p:sp>
      <p:sp>
        <p:nvSpPr>
          <p:cNvPr id="16" name="Shape 14"/>
          <p:cNvSpPr/>
          <p:nvPr/>
        </p:nvSpPr>
        <p:spPr>
          <a:xfrm>
            <a:off x="8183880" y="1965960"/>
            <a:ext cx="3337560" cy="0"/>
          </a:xfrm>
          <a:prstGeom prst="line">
            <a:avLst/>
          </a:prstGeom>
          <a:noFill/>
          <a:ln w="38100">
            <a:solidFill>
              <a:srgbClr val="533AFD"/>
            </a:solidFill>
            <a:prstDash val="solid"/>
            <a:headEnd type="none"/>
            <a:tailEnd type="none"/>
          </a:ln>
        </p:spPr>
      </p:sp>
      <p:sp>
        <p:nvSpPr>
          <p:cNvPr id="17" name="Text 15"/>
          <p:cNvSpPr txBox="1"/>
          <p:nvPr/>
        </p:nvSpPr>
        <p:spPr>
          <a:xfrm>
            <a:off x="8366760" y="2112264"/>
            <a:ext cx="297180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3. 공공 연동</a:t>
            </a:r>
            <a:endParaRPr lang="en-US" sz="1400" dirty="0"/>
          </a:p>
        </p:txBody>
      </p:sp>
      <p:sp>
        <p:nvSpPr>
          <p:cNvPr id="18" name="Shape 16"/>
          <p:cNvSpPr/>
          <p:nvPr/>
        </p:nvSpPr>
        <p:spPr>
          <a:xfrm>
            <a:off x="8019288" y="2907792"/>
            <a:ext cx="0" cy="256032"/>
          </a:xfrm>
          <a:prstGeom prst="line">
            <a:avLst/>
          </a:prstGeom>
          <a:noFill/>
          <a:ln w="17780">
            <a:solidFill>
              <a:srgbClr val="533AFD"/>
            </a:solidFill>
            <a:prstDash val="solid"/>
            <a:tailEnd type="triangle"/>
          </a:ln>
        </p:spPr>
      </p:sp>
      <p:sp>
        <p:nvSpPr>
          <p:cNvPr id="19" name="Shape 17"/>
          <p:cNvSpPr/>
          <p:nvPr/>
        </p:nvSpPr>
        <p:spPr>
          <a:xfrm>
            <a:off x="685800" y="3200400"/>
            <a:ext cx="3337560" cy="896112"/>
          </a:xfrm>
          <a:prstGeom prst="roundRect">
            <a:avLst>
              <a:gd name="adj" fmla="val 6122"/>
            </a:avLst>
          </a:prstGeom>
          <a:solidFill>
            <a:srgbClr val="FFFFFF"/>
          </a:solidFill>
          <a:ln w="10160">
            <a:solidFill>
              <a:srgbClr val="DCE5EE"/>
            </a:solidFill>
            <a:prstDash val="solid"/>
          </a:ln>
        </p:spPr>
      </p:sp>
      <p:sp>
        <p:nvSpPr>
          <p:cNvPr id="20" name="Shape 18"/>
          <p:cNvSpPr/>
          <p:nvPr/>
        </p:nvSpPr>
        <p:spPr>
          <a:xfrm>
            <a:off x="685800" y="3200400"/>
            <a:ext cx="3337560" cy="0"/>
          </a:xfrm>
          <a:prstGeom prst="line">
            <a:avLst/>
          </a:prstGeom>
          <a:noFill/>
          <a:ln w="38100">
            <a:solidFill>
              <a:srgbClr val="533AFD"/>
            </a:solidFill>
            <a:prstDash val="solid"/>
            <a:headEnd type="none"/>
            <a:tailEnd type="none"/>
          </a:ln>
        </p:spPr>
      </p:sp>
      <p:sp>
        <p:nvSpPr>
          <p:cNvPr id="21" name="Text 19"/>
          <p:cNvSpPr txBox="1"/>
          <p:nvPr/>
        </p:nvSpPr>
        <p:spPr>
          <a:xfrm>
            <a:off x="868680" y="3346704"/>
            <a:ext cx="297180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4. 출석·송달</a:t>
            </a:r>
            <a:endParaRPr lang="en-US" sz="1400" dirty="0"/>
          </a:p>
        </p:txBody>
      </p:sp>
      <p:sp>
        <p:nvSpPr>
          <p:cNvPr id="22" name="Shape 20"/>
          <p:cNvSpPr/>
          <p:nvPr/>
        </p:nvSpPr>
        <p:spPr>
          <a:xfrm>
            <a:off x="4050792" y="3648456"/>
            <a:ext cx="320040" cy="0"/>
          </a:xfrm>
          <a:prstGeom prst="line">
            <a:avLst/>
          </a:prstGeom>
          <a:noFill/>
          <a:ln w="17780">
            <a:solidFill>
              <a:srgbClr val="533AFD"/>
            </a:solidFill>
            <a:prstDash val="solid"/>
            <a:tailEnd type="triangle"/>
          </a:ln>
        </p:spPr>
      </p:sp>
      <p:sp>
        <p:nvSpPr>
          <p:cNvPr id="23" name="Shape 21"/>
          <p:cNvSpPr/>
          <p:nvPr/>
        </p:nvSpPr>
        <p:spPr>
          <a:xfrm>
            <a:off x="4434840" y="3200400"/>
            <a:ext cx="3337560" cy="896112"/>
          </a:xfrm>
          <a:prstGeom prst="roundRect">
            <a:avLst>
              <a:gd name="adj" fmla="val 6122"/>
            </a:avLst>
          </a:prstGeom>
          <a:solidFill>
            <a:srgbClr val="FFFFFF"/>
          </a:solidFill>
          <a:ln w="10160">
            <a:solidFill>
              <a:srgbClr val="DCE5EE"/>
            </a:solidFill>
            <a:prstDash val="solid"/>
          </a:ln>
        </p:spPr>
      </p:sp>
      <p:sp>
        <p:nvSpPr>
          <p:cNvPr id="24" name="Shape 22"/>
          <p:cNvSpPr/>
          <p:nvPr/>
        </p:nvSpPr>
        <p:spPr>
          <a:xfrm>
            <a:off x="4434840" y="3200400"/>
            <a:ext cx="3337560" cy="0"/>
          </a:xfrm>
          <a:prstGeom prst="line">
            <a:avLst/>
          </a:prstGeom>
          <a:noFill/>
          <a:ln w="38100">
            <a:solidFill>
              <a:srgbClr val="533AFD"/>
            </a:solidFill>
            <a:prstDash val="solid"/>
            <a:headEnd type="none"/>
            <a:tailEnd type="none"/>
          </a:ln>
        </p:spPr>
      </p:sp>
      <p:sp>
        <p:nvSpPr>
          <p:cNvPr id="25" name="Text 23"/>
          <p:cNvSpPr txBox="1"/>
          <p:nvPr/>
        </p:nvSpPr>
        <p:spPr>
          <a:xfrm>
            <a:off x="4617720" y="3346704"/>
            <a:ext cx="297180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5. 이의·전환</a:t>
            </a:r>
            <a:endParaRPr lang="en-US" sz="1400" dirty="0"/>
          </a:p>
        </p:txBody>
      </p:sp>
      <p:sp>
        <p:nvSpPr>
          <p:cNvPr id="26" name="Shape 24"/>
          <p:cNvSpPr/>
          <p:nvPr/>
        </p:nvSpPr>
        <p:spPr>
          <a:xfrm>
            <a:off x="7799832" y="3648456"/>
            <a:ext cx="320040" cy="0"/>
          </a:xfrm>
          <a:prstGeom prst="line">
            <a:avLst/>
          </a:prstGeom>
          <a:noFill/>
          <a:ln w="17780">
            <a:solidFill>
              <a:srgbClr val="533AFD"/>
            </a:solidFill>
            <a:prstDash val="solid"/>
            <a:tailEnd type="triangle"/>
          </a:ln>
        </p:spPr>
      </p:sp>
      <p:sp>
        <p:nvSpPr>
          <p:cNvPr id="27" name="Shape 25"/>
          <p:cNvSpPr/>
          <p:nvPr/>
        </p:nvSpPr>
        <p:spPr>
          <a:xfrm>
            <a:off x="8183880" y="3200400"/>
            <a:ext cx="3337560" cy="896112"/>
          </a:xfrm>
          <a:prstGeom prst="roundRect">
            <a:avLst>
              <a:gd name="adj" fmla="val 6122"/>
            </a:avLst>
          </a:prstGeom>
          <a:solidFill>
            <a:srgbClr val="FFFFFF"/>
          </a:solidFill>
          <a:ln w="10160">
            <a:solidFill>
              <a:srgbClr val="DCE5EE"/>
            </a:solidFill>
            <a:prstDash val="solid"/>
          </a:ln>
        </p:spPr>
      </p:sp>
      <p:sp>
        <p:nvSpPr>
          <p:cNvPr id="28" name="Shape 26"/>
          <p:cNvSpPr/>
          <p:nvPr/>
        </p:nvSpPr>
        <p:spPr>
          <a:xfrm>
            <a:off x="8183880" y="3200400"/>
            <a:ext cx="3337560" cy="0"/>
          </a:xfrm>
          <a:prstGeom prst="line">
            <a:avLst/>
          </a:prstGeom>
          <a:noFill/>
          <a:ln w="38100">
            <a:solidFill>
              <a:srgbClr val="533AFD"/>
            </a:solidFill>
            <a:prstDash val="solid"/>
            <a:headEnd type="none"/>
            <a:tailEnd type="none"/>
          </a:ln>
        </p:spPr>
      </p:sp>
      <p:sp>
        <p:nvSpPr>
          <p:cNvPr id="29" name="Text 27"/>
          <p:cNvSpPr txBox="1"/>
          <p:nvPr/>
        </p:nvSpPr>
        <p:spPr>
          <a:xfrm>
            <a:off x="8366760" y="3346704"/>
            <a:ext cx="297180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6. 집행권원</a:t>
            </a:r>
            <a:endParaRPr lang="en-US" sz="1400" dirty="0"/>
          </a:p>
        </p:txBody>
      </p:sp>
      <p:sp>
        <p:nvSpPr>
          <p:cNvPr id="30" name="Shape 28"/>
          <p:cNvSpPr/>
          <p:nvPr/>
        </p:nvSpPr>
        <p:spPr>
          <a:xfrm>
            <a:off x="8019288" y="4142232"/>
            <a:ext cx="0" cy="256032"/>
          </a:xfrm>
          <a:prstGeom prst="line">
            <a:avLst/>
          </a:prstGeom>
          <a:noFill/>
          <a:ln w="17780">
            <a:solidFill>
              <a:srgbClr val="533AFD"/>
            </a:solidFill>
            <a:prstDash val="solid"/>
            <a:tailEnd type="triangle"/>
          </a:ln>
        </p:spPr>
      </p:sp>
      <p:sp>
        <p:nvSpPr>
          <p:cNvPr id="31" name="Shape 29"/>
          <p:cNvSpPr/>
          <p:nvPr/>
        </p:nvSpPr>
        <p:spPr>
          <a:xfrm>
            <a:off x="685800" y="4434840"/>
            <a:ext cx="3337560" cy="896112"/>
          </a:xfrm>
          <a:prstGeom prst="roundRect">
            <a:avLst>
              <a:gd name="adj" fmla="val 6122"/>
            </a:avLst>
          </a:prstGeom>
          <a:solidFill>
            <a:srgbClr val="FFFFFF"/>
          </a:solidFill>
          <a:ln w="10160">
            <a:solidFill>
              <a:srgbClr val="DCE5EE"/>
            </a:solidFill>
            <a:prstDash val="solid"/>
          </a:ln>
        </p:spPr>
      </p:sp>
      <p:sp>
        <p:nvSpPr>
          <p:cNvPr id="32" name="Shape 30"/>
          <p:cNvSpPr/>
          <p:nvPr/>
        </p:nvSpPr>
        <p:spPr>
          <a:xfrm>
            <a:off x="685800" y="4434840"/>
            <a:ext cx="3337560" cy="0"/>
          </a:xfrm>
          <a:prstGeom prst="line">
            <a:avLst/>
          </a:prstGeom>
          <a:noFill/>
          <a:ln w="38100">
            <a:solidFill>
              <a:srgbClr val="533AFD"/>
            </a:solidFill>
            <a:prstDash val="solid"/>
            <a:headEnd type="none"/>
            <a:tailEnd type="none"/>
          </a:ln>
        </p:spPr>
      </p:sp>
      <p:sp>
        <p:nvSpPr>
          <p:cNvPr id="33" name="Text 31"/>
          <p:cNvSpPr txBox="1"/>
          <p:nvPr/>
        </p:nvSpPr>
        <p:spPr>
          <a:xfrm>
            <a:off x="868680" y="4581144"/>
            <a:ext cx="297180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7. 재산 조회</a:t>
            </a:r>
            <a:endParaRPr lang="en-US" sz="1400" dirty="0"/>
          </a:p>
        </p:txBody>
      </p:sp>
      <p:sp>
        <p:nvSpPr>
          <p:cNvPr id="34" name="Shape 32"/>
          <p:cNvSpPr/>
          <p:nvPr/>
        </p:nvSpPr>
        <p:spPr>
          <a:xfrm>
            <a:off x="4050792" y="4882896"/>
            <a:ext cx="320040" cy="0"/>
          </a:xfrm>
          <a:prstGeom prst="line">
            <a:avLst/>
          </a:prstGeom>
          <a:noFill/>
          <a:ln w="17780">
            <a:solidFill>
              <a:srgbClr val="533AFD"/>
            </a:solidFill>
            <a:prstDash val="solid"/>
            <a:tailEnd type="triangle"/>
          </a:ln>
        </p:spPr>
      </p:sp>
      <p:sp>
        <p:nvSpPr>
          <p:cNvPr id="35" name="Shape 33"/>
          <p:cNvSpPr/>
          <p:nvPr/>
        </p:nvSpPr>
        <p:spPr>
          <a:xfrm>
            <a:off x="4434840" y="4434840"/>
            <a:ext cx="3337560" cy="896112"/>
          </a:xfrm>
          <a:prstGeom prst="roundRect">
            <a:avLst>
              <a:gd name="adj" fmla="val 6122"/>
            </a:avLst>
          </a:prstGeom>
          <a:solidFill>
            <a:srgbClr val="FFFFFF"/>
          </a:solidFill>
          <a:ln w="10160">
            <a:solidFill>
              <a:srgbClr val="DCE5EE"/>
            </a:solidFill>
            <a:prstDash val="solid"/>
          </a:ln>
        </p:spPr>
      </p:sp>
      <p:sp>
        <p:nvSpPr>
          <p:cNvPr id="36" name="Shape 34"/>
          <p:cNvSpPr/>
          <p:nvPr/>
        </p:nvSpPr>
        <p:spPr>
          <a:xfrm>
            <a:off x="4434840" y="4434840"/>
            <a:ext cx="3337560" cy="0"/>
          </a:xfrm>
          <a:prstGeom prst="line">
            <a:avLst/>
          </a:prstGeom>
          <a:noFill/>
          <a:ln w="38100">
            <a:solidFill>
              <a:srgbClr val="533AFD"/>
            </a:solidFill>
            <a:prstDash val="solid"/>
            <a:headEnd type="none"/>
            <a:tailEnd type="none"/>
          </a:ln>
        </p:spPr>
      </p:sp>
      <p:sp>
        <p:nvSpPr>
          <p:cNvPr id="37" name="Text 35"/>
          <p:cNvSpPr txBox="1"/>
          <p:nvPr/>
        </p:nvSpPr>
        <p:spPr>
          <a:xfrm>
            <a:off x="4617720" y="4581144"/>
            <a:ext cx="297180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8. 압류·추심</a:t>
            </a:r>
            <a:endParaRPr lang="en-US" sz="1400" dirty="0"/>
          </a:p>
        </p:txBody>
      </p:sp>
      <p:sp>
        <p:nvSpPr>
          <p:cNvPr id="38" name="Shape 36"/>
          <p:cNvSpPr/>
          <p:nvPr/>
        </p:nvSpPr>
        <p:spPr>
          <a:xfrm>
            <a:off x="7799832" y="4882896"/>
            <a:ext cx="320040" cy="0"/>
          </a:xfrm>
          <a:prstGeom prst="line">
            <a:avLst/>
          </a:prstGeom>
          <a:noFill/>
          <a:ln w="17780">
            <a:solidFill>
              <a:srgbClr val="533AFD"/>
            </a:solidFill>
            <a:prstDash val="solid"/>
            <a:tailEnd type="triangle"/>
          </a:ln>
        </p:spPr>
      </p:sp>
      <p:sp>
        <p:nvSpPr>
          <p:cNvPr id="39" name="Shape 37"/>
          <p:cNvSpPr/>
          <p:nvPr/>
        </p:nvSpPr>
        <p:spPr>
          <a:xfrm>
            <a:off x="8183880" y="4434840"/>
            <a:ext cx="3337560" cy="896112"/>
          </a:xfrm>
          <a:prstGeom prst="roundRect">
            <a:avLst>
              <a:gd name="adj" fmla="val 6122"/>
            </a:avLst>
          </a:prstGeom>
          <a:solidFill>
            <a:srgbClr val="EEF2F6"/>
          </a:solidFill>
          <a:ln w="10160">
            <a:solidFill>
              <a:srgbClr val="DCE5EE"/>
            </a:solidFill>
            <a:prstDash val="solid"/>
          </a:ln>
        </p:spPr>
      </p:sp>
      <p:sp>
        <p:nvSpPr>
          <p:cNvPr id="40" name="Shape 38"/>
          <p:cNvSpPr/>
          <p:nvPr/>
        </p:nvSpPr>
        <p:spPr>
          <a:xfrm>
            <a:off x="8183880" y="4434840"/>
            <a:ext cx="3337560" cy="0"/>
          </a:xfrm>
          <a:prstGeom prst="line">
            <a:avLst/>
          </a:prstGeom>
          <a:noFill/>
          <a:ln w="38100">
            <a:solidFill>
              <a:srgbClr val="8A97A5"/>
            </a:solidFill>
            <a:prstDash val="solid"/>
            <a:headEnd type="none"/>
            <a:tailEnd type="none"/>
          </a:ln>
        </p:spPr>
      </p:sp>
      <p:sp>
        <p:nvSpPr>
          <p:cNvPr id="41" name="Text 39"/>
          <p:cNvSpPr txBox="1"/>
          <p:nvPr/>
        </p:nvSpPr>
        <p:spPr>
          <a:xfrm>
            <a:off x="8366760" y="4581144"/>
            <a:ext cx="297180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9. 종결·시효</a:t>
            </a:r>
            <a:endParaRPr lang="en-US" sz="1400" dirty="0"/>
          </a:p>
        </p:txBody>
      </p:sp>
      <p:sp>
        <p:nvSpPr>
          <p:cNvPr id="25" name="Slide Number Placeholder 0"/>
          <p:cNvSpPr>
            <a:spLocks noGrp="1"/>
          </p:cNvSpPr>
          <p:nvPr>
            <p:ph type="sldNum" sz="quarter" idx="4294967295"/>
          </p:nvPr>
        </p:nvSpPr>
        <p:spPr>
          <a:xfrm>
            <a:off x="530352" y="6556248"/>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8A97A5"/>
                </a:solidFill>
                <a:latin typeface="Source Code Pro"/>
                <a:ea typeface="Source Code Pro"/>
                <a:cs typeface="Source Code Pro"/>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30352" y="310896"/>
            <a:ext cx="4389120" cy="210312"/>
          </a:xfrm>
          <a:prstGeom prst="rect">
            <a:avLst/>
          </a:prstGeom>
          <a:noFill/>
          <a:ln/>
        </p:spPr>
        <p:txBody>
          <a:bodyPr wrap="square" lIns="0" tIns="0" rIns="0" bIns="0" rtlCol="0" anchor="ctr">
            <a:normAutofit/>
          </a:bodyPr>
          <a:lstStyle/>
          <a:p>
            <a:pPr algn="l" indent="0" marL="0">
              <a:lnSpc>
                <a:spcPct val="92000"/>
              </a:lnSpc>
              <a:buNone/>
            </a:pPr>
            <a:r>
              <a:rPr lang="en-US" sz="900" b="1" spc="140" kern="0" dirty="0">
                <a:solidFill>
                  <a:srgbClr val="533AFD"/>
                </a:solidFill>
                <a:latin typeface="Source Code Pro" pitchFamily="34" charset="0"/>
                <a:ea typeface="Source Code Pro" pitchFamily="34" charset="-122"/>
                <a:cs typeface="Source Code Pro" pitchFamily="34" charset="-120"/>
              </a:rPr>
              <a:t>변호사법 제109조 위험 통제</a:t>
            </a:r>
            <a:endParaRPr lang="en-US" sz="900" dirty="0"/>
          </a:p>
        </p:txBody>
      </p:sp>
      <p:sp>
        <p:nvSpPr>
          <p:cNvPr id="3" name="Text 1"/>
          <p:cNvSpPr txBox="1"/>
          <p:nvPr/>
        </p:nvSpPr>
        <p:spPr>
          <a:xfrm>
            <a:off x="530352" y="566928"/>
            <a:ext cx="11018520" cy="512064"/>
          </a:xfrm>
          <a:prstGeom prst="rect">
            <a:avLst/>
          </a:prstGeom>
          <a:noFill/>
          <a:ln/>
        </p:spPr>
        <p:txBody>
          <a:bodyPr wrap="square" lIns="0" tIns="0" rIns="0" bIns="0" rtlCol="0" anchor="ctr">
            <a:normAutofit/>
          </a:bodyPr>
          <a:lstStyle/>
          <a:p>
            <a:pPr algn="l" indent="0" marL="0">
              <a:lnSpc>
                <a:spcPct val="92000"/>
              </a:lnSpc>
              <a:buNone/>
            </a:pPr>
            <a:r>
              <a:rPr lang="en-US" sz="2400" b="1" dirty="0">
                <a:solidFill>
                  <a:srgbClr val="061B31"/>
                </a:solidFill>
                <a:latin typeface="Noto Sans CJK KR" pitchFamily="34" charset="0"/>
                <a:ea typeface="Noto Sans CJK KR" pitchFamily="34" charset="-122"/>
                <a:cs typeface="Noto Sans CJK KR" pitchFamily="34" charset="-120"/>
              </a:rPr>
              <a:t>기능은 넓히지 않고, 경계를 선명하게</a:t>
            </a:r>
            <a:endParaRPr lang="en-US" sz="2400" dirty="0"/>
          </a:p>
        </p:txBody>
      </p:sp>
      <p:sp>
        <p:nvSpPr>
          <p:cNvPr id="4" name="Shape 2"/>
          <p:cNvSpPr/>
          <p:nvPr/>
        </p:nvSpPr>
        <p:spPr>
          <a:xfrm>
            <a:off x="530352" y="1124712"/>
            <a:ext cx="960120" cy="0"/>
          </a:xfrm>
          <a:prstGeom prst="line">
            <a:avLst/>
          </a:prstGeom>
          <a:noFill/>
          <a:ln w="38100">
            <a:solidFill>
              <a:srgbClr val="533AFD"/>
            </a:solidFill>
            <a:prstDash val="solid"/>
            <a:headEnd type="none"/>
            <a:tailEnd type="none"/>
          </a:ln>
        </p:spPr>
      </p:sp>
      <p:sp>
        <p:nvSpPr>
          <p:cNvPr id="5" name="Text 3"/>
          <p:cNvSpPr txBox="1"/>
          <p:nvPr/>
        </p:nvSpPr>
        <p:spPr>
          <a:xfrm>
            <a:off x="4754880" y="6291072"/>
            <a:ext cx="6903720" cy="182880"/>
          </a:xfrm>
          <a:prstGeom prst="rect">
            <a:avLst/>
          </a:prstGeom>
          <a:noFill/>
          <a:ln/>
        </p:spPr>
        <p:txBody>
          <a:bodyPr wrap="square" lIns="0" tIns="0" rIns="0" bIns="0" rtlCol="0" anchor="ctr">
            <a:normAutofit/>
          </a:bodyPr>
          <a:lstStyle/>
          <a:p>
            <a:pPr algn="r" indent="0" marL="0">
              <a:lnSpc>
                <a:spcPct val="92000"/>
              </a:lnSpc>
              <a:buNone/>
            </a:pPr>
            <a:r>
              <a:rPr lang="en-US" sz="900" dirty="0">
                <a:solidFill>
                  <a:srgbClr val="8A97A5"/>
                </a:solidFill>
                <a:latin typeface="Source Code Pro" pitchFamily="34" charset="0"/>
                <a:ea typeface="Source Code Pro" pitchFamily="34" charset="-122"/>
                <a:cs typeface="Source Code Pro" pitchFamily="34" charset="-120"/>
              </a:rPr>
              <a:t>[S089]</a:t>
            </a:r>
            <a:endParaRPr lang="en-US" sz="900" dirty="0"/>
          </a:p>
        </p:txBody>
      </p:sp>
      <p:sp>
        <p:nvSpPr>
          <p:cNvPr id="6" name="Text 4"/>
          <p:cNvSpPr txBox="1"/>
          <p:nvPr/>
        </p:nvSpPr>
        <p:spPr>
          <a:xfrm>
            <a:off x="530352" y="1325880"/>
            <a:ext cx="11018520" cy="502920"/>
          </a:xfrm>
          <a:prstGeom prst="rect">
            <a:avLst/>
          </a:prstGeom>
          <a:noFill/>
          <a:ln/>
        </p:spPr>
        <p:txBody>
          <a:bodyPr wrap="square" lIns="0" tIns="0" rIns="0" bIns="0" rtlCol="0" anchor="t">
            <a:normAutofit/>
          </a:bodyPr>
          <a:lstStyle/>
          <a:p>
            <a:pPr algn="l" indent="0" marL="0">
              <a:lnSpc>
                <a:spcPct val="92000"/>
              </a:lnSpc>
              <a:buNone/>
            </a:pPr>
            <a:r>
              <a:rPr lang="en-US" sz="2000" b="1" dirty="0">
                <a:solidFill>
                  <a:srgbClr val="061B31"/>
                </a:solidFill>
                <a:latin typeface="Noto Sans CJK KR" pitchFamily="34" charset="0"/>
                <a:ea typeface="Noto Sans CJK KR" pitchFamily="34" charset="-122"/>
                <a:cs typeface="Noto Sans CJK KR" pitchFamily="34" charset="-120"/>
              </a:rPr>
              <a:t>변호사법 제109조 이익요소를 고려해 자율 판단과 완제품 작성을 엄격 통제한다.</a:t>
            </a:r>
            <a:endParaRPr lang="en-US" sz="2000" dirty="0"/>
          </a:p>
        </p:txBody>
      </p:sp>
      <p:sp>
        <p:nvSpPr>
          <p:cNvPr id="7" name="Shape 5"/>
          <p:cNvSpPr/>
          <p:nvPr/>
        </p:nvSpPr>
        <p:spPr>
          <a:xfrm>
            <a:off x="594360" y="2011680"/>
            <a:ext cx="3520440" cy="3566160"/>
          </a:xfrm>
          <a:prstGeom prst="roundRect">
            <a:avLst>
              <a:gd name="adj" fmla="val 1558"/>
            </a:avLst>
          </a:prstGeom>
          <a:solidFill>
            <a:srgbClr val="E8F4EE"/>
          </a:solidFill>
          <a:ln w="10160">
            <a:solidFill>
              <a:srgbClr val="DCE5EE"/>
            </a:solidFill>
            <a:prstDash val="solid"/>
          </a:ln>
        </p:spPr>
      </p:sp>
      <p:sp>
        <p:nvSpPr>
          <p:cNvPr id="8" name="Shape 6"/>
          <p:cNvSpPr/>
          <p:nvPr/>
        </p:nvSpPr>
        <p:spPr>
          <a:xfrm>
            <a:off x="594360" y="2011680"/>
            <a:ext cx="3520440" cy="0"/>
          </a:xfrm>
          <a:prstGeom prst="line">
            <a:avLst/>
          </a:prstGeom>
          <a:noFill/>
          <a:ln w="38100">
            <a:solidFill>
              <a:srgbClr val="168A52"/>
            </a:solidFill>
            <a:prstDash val="solid"/>
            <a:headEnd type="none"/>
            <a:tailEnd type="none"/>
          </a:ln>
        </p:spPr>
      </p:sp>
      <p:sp>
        <p:nvSpPr>
          <p:cNvPr id="9" name="Text 7"/>
          <p:cNvSpPr txBox="1"/>
          <p:nvPr/>
        </p:nvSpPr>
        <p:spPr>
          <a:xfrm>
            <a:off x="777240" y="2157984"/>
            <a:ext cx="315468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제품상 허용</a:t>
            </a:r>
            <a:endParaRPr lang="en-US" sz="1400" dirty="0"/>
          </a:p>
        </p:txBody>
      </p:sp>
      <p:sp>
        <p:nvSpPr>
          <p:cNvPr id="10" name="Text 8"/>
          <p:cNvSpPr txBox="1"/>
          <p:nvPr/>
        </p:nvSpPr>
        <p:spPr>
          <a:xfrm>
            <a:off x="777240" y="2523744"/>
            <a:ext cx="3154680" cy="2907792"/>
          </a:xfrm>
          <a:prstGeom prst="rect">
            <a:avLst/>
          </a:prstGeom>
          <a:noFill/>
          <a:ln/>
        </p:spPr>
        <p:txBody>
          <a:bodyPr wrap="square" lIns="0" tIns="0" rIns="0" bIns="0" rtlCol="0" anchor="t">
            <a:normAutofit/>
          </a:bodyPr>
          <a:lstStyle/>
          <a:p>
            <a:pPr algn="l" indent="0" marL="0">
              <a:lnSpc>
                <a:spcPct val="92000"/>
              </a:lnSpc>
              <a:buNone/>
            </a:pPr>
            <a:r>
              <a:rPr lang="en-US" sz="1250" dirty="0">
                <a:solidFill>
                  <a:srgbClr val="526274"/>
                </a:solidFill>
                <a:latin typeface="Noto Sans CJK KR" pitchFamily="34" charset="0"/>
                <a:ea typeface="Noto Sans CJK KR" pitchFamily="34" charset="-122"/>
                <a:cs typeface="Noto Sans CJK KR" pitchFamily="34" charset="-120"/>
              </a:rPr>
              <a:t>제품상 허용: 사실관계 정리, 원본 해시 생성, 일반 정보 제공</a:t>
            </a:r>
            <a:endParaRPr lang="en-US" sz="1250" dirty="0"/>
          </a:p>
        </p:txBody>
      </p:sp>
      <p:sp>
        <p:nvSpPr>
          <p:cNvPr id="11" name="Shape 9"/>
          <p:cNvSpPr/>
          <p:nvPr/>
        </p:nvSpPr>
        <p:spPr>
          <a:xfrm>
            <a:off x="4416552" y="2011680"/>
            <a:ext cx="3520440" cy="3566160"/>
          </a:xfrm>
          <a:prstGeom prst="roundRect">
            <a:avLst>
              <a:gd name="adj" fmla="val 1558"/>
            </a:avLst>
          </a:prstGeom>
          <a:solidFill>
            <a:srgbClr val="F7EEDC"/>
          </a:solidFill>
          <a:ln w="10160">
            <a:solidFill>
              <a:srgbClr val="DCE5EE"/>
            </a:solidFill>
            <a:prstDash val="solid"/>
          </a:ln>
        </p:spPr>
      </p:sp>
      <p:sp>
        <p:nvSpPr>
          <p:cNvPr id="12" name="Shape 10"/>
          <p:cNvSpPr/>
          <p:nvPr/>
        </p:nvSpPr>
        <p:spPr>
          <a:xfrm>
            <a:off x="4416552" y="2011680"/>
            <a:ext cx="3520440" cy="0"/>
          </a:xfrm>
          <a:prstGeom prst="line">
            <a:avLst/>
          </a:prstGeom>
          <a:noFill/>
          <a:ln w="38100">
            <a:solidFill>
              <a:srgbClr val="A66712"/>
            </a:solidFill>
            <a:prstDash val="solid"/>
            <a:headEnd type="none"/>
            <a:tailEnd type="none"/>
          </a:ln>
        </p:spPr>
      </p:sp>
      <p:sp>
        <p:nvSpPr>
          <p:cNvPr id="13" name="Text 11"/>
          <p:cNvSpPr txBox="1"/>
          <p:nvPr/>
        </p:nvSpPr>
        <p:spPr>
          <a:xfrm>
            <a:off x="4599432" y="2157984"/>
            <a:ext cx="315468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사실관계 정리</a:t>
            </a:r>
            <a:endParaRPr lang="en-US" sz="1400" dirty="0"/>
          </a:p>
        </p:txBody>
      </p:sp>
      <p:sp>
        <p:nvSpPr>
          <p:cNvPr id="14" name="Text 12"/>
          <p:cNvSpPr txBox="1"/>
          <p:nvPr/>
        </p:nvSpPr>
        <p:spPr>
          <a:xfrm>
            <a:off x="4599432" y="2523744"/>
            <a:ext cx="3154680" cy="2907792"/>
          </a:xfrm>
          <a:prstGeom prst="rect">
            <a:avLst/>
          </a:prstGeom>
          <a:noFill/>
          <a:ln/>
        </p:spPr>
        <p:txBody>
          <a:bodyPr wrap="square" lIns="0" tIns="0" rIns="0" bIns="0" rtlCol="0" anchor="t">
            <a:normAutofit/>
          </a:bodyPr>
          <a:lstStyle/>
          <a:p>
            <a:pPr algn="l" indent="0" marL="0">
              <a:lnSpc>
                <a:spcPct val="92000"/>
              </a:lnSpc>
              <a:buNone/>
            </a:pPr>
            <a:r>
              <a:rPr lang="en-US" sz="1250" dirty="0">
                <a:solidFill>
                  <a:srgbClr val="526274"/>
                </a:solidFill>
                <a:latin typeface="Noto Sans CJK KR" pitchFamily="34" charset="0"/>
                <a:ea typeface="Noto Sans CJK KR" pitchFamily="34" charset="-122"/>
                <a:cs typeface="Noto Sans CJK KR" pitchFamily="34" charset="-120"/>
              </a:rPr>
              <a:t>추가 통제: 공공 서식 예시 안내, 알선 대가 없는 변호사 연계</a:t>
            </a:r>
            <a:endParaRPr lang="en-US" sz="1250" dirty="0"/>
          </a:p>
        </p:txBody>
      </p:sp>
      <p:sp>
        <p:nvSpPr>
          <p:cNvPr id="15" name="Shape 13"/>
          <p:cNvSpPr/>
          <p:nvPr/>
        </p:nvSpPr>
        <p:spPr>
          <a:xfrm>
            <a:off x="8238744" y="2011680"/>
            <a:ext cx="3520440" cy="3566160"/>
          </a:xfrm>
          <a:prstGeom prst="roundRect">
            <a:avLst>
              <a:gd name="adj" fmla="val 1558"/>
            </a:avLst>
          </a:prstGeom>
          <a:solidFill>
            <a:srgbClr val="FBE8ED"/>
          </a:solidFill>
          <a:ln w="10160">
            <a:solidFill>
              <a:srgbClr val="DCE5EE"/>
            </a:solidFill>
            <a:prstDash val="solid"/>
          </a:ln>
        </p:spPr>
      </p:sp>
      <p:sp>
        <p:nvSpPr>
          <p:cNvPr id="16" name="Shape 14"/>
          <p:cNvSpPr/>
          <p:nvPr/>
        </p:nvSpPr>
        <p:spPr>
          <a:xfrm>
            <a:off x="8238744" y="2011680"/>
            <a:ext cx="3520440" cy="0"/>
          </a:xfrm>
          <a:prstGeom prst="line">
            <a:avLst/>
          </a:prstGeom>
          <a:noFill/>
          <a:ln w="38100">
            <a:solidFill>
              <a:srgbClr val="C73555"/>
            </a:solidFill>
            <a:prstDash val="solid"/>
            <a:headEnd type="none"/>
            <a:tailEnd type="none"/>
          </a:ln>
        </p:spPr>
      </p:sp>
      <p:sp>
        <p:nvSpPr>
          <p:cNvPr id="17" name="Text 15"/>
          <p:cNvSpPr txBox="1"/>
          <p:nvPr/>
        </p:nvSpPr>
        <p:spPr>
          <a:xfrm>
            <a:off x="8421624" y="2157984"/>
            <a:ext cx="315468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해시 변경감지</a:t>
            </a:r>
            <a:endParaRPr lang="en-US" sz="1400" dirty="0"/>
          </a:p>
        </p:txBody>
      </p:sp>
      <p:sp>
        <p:nvSpPr>
          <p:cNvPr id="18" name="Text 16"/>
          <p:cNvSpPr txBox="1"/>
          <p:nvPr/>
        </p:nvSpPr>
        <p:spPr>
          <a:xfrm>
            <a:off x="8421624" y="2523744"/>
            <a:ext cx="3154680" cy="2907792"/>
          </a:xfrm>
          <a:prstGeom prst="rect">
            <a:avLst/>
          </a:prstGeom>
          <a:noFill/>
          <a:ln/>
        </p:spPr>
        <p:txBody>
          <a:bodyPr wrap="square" lIns="0" tIns="0" rIns="0" bIns="0" rtlCol="0" anchor="t">
            <a:normAutofit/>
          </a:bodyPr>
          <a:lstStyle/>
          <a:p>
            <a:pPr algn="l" indent="0" marL="0">
              <a:lnSpc>
                <a:spcPct val="92000"/>
              </a:lnSpc>
              <a:buNone/>
            </a:pPr>
            <a:r>
              <a:rPr lang="en-US" sz="1250" dirty="0">
                <a:solidFill>
                  <a:srgbClr val="526274"/>
                </a:solidFill>
                <a:latin typeface="Noto Sans CJK KR" pitchFamily="34" charset="0"/>
                <a:ea typeface="Noto Sans CJK KR" pitchFamily="34" charset="-122"/>
                <a:cs typeface="Noto Sans CJK KR" pitchFamily="34" charset="-120"/>
              </a:rPr>
              <a:t>제품상 금지: 맞춤형 완제품 작성, 승소 판정, 대리·협상</a:t>
            </a:r>
            <a:endParaRPr lang="en-US" sz="1250" dirty="0"/>
          </a:p>
        </p:txBody>
      </p:sp>
      <p:sp>
        <p:nvSpPr>
          <p:cNvPr id="25" name="Slide Number Placeholder 0"/>
          <p:cNvSpPr>
            <a:spLocks noGrp="1"/>
          </p:cNvSpPr>
          <p:nvPr>
            <p:ph type="sldNum" sz="quarter" idx="4294967295"/>
          </p:nvPr>
        </p:nvSpPr>
        <p:spPr>
          <a:xfrm>
            <a:off x="530352" y="6556248"/>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8A97A5"/>
                </a:solidFill>
                <a:latin typeface="Source Code Pro"/>
                <a:ea typeface="Source Code Pro"/>
                <a:cs typeface="Source Code Pro"/>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30352" y="310896"/>
            <a:ext cx="4389120" cy="210312"/>
          </a:xfrm>
          <a:prstGeom prst="rect">
            <a:avLst/>
          </a:prstGeom>
          <a:noFill/>
          <a:ln/>
        </p:spPr>
        <p:txBody>
          <a:bodyPr wrap="square" lIns="0" tIns="0" rIns="0" bIns="0" rtlCol="0" anchor="ctr">
            <a:normAutofit/>
          </a:bodyPr>
          <a:lstStyle/>
          <a:p>
            <a:pPr algn="l" indent="0" marL="0">
              <a:lnSpc>
                <a:spcPct val="92000"/>
              </a:lnSpc>
              <a:buNone/>
            </a:pPr>
            <a:r>
              <a:rPr lang="en-US" sz="900" b="1" spc="140" kern="0" dirty="0">
                <a:solidFill>
                  <a:srgbClr val="533AFD"/>
                </a:solidFill>
                <a:latin typeface="Source Code Pro" pitchFamily="34" charset="0"/>
                <a:ea typeface="Source Code Pro" pitchFamily="34" charset="-122"/>
                <a:cs typeface="Source Code Pro" pitchFamily="34" charset="-120"/>
              </a:rPr>
              <a:t>개인정보 보호 &amp; 인간 승인 절차</a:t>
            </a:r>
            <a:endParaRPr lang="en-US" sz="900" dirty="0"/>
          </a:p>
        </p:txBody>
      </p:sp>
      <p:sp>
        <p:nvSpPr>
          <p:cNvPr id="3" name="Text 1"/>
          <p:cNvSpPr txBox="1"/>
          <p:nvPr/>
        </p:nvSpPr>
        <p:spPr>
          <a:xfrm>
            <a:off x="530352" y="566928"/>
            <a:ext cx="11018520" cy="512064"/>
          </a:xfrm>
          <a:prstGeom prst="rect">
            <a:avLst/>
          </a:prstGeom>
          <a:noFill/>
          <a:ln/>
        </p:spPr>
        <p:txBody>
          <a:bodyPr wrap="square" lIns="0" tIns="0" rIns="0" bIns="0" rtlCol="0" anchor="ctr">
            <a:normAutofit/>
          </a:bodyPr>
          <a:lstStyle/>
          <a:p>
            <a:pPr algn="l" indent="0" marL="0">
              <a:lnSpc>
                <a:spcPct val="92000"/>
              </a:lnSpc>
              <a:buNone/>
            </a:pPr>
            <a:r>
              <a:rPr lang="en-US" sz="2400" b="1" dirty="0">
                <a:solidFill>
                  <a:srgbClr val="061B31"/>
                </a:solidFill>
                <a:latin typeface="Noto Sans CJK KR" pitchFamily="34" charset="0"/>
                <a:ea typeface="Noto Sans CJK KR" pitchFamily="34" charset="-122"/>
                <a:cs typeface="Noto Sans CJK KR" pitchFamily="34" charset="-120"/>
              </a:rPr>
              <a:t>개인정보와 인간 책임성을 제품 구조로 만든다</a:t>
            </a:r>
            <a:endParaRPr lang="en-US" sz="2400" dirty="0"/>
          </a:p>
        </p:txBody>
      </p:sp>
      <p:sp>
        <p:nvSpPr>
          <p:cNvPr id="4" name="Shape 2"/>
          <p:cNvSpPr/>
          <p:nvPr/>
        </p:nvSpPr>
        <p:spPr>
          <a:xfrm>
            <a:off x="530352" y="1124712"/>
            <a:ext cx="960120" cy="0"/>
          </a:xfrm>
          <a:prstGeom prst="line">
            <a:avLst/>
          </a:prstGeom>
          <a:noFill/>
          <a:ln w="38100">
            <a:solidFill>
              <a:srgbClr val="533AFD"/>
            </a:solidFill>
            <a:prstDash val="solid"/>
            <a:headEnd type="none"/>
            <a:tailEnd type="none"/>
          </a:ln>
        </p:spPr>
      </p:sp>
      <p:sp>
        <p:nvSpPr>
          <p:cNvPr id="5" name="Text 3"/>
          <p:cNvSpPr txBox="1"/>
          <p:nvPr/>
        </p:nvSpPr>
        <p:spPr>
          <a:xfrm>
            <a:off x="4754880" y="6291072"/>
            <a:ext cx="6903720" cy="182880"/>
          </a:xfrm>
          <a:prstGeom prst="rect">
            <a:avLst/>
          </a:prstGeom>
          <a:noFill/>
          <a:ln/>
        </p:spPr>
        <p:txBody>
          <a:bodyPr wrap="square" lIns="0" tIns="0" rIns="0" bIns="0" rtlCol="0" anchor="ctr">
            <a:normAutofit/>
          </a:bodyPr>
          <a:lstStyle/>
          <a:p>
            <a:pPr algn="r" indent="0" marL="0">
              <a:lnSpc>
                <a:spcPct val="92000"/>
              </a:lnSpc>
              <a:buNone/>
            </a:pPr>
            <a:r>
              <a:rPr lang="en-US" sz="900" dirty="0">
                <a:solidFill>
                  <a:srgbClr val="8A97A5"/>
                </a:solidFill>
                <a:latin typeface="Source Code Pro" pitchFamily="34" charset="0"/>
                <a:ea typeface="Source Code Pro" pitchFamily="34" charset="-122"/>
                <a:cs typeface="Source Code Pro" pitchFamily="34" charset="-120"/>
              </a:rPr>
              <a:t>[S093] [S094]</a:t>
            </a:r>
            <a:endParaRPr lang="en-US" sz="900" dirty="0"/>
          </a:p>
        </p:txBody>
      </p:sp>
      <p:sp>
        <p:nvSpPr>
          <p:cNvPr id="6" name="Text 4"/>
          <p:cNvSpPr txBox="1"/>
          <p:nvPr/>
        </p:nvSpPr>
        <p:spPr>
          <a:xfrm>
            <a:off x="530352" y="1325880"/>
            <a:ext cx="11018520" cy="502920"/>
          </a:xfrm>
          <a:prstGeom prst="rect">
            <a:avLst/>
          </a:prstGeom>
          <a:noFill/>
          <a:ln/>
        </p:spPr>
        <p:txBody>
          <a:bodyPr wrap="square" lIns="0" tIns="0" rIns="0" bIns="0" rtlCol="0" anchor="t">
            <a:normAutofit/>
          </a:bodyPr>
          <a:lstStyle/>
          <a:p>
            <a:pPr algn="l" indent="0" marL="0">
              <a:lnSpc>
                <a:spcPct val="92000"/>
              </a:lnSpc>
              <a:buNone/>
            </a:pPr>
            <a:r>
              <a:rPr lang="en-US" sz="2000" b="1" dirty="0">
                <a:solidFill>
                  <a:srgbClr val="061B31"/>
                </a:solidFill>
                <a:latin typeface="Noto Sans CJK KR" pitchFamily="34" charset="0"/>
                <a:ea typeface="Noto Sans CJK KR" pitchFamily="34" charset="-122"/>
                <a:cs typeface="Noto Sans CJK KR" pitchFamily="34" charset="-120"/>
              </a:rPr>
              <a:t>개인정보 수명주기 통제와 100% 인간 확인 절차로 책임성을 확보한다.</a:t>
            </a:r>
            <a:endParaRPr lang="en-US" sz="2000" dirty="0"/>
          </a:p>
        </p:txBody>
      </p:sp>
      <p:sp>
        <p:nvSpPr>
          <p:cNvPr id="7" name="Shape 5"/>
          <p:cNvSpPr/>
          <p:nvPr/>
        </p:nvSpPr>
        <p:spPr>
          <a:xfrm>
            <a:off x="594360" y="2011680"/>
            <a:ext cx="5349240" cy="3566160"/>
          </a:xfrm>
          <a:prstGeom prst="roundRect">
            <a:avLst>
              <a:gd name="adj" fmla="val 1538"/>
            </a:avLst>
          </a:prstGeom>
          <a:solidFill>
            <a:srgbClr val="FFFFFF"/>
          </a:solidFill>
          <a:ln w="10160">
            <a:solidFill>
              <a:srgbClr val="DCE5EE"/>
            </a:solidFill>
            <a:prstDash val="solid"/>
          </a:ln>
        </p:spPr>
      </p:sp>
      <p:sp>
        <p:nvSpPr>
          <p:cNvPr id="8" name="Shape 6"/>
          <p:cNvSpPr/>
          <p:nvPr/>
        </p:nvSpPr>
        <p:spPr>
          <a:xfrm>
            <a:off x="594360" y="2011680"/>
            <a:ext cx="5349240" cy="0"/>
          </a:xfrm>
          <a:prstGeom prst="line">
            <a:avLst/>
          </a:prstGeom>
          <a:noFill/>
          <a:ln w="38100">
            <a:solidFill>
              <a:srgbClr val="533AFD"/>
            </a:solidFill>
            <a:prstDash val="solid"/>
            <a:headEnd type="none"/>
            <a:tailEnd type="none"/>
          </a:ln>
        </p:spPr>
      </p:sp>
      <p:sp>
        <p:nvSpPr>
          <p:cNvPr id="9" name="Text 7"/>
          <p:cNvSpPr txBox="1"/>
          <p:nvPr/>
        </p:nvSpPr>
        <p:spPr>
          <a:xfrm>
            <a:off x="777240" y="2157984"/>
            <a:ext cx="498348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PIPA 수명주기</a:t>
            </a:r>
            <a:endParaRPr lang="en-US" sz="1400" dirty="0"/>
          </a:p>
        </p:txBody>
      </p:sp>
      <p:sp>
        <p:nvSpPr>
          <p:cNvPr id="10" name="Text 8"/>
          <p:cNvSpPr txBox="1"/>
          <p:nvPr/>
        </p:nvSpPr>
        <p:spPr>
          <a:xfrm>
            <a:off x="777240" y="2523744"/>
            <a:ext cx="4983480" cy="2907792"/>
          </a:xfrm>
          <a:prstGeom prst="rect">
            <a:avLst/>
          </a:prstGeom>
          <a:noFill/>
          <a:ln/>
        </p:spPr>
        <p:txBody>
          <a:bodyPr wrap="square" lIns="0" tIns="0" rIns="0" bIns="0" rtlCol="0" anchor="t">
            <a:normAutofit/>
          </a:bodyPr>
          <a:lstStyle/>
          <a:p>
            <a:pPr algn="l" indent="0" marL="0">
              <a:lnSpc>
                <a:spcPct val="92000"/>
              </a:lnSpc>
              <a:buNone/>
            </a:pPr>
            <a:r>
              <a:rPr lang="en-US" sz="1250" dirty="0">
                <a:solidFill>
                  <a:srgbClr val="526274"/>
                </a:solidFill>
                <a:latin typeface="Noto Sans CJK KR" pitchFamily="34" charset="0"/>
                <a:ea typeface="Noto Sans CJK KR" pitchFamily="34" charset="-122"/>
                <a:cs typeface="Noto Sans CJK KR" pitchFamily="34" charset="-120"/>
              </a:rPr>
              <a:t>Raw Vault 보관, 학습 미사용, 불필요 시 지체 없이 파기</a:t>
            </a:r>
            <a:endParaRPr lang="en-US" sz="1250" dirty="0"/>
          </a:p>
        </p:txBody>
      </p:sp>
      <p:sp>
        <p:nvSpPr>
          <p:cNvPr id="11" name="Shape 9"/>
          <p:cNvSpPr/>
          <p:nvPr/>
        </p:nvSpPr>
        <p:spPr>
          <a:xfrm>
            <a:off x="6400800" y="2011680"/>
            <a:ext cx="5074920" cy="685800"/>
          </a:xfrm>
          <a:prstGeom prst="roundRect">
            <a:avLst>
              <a:gd name="adj" fmla="val 8000"/>
            </a:avLst>
          </a:prstGeom>
          <a:solidFill>
            <a:srgbClr val="FFFFFF"/>
          </a:solidFill>
          <a:ln w="10160">
            <a:solidFill>
              <a:srgbClr val="DCE5EE"/>
            </a:solidFill>
            <a:prstDash val="solid"/>
          </a:ln>
        </p:spPr>
      </p:sp>
      <p:sp>
        <p:nvSpPr>
          <p:cNvPr id="12" name="Text 10"/>
          <p:cNvSpPr txBox="1"/>
          <p:nvPr/>
        </p:nvSpPr>
        <p:spPr>
          <a:xfrm>
            <a:off x="6629400" y="2121408"/>
            <a:ext cx="4617720" cy="457200"/>
          </a:xfrm>
          <a:prstGeom prst="rect">
            <a:avLst/>
          </a:prstGeom>
          <a:noFill/>
          <a:ln/>
        </p:spPr>
        <p:txBody>
          <a:bodyPr wrap="square" lIns="0" tIns="0" rIns="0" bIns="0" rtlCol="0" anchor="ctr">
            <a:normAutofit/>
          </a:bodyPr>
          <a:lstStyle/>
          <a:p>
            <a:pPr algn="l" indent="0" marL="0">
              <a:lnSpc>
                <a:spcPct val="92000"/>
              </a:lnSpc>
              <a:buNone/>
            </a:pPr>
            <a:r>
              <a:rPr lang="en-US" sz="1300" b="1" dirty="0">
                <a:solidFill>
                  <a:srgbClr val="061B31"/>
                </a:solidFill>
                <a:latin typeface="Noto Sans CJK KR" pitchFamily="34" charset="0"/>
                <a:ea typeface="Noto Sans CJK KR" pitchFamily="34" charset="-122"/>
                <a:cs typeface="Noto Sans CJK KR" pitchFamily="34" charset="-120"/>
              </a:rPr>
              <a:t>Raw Vault</a:t>
            </a:r>
            <a:endParaRPr lang="en-US" sz="1300" dirty="0"/>
          </a:p>
        </p:txBody>
      </p:sp>
      <p:sp>
        <p:nvSpPr>
          <p:cNvPr id="13" name="Shape 11"/>
          <p:cNvSpPr/>
          <p:nvPr/>
        </p:nvSpPr>
        <p:spPr>
          <a:xfrm>
            <a:off x="6400800" y="2907792"/>
            <a:ext cx="5074920" cy="685800"/>
          </a:xfrm>
          <a:prstGeom prst="roundRect">
            <a:avLst>
              <a:gd name="adj" fmla="val 8000"/>
            </a:avLst>
          </a:prstGeom>
          <a:solidFill>
            <a:srgbClr val="FFFFFF"/>
          </a:solidFill>
          <a:ln w="10160">
            <a:solidFill>
              <a:srgbClr val="DCE5EE"/>
            </a:solidFill>
            <a:prstDash val="solid"/>
          </a:ln>
        </p:spPr>
      </p:sp>
      <p:sp>
        <p:nvSpPr>
          <p:cNvPr id="14" name="Text 12"/>
          <p:cNvSpPr txBox="1"/>
          <p:nvPr/>
        </p:nvSpPr>
        <p:spPr>
          <a:xfrm>
            <a:off x="6629400" y="3017520"/>
            <a:ext cx="4617720" cy="457200"/>
          </a:xfrm>
          <a:prstGeom prst="rect">
            <a:avLst/>
          </a:prstGeom>
          <a:noFill/>
          <a:ln/>
        </p:spPr>
        <p:txBody>
          <a:bodyPr wrap="square" lIns="0" tIns="0" rIns="0" bIns="0" rtlCol="0" anchor="ctr">
            <a:normAutofit/>
          </a:bodyPr>
          <a:lstStyle/>
          <a:p>
            <a:pPr algn="l" indent="0" marL="0">
              <a:lnSpc>
                <a:spcPct val="92000"/>
              </a:lnSpc>
              <a:buNone/>
            </a:pPr>
            <a:r>
              <a:rPr lang="en-US" sz="1300" b="1" dirty="0">
                <a:solidFill>
                  <a:srgbClr val="061B31"/>
                </a:solidFill>
                <a:latin typeface="Noto Sans CJK KR" pitchFamily="34" charset="0"/>
                <a:ea typeface="Noto Sans CJK KR" pitchFamily="34" charset="-122"/>
                <a:cs typeface="Noto Sans CJK KR" pitchFamily="34" charset="-120"/>
              </a:rPr>
              <a:t>가명 OCR 처리</a:t>
            </a:r>
            <a:endParaRPr lang="en-US" sz="1300" dirty="0"/>
          </a:p>
        </p:txBody>
      </p:sp>
      <p:sp>
        <p:nvSpPr>
          <p:cNvPr id="15" name="Shape 13"/>
          <p:cNvSpPr/>
          <p:nvPr/>
        </p:nvSpPr>
        <p:spPr>
          <a:xfrm>
            <a:off x="6400800" y="3803904"/>
            <a:ext cx="5074920" cy="685800"/>
          </a:xfrm>
          <a:prstGeom prst="roundRect">
            <a:avLst>
              <a:gd name="adj" fmla="val 8000"/>
            </a:avLst>
          </a:prstGeom>
          <a:solidFill>
            <a:srgbClr val="FFFFFF"/>
          </a:solidFill>
          <a:ln w="10160">
            <a:solidFill>
              <a:srgbClr val="DCE5EE"/>
            </a:solidFill>
            <a:prstDash val="solid"/>
          </a:ln>
        </p:spPr>
      </p:sp>
      <p:sp>
        <p:nvSpPr>
          <p:cNvPr id="16" name="Text 14"/>
          <p:cNvSpPr txBox="1"/>
          <p:nvPr/>
        </p:nvSpPr>
        <p:spPr>
          <a:xfrm>
            <a:off x="6629400" y="3913632"/>
            <a:ext cx="4617720" cy="457200"/>
          </a:xfrm>
          <a:prstGeom prst="rect">
            <a:avLst/>
          </a:prstGeom>
          <a:noFill/>
          <a:ln/>
        </p:spPr>
        <p:txBody>
          <a:bodyPr wrap="square" lIns="0" tIns="0" rIns="0" bIns="0" rtlCol="0" anchor="ctr">
            <a:normAutofit/>
          </a:bodyPr>
          <a:lstStyle/>
          <a:p>
            <a:pPr algn="l" indent="0" marL="0">
              <a:lnSpc>
                <a:spcPct val="92000"/>
              </a:lnSpc>
              <a:buNone/>
            </a:pPr>
            <a:r>
              <a:rPr lang="en-US" sz="1300" b="1" dirty="0">
                <a:solidFill>
                  <a:srgbClr val="061B31"/>
                </a:solidFill>
                <a:latin typeface="Noto Sans CJK KR" pitchFamily="34" charset="0"/>
                <a:ea typeface="Noto Sans CJK KR" pitchFamily="34" charset="-122"/>
                <a:cs typeface="Noto Sans CJK KR" pitchFamily="34" charset="-120"/>
              </a:rPr>
              <a:t>학습 미활용</a:t>
            </a:r>
            <a:endParaRPr lang="en-US" sz="1300" dirty="0"/>
          </a:p>
        </p:txBody>
      </p:sp>
      <p:sp>
        <p:nvSpPr>
          <p:cNvPr id="17" name="Shape 15"/>
          <p:cNvSpPr/>
          <p:nvPr/>
        </p:nvSpPr>
        <p:spPr>
          <a:xfrm>
            <a:off x="6400800" y="4700016"/>
            <a:ext cx="5074920" cy="685800"/>
          </a:xfrm>
          <a:prstGeom prst="roundRect">
            <a:avLst>
              <a:gd name="adj" fmla="val 8000"/>
            </a:avLst>
          </a:prstGeom>
          <a:solidFill>
            <a:srgbClr val="E8F4EE"/>
          </a:solidFill>
          <a:ln w="10160">
            <a:solidFill>
              <a:srgbClr val="168A52"/>
            </a:solidFill>
            <a:prstDash val="solid"/>
          </a:ln>
        </p:spPr>
      </p:sp>
      <p:sp>
        <p:nvSpPr>
          <p:cNvPr id="18" name="Text 16"/>
          <p:cNvSpPr txBox="1"/>
          <p:nvPr/>
        </p:nvSpPr>
        <p:spPr>
          <a:xfrm>
            <a:off x="6629400" y="4809744"/>
            <a:ext cx="4617720" cy="457200"/>
          </a:xfrm>
          <a:prstGeom prst="rect">
            <a:avLst/>
          </a:prstGeom>
          <a:noFill/>
          <a:ln/>
        </p:spPr>
        <p:txBody>
          <a:bodyPr wrap="square" lIns="0" tIns="0" rIns="0" bIns="0" rtlCol="0" anchor="ctr">
            <a:normAutofit/>
          </a:bodyPr>
          <a:lstStyle/>
          <a:p>
            <a:pPr algn="l" indent="0" marL="0">
              <a:lnSpc>
                <a:spcPct val="92000"/>
              </a:lnSpc>
              <a:buNone/>
            </a:pPr>
            <a:r>
              <a:rPr lang="en-US" sz="1300" b="1" dirty="0">
                <a:solidFill>
                  <a:srgbClr val="061B31"/>
                </a:solidFill>
                <a:latin typeface="Noto Sans CJK KR" pitchFamily="34" charset="0"/>
                <a:ea typeface="Noto Sans CJK KR" pitchFamily="34" charset="-122"/>
                <a:cs typeface="Noto Sans CJK KR" pitchFamily="34" charset="-120"/>
              </a:rPr>
              <a:t>지체없는 파기</a:t>
            </a:r>
            <a:endParaRPr lang="en-US" sz="1300" dirty="0"/>
          </a:p>
        </p:txBody>
      </p:sp>
      <p:sp>
        <p:nvSpPr>
          <p:cNvPr id="19" name="Text 17"/>
          <p:cNvSpPr txBox="1"/>
          <p:nvPr/>
        </p:nvSpPr>
        <p:spPr>
          <a:xfrm>
            <a:off x="822960" y="4983480"/>
            <a:ext cx="4892040" cy="384048"/>
          </a:xfrm>
          <a:prstGeom prst="rect">
            <a:avLst/>
          </a:prstGeom>
          <a:noFill/>
          <a:ln/>
        </p:spPr>
        <p:txBody>
          <a:bodyPr wrap="square" lIns="0" tIns="0" rIns="0" bIns="0" rtlCol="0" anchor="ctr">
            <a:normAutofit/>
          </a:bodyPr>
          <a:lstStyle/>
          <a:p>
            <a:pPr algn="ctr" indent="0" marL="0">
              <a:lnSpc>
                <a:spcPct val="92000"/>
              </a:lnSpc>
              <a:buNone/>
            </a:pPr>
            <a:r>
              <a:rPr lang="en-US" sz="1100" dirty="0">
                <a:solidFill>
                  <a:srgbClr val="526274"/>
                </a:solidFill>
                <a:latin typeface="Noto Sans CJK KR" pitchFamily="34" charset="0"/>
                <a:ea typeface="Noto Sans CJK KR" pitchFamily="34" charset="-122"/>
                <a:cs typeface="Noto Sans CJK KR" pitchFamily="34" charset="-120"/>
              </a:rPr>
              <a:t>국외 OCR 처리 시 동의 등 PIPA상 근거 확보·고지 · 계좌·금액 등 핵심 데이터는 사용자 100% 직접 승인 후 반영</a:t>
            </a:r>
            <a:endParaRPr lang="en-US" sz="1100" dirty="0"/>
          </a:p>
        </p:txBody>
      </p:sp>
      <p:sp>
        <p:nvSpPr>
          <p:cNvPr id="25" name="Slide Number Placeholder 0"/>
          <p:cNvSpPr>
            <a:spLocks noGrp="1"/>
          </p:cNvSpPr>
          <p:nvPr>
            <p:ph type="sldNum" sz="quarter" idx="4294967295"/>
          </p:nvPr>
        </p:nvSpPr>
        <p:spPr>
          <a:xfrm>
            <a:off x="530352" y="6556248"/>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8A97A5"/>
                </a:solidFill>
                <a:latin typeface="Source Code Pro"/>
                <a:ea typeface="Source Code Pro"/>
                <a:cs typeface="Source Code Pro"/>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30352" y="310896"/>
            <a:ext cx="4389120" cy="210312"/>
          </a:xfrm>
          <a:prstGeom prst="rect">
            <a:avLst/>
          </a:prstGeom>
          <a:noFill/>
          <a:ln/>
        </p:spPr>
        <p:txBody>
          <a:bodyPr wrap="square" lIns="0" tIns="0" rIns="0" bIns="0" rtlCol="0" anchor="ctr">
            <a:normAutofit/>
          </a:bodyPr>
          <a:lstStyle/>
          <a:p>
            <a:pPr algn="l" indent="0" marL="0">
              <a:lnSpc>
                <a:spcPct val="92000"/>
              </a:lnSpc>
              <a:buNone/>
            </a:pPr>
            <a:r>
              <a:rPr lang="en-US" sz="900" b="1" spc="140" kern="0" dirty="0">
                <a:solidFill>
                  <a:srgbClr val="533AFD"/>
                </a:solidFill>
                <a:latin typeface="Source Code Pro" pitchFamily="34" charset="0"/>
                <a:ea typeface="Source Code Pro" pitchFamily="34" charset="-122"/>
                <a:cs typeface="Source Code Pro" pitchFamily="34" charset="-120"/>
              </a:rPr>
              <a:t>공공 연동 및 Handoff 전략</a:t>
            </a:r>
            <a:endParaRPr lang="en-US" sz="900" dirty="0"/>
          </a:p>
        </p:txBody>
      </p:sp>
      <p:sp>
        <p:nvSpPr>
          <p:cNvPr id="3" name="Text 1"/>
          <p:cNvSpPr txBox="1"/>
          <p:nvPr/>
        </p:nvSpPr>
        <p:spPr>
          <a:xfrm>
            <a:off x="530352" y="566928"/>
            <a:ext cx="11018520" cy="512064"/>
          </a:xfrm>
          <a:prstGeom prst="rect">
            <a:avLst/>
          </a:prstGeom>
          <a:noFill/>
          <a:ln/>
        </p:spPr>
        <p:txBody>
          <a:bodyPr wrap="square" lIns="0" tIns="0" rIns="0" bIns="0" rtlCol="0" anchor="ctr">
            <a:normAutofit/>
          </a:bodyPr>
          <a:lstStyle/>
          <a:p>
            <a:pPr algn="l" indent="0" marL="0">
              <a:lnSpc>
                <a:spcPct val="92000"/>
              </a:lnSpc>
              <a:buNone/>
            </a:pPr>
            <a:r>
              <a:rPr lang="en-US" sz="2400" b="1" dirty="0">
                <a:solidFill>
                  <a:srgbClr val="061B31"/>
                </a:solidFill>
                <a:latin typeface="Noto Sans CJK KR" pitchFamily="34" charset="0"/>
                <a:ea typeface="Noto Sans CJK KR" pitchFamily="34" charset="-122"/>
                <a:cs typeface="Noto Sans CJK KR" pitchFamily="34" charset="-120"/>
              </a:rPr>
              <a:t>공공 시스템을 대체하지 않고 연결한다</a:t>
            </a:r>
            <a:endParaRPr lang="en-US" sz="2400" dirty="0"/>
          </a:p>
        </p:txBody>
      </p:sp>
      <p:sp>
        <p:nvSpPr>
          <p:cNvPr id="4" name="Shape 2"/>
          <p:cNvSpPr/>
          <p:nvPr/>
        </p:nvSpPr>
        <p:spPr>
          <a:xfrm>
            <a:off x="530352" y="1124712"/>
            <a:ext cx="960120" cy="0"/>
          </a:xfrm>
          <a:prstGeom prst="line">
            <a:avLst/>
          </a:prstGeom>
          <a:noFill/>
          <a:ln w="38100">
            <a:solidFill>
              <a:srgbClr val="533AFD"/>
            </a:solidFill>
            <a:prstDash val="solid"/>
            <a:headEnd type="none"/>
            <a:tailEnd type="none"/>
          </a:ln>
        </p:spPr>
      </p:sp>
      <p:sp>
        <p:nvSpPr>
          <p:cNvPr id="5" name="Text 3"/>
          <p:cNvSpPr txBox="1"/>
          <p:nvPr/>
        </p:nvSpPr>
        <p:spPr>
          <a:xfrm>
            <a:off x="4754880" y="6291072"/>
            <a:ext cx="6903720" cy="182880"/>
          </a:xfrm>
          <a:prstGeom prst="rect">
            <a:avLst/>
          </a:prstGeom>
          <a:noFill/>
          <a:ln/>
        </p:spPr>
        <p:txBody>
          <a:bodyPr wrap="square" lIns="0" tIns="0" rIns="0" bIns="0" rtlCol="0" anchor="ctr">
            <a:normAutofit/>
          </a:bodyPr>
          <a:lstStyle/>
          <a:p>
            <a:pPr algn="r" indent="0" marL="0">
              <a:lnSpc>
                <a:spcPct val="92000"/>
              </a:lnSpc>
              <a:buNone/>
            </a:pPr>
            <a:r>
              <a:rPr lang="en-US" sz="900" dirty="0">
                <a:solidFill>
                  <a:srgbClr val="8A97A5"/>
                </a:solidFill>
                <a:latin typeface="Source Code Pro" pitchFamily="34" charset="0"/>
                <a:ea typeface="Source Code Pro" pitchFamily="34" charset="-122"/>
                <a:cs typeface="Source Code Pro" pitchFamily="34" charset="-120"/>
              </a:rPr>
              <a:t>[S013] [S014] [S018] [S030] [S050] [S052] [S054] [S058]</a:t>
            </a:r>
            <a:endParaRPr lang="en-US" sz="900" dirty="0"/>
          </a:p>
        </p:txBody>
      </p:sp>
      <p:sp>
        <p:nvSpPr>
          <p:cNvPr id="6" name="Text 4"/>
          <p:cNvSpPr txBox="1"/>
          <p:nvPr/>
        </p:nvSpPr>
        <p:spPr>
          <a:xfrm>
            <a:off x="530352" y="1325880"/>
            <a:ext cx="11018520" cy="502920"/>
          </a:xfrm>
          <a:prstGeom prst="rect">
            <a:avLst/>
          </a:prstGeom>
          <a:noFill/>
          <a:ln/>
        </p:spPr>
        <p:txBody>
          <a:bodyPr wrap="square" lIns="0" tIns="0" rIns="0" bIns="0" rtlCol="0" anchor="t">
            <a:normAutofit/>
          </a:bodyPr>
          <a:lstStyle/>
          <a:p>
            <a:pPr algn="l" indent="0" marL="0">
              <a:lnSpc>
                <a:spcPct val="92000"/>
              </a:lnSpc>
              <a:buNone/>
            </a:pPr>
            <a:r>
              <a:rPr lang="en-US" sz="2000" b="1" dirty="0">
                <a:solidFill>
                  <a:srgbClr val="061B31"/>
                </a:solidFill>
                <a:latin typeface="Noto Sans CJK KR" pitchFamily="34" charset="0"/>
                <a:ea typeface="Noto Sans CJK KR" pitchFamily="34" charset="-122"/>
                <a:cs typeface="Noto Sans CJK KR" pitchFamily="34" charset="-120"/>
              </a:rPr>
              <a:t>공공 시스템 우회 없이 검증된 공식 접수 창구로의 사전 연결을 제공한다.</a:t>
            </a:r>
            <a:endParaRPr lang="en-US" sz="2000" dirty="0"/>
          </a:p>
        </p:txBody>
      </p:sp>
      <p:sp>
        <p:nvSpPr>
          <p:cNvPr id="7" name="Shape 5"/>
          <p:cNvSpPr/>
          <p:nvPr/>
        </p:nvSpPr>
        <p:spPr>
          <a:xfrm>
            <a:off x="6103620" y="3191256"/>
            <a:ext cx="-3931920" cy="-804672"/>
          </a:xfrm>
          <a:prstGeom prst="line">
            <a:avLst/>
          </a:prstGeom>
          <a:noFill/>
          <a:ln w="15240">
            <a:solidFill>
              <a:srgbClr val="DCE5EE"/>
            </a:solidFill>
            <a:prstDash val="solid"/>
          </a:ln>
        </p:spPr>
      </p:sp>
      <p:sp>
        <p:nvSpPr>
          <p:cNvPr id="8" name="Shape 6"/>
          <p:cNvSpPr/>
          <p:nvPr/>
        </p:nvSpPr>
        <p:spPr>
          <a:xfrm>
            <a:off x="6103620" y="3191256"/>
            <a:ext cx="3886200" cy="-804672"/>
          </a:xfrm>
          <a:prstGeom prst="line">
            <a:avLst/>
          </a:prstGeom>
          <a:noFill/>
          <a:ln w="15240">
            <a:solidFill>
              <a:srgbClr val="DCE5EE"/>
            </a:solidFill>
            <a:prstDash val="solid"/>
          </a:ln>
        </p:spPr>
      </p:sp>
      <p:sp>
        <p:nvSpPr>
          <p:cNvPr id="9" name="Shape 7"/>
          <p:cNvSpPr/>
          <p:nvPr/>
        </p:nvSpPr>
        <p:spPr>
          <a:xfrm>
            <a:off x="6103620" y="3191256"/>
            <a:ext cx="-4069080" cy="1481328"/>
          </a:xfrm>
          <a:prstGeom prst="line">
            <a:avLst/>
          </a:prstGeom>
          <a:noFill/>
          <a:ln w="15240">
            <a:solidFill>
              <a:srgbClr val="DCE5EE"/>
            </a:solidFill>
            <a:prstDash val="solid"/>
          </a:ln>
        </p:spPr>
      </p:sp>
      <p:sp>
        <p:nvSpPr>
          <p:cNvPr id="10" name="Shape 8"/>
          <p:cNvSpPr/>
          <p:nvPr/>
        </p:nvSpPr>
        <p:spPr>
          <a:xfrm>
            <a:off x="6103620" y="3191256"/>
            <a:ext cx="4069080" cy="1481328"/>
          </a:xfrm>
          <a:prstGeom prst="line">
            <a:avLst/>
          </a:prstGeom>
          <a:noFill/>
          <a:ln w="15240">
            <a:solidFill>
              <a:srgbClr val="DCE5EE"/>
            </a:solidFill>
            <a:prstDash val="solid"/>
          </a:ln>
        </p:spPr>
      </p:sp>
      <p:sp>
        <p:nvSpPr>
          <p:cNvPr id="11" name="Shape 9"/>
          <p:cNvSpPr/>
          <p:nvPr/>
        </p:nvSpPr>
        <p:spPr>
          <a:xfrm>
            <a:off x="6103620" y="3191256"/>
            <a:ext cx="-228600" cy="2029968"/>
          </a:xfrm>
          <a:prstGeom prst="line">
            <a:avLst/>
          </a:prstGeom>
          <a:noFill/>
          <a:ln w="15240">
            <a:solidFill>
              <a:srgbClr val="DCE5EE"/>
            </a:solidFill>
            <a:prstDash val="solid"/>
          </a:ln>
        </p:spPr>
      </p:sp>
      <p:sp>
        <p:nvSpPr>
          <p:cNvPr id="12" name="Shape 10"/>
          <p:cNvSpPr/>
          <p:nvPr/>
        </p:nvSpPr>
        <p:spPr>
          <a:xfrm>
            <a:off x="4709160" y="2651760"/>
            <a:ext cx="2788920" cy="1078992"/>
          </a:xfrm>
          <a:prstGeom prst="roundRect">
            <a:avLst>
              <a:gd name="adj" fmla="val 5085"/>
            </a:avLst>
          </a:prstGeom>
          <a:solidFill>
            <a:srgbClr val="E9E7FF"/>
          </a:solidFill>
          <a:ln w="10160">
            <a:solidFill>
              <a:srgbClr val="533AFD"/>
            </a:solidFill>
            <a:prstDash val="solid"/>
          </a:ln>
        </p:spPr>
      </p:sp>
      <p:sp>
        <p:nvSpPr>
          <p:cNvPr id="13" name="Text 11"/>
          <p:cNvSpPr txBox="1"/>
          <p:nvPr/>
        </p:nvSpPr>
        <p:spPr>
          <a:xfrm>
            <a:off x="4937760" y="2852928"/>
            <a:ext cx="2331720" cy="658368"/>
          </a:xfrm>
          <a:prstGeom prst="rect">
            <a:avLst/>
          </a:prstGeom>
          <a:noFill/>
          <a:ln/>
        </p:spPr>
        <p:txBody>
          <a:bodyPr wrap="square" lIns="0" tIns="0" rIns="0" bIns="0" rtlCol="0" anchor="ctr">
            <a:normAutofit/>
          </a:bodyPr>
          <a:lstStyle/>
          <a:p>
            <a:pPr algn="ctr" indent="0" marL="0">
              <a:lnSpc>
                <a:spcPct val="92000"/>
              </a:lnSpc>
              <a:buNone/>
            </a:pPr>
            <a:r>
              <a:rPr lang="en-US" sz="1600" b="1" dirty="0">
                <a:solidFill>
                  <a:srgbClr val="061B31"/>
                </a:solidFill>
                <a:latin typeface="Noto Sans CJK KR" pitchFamily="34" charset="0"/>
                <a:ea typeface="Noto Sans CJK KR" pitchFamily="34" charset="-122"/>
                <a:cs typeface="Noto Sans CJK KR" pitchFamily="34" charset="-120"/>
              </a:rPr>
              <a:t>AI 내비게이터</a:t>
            </a:r>
            <a:endParaRPr lang="en-US" sz="1600" dirty="0"/>
          </a:p>
        </p:txBody>
      </p:sp>
      <p:sp>
        <p:nvSpPr>
          <p:cNvPr id="14" name="Shape 12"/>
          <p:cNvSpPr/>
          <p:nvPr/>
        </p:nvSpPr>
        <p:spPr>
          <a:xfrm>
            <a:off x="914400" y="1965960"/>
            <a:ext cx="2514600" cy="841248"/>
          </a:xfrm>
          <a:prstGeom prst="roundRect">
            <a:avLst>
              <a:gd name="adj" fmla="val 6522"/>
            </a:avLst>
          </a:prstGeom>
          <a:solidFill>
            <a:srgbClr val="FFFFFF"/>
          </a:solidFill>
          <a:ln w="10160">
            <a:solidFill>
              <a:srgbClr val="DCE5EE"/>
            </a:solidFill>
            <a:prstDash val="solid"/>
          </a:ln>
        </p:spPr>
      </p:sp>
      <p:sp>
        <p:nvSpPr>
          <p:cNvPr id="15" name="Shape 13"/>
          <p:cNvSpPr/>
          <p:nvPr/>
        </p:nvSpPr>
        <p:spPr>
          <a:xfrm>
            <a:off x="914400" y="1965960"/>
            <a:ext cx="2514600" cy="0"/>
          </a:xfrm>
          <a:prstGeom prst="line">
            <a:avLst/>
          </a:prstGeom>
          <a:noFill/>
          <a:ln w="38100">
            <a:solidFill>
              <a:srgbClr val="533AFD"/>
            </a:solidFill>
            <a:prstDash val="solid"/>
            <a:headEnd type="none"/>
            <a:tailEnd type="none"/>
          </a:ln>
        </p:spPr>
      </p:sp>
      <p:sp>
        <p:nvSpPr>
          <p:cNvPr id="16" name="Text 14"/>
          <p:cNvSpPr txBox="1"/>
          <p:nvPr/>
        </p:nvSpPr>
        <p:spPr>
          <a:xfrm>
            <a:off x="1097280" y="2112264"/>
            <a:ext cx="214884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경찰청 ECRM</a:t>
            </a:r>
            <a:endParaRPr lang="en-US" sz="1400" dirty="0"/>
          </a:p>
        </p:txBody>
      </p:sp>
      <p:sp>
        <p:nvSpPr>
          <p:cNvPr id="17" name="Shape 15"/>
          <p:cNvSpPr/>
          <p:nvPr/>
        </p:nvSpPr>
        <p:spPr>
          <a:xfrm>
            <a:off x="8732520" y="1965960"/>
            <a:ext cx="2514600" cy="841248"/>
          </a:xfrm>
          <a:prstGeom prst="roundRect">
            <a:avLst>
              <a:gd name="adj" fmla="val 6522"/>
            </a:avLst>
          </a:prstGeom>
          <a:solidFill>
            <a:srgbClr val="FFFFFF"/>
          </a:solidFill>
          <a:ln w="10160">
            <a:solidFill>
              <a:srgbClr val="DCE5EE"/>
            </a:solidFill>
            <a:prstDash val="solid"/>
          </a:ln>
        </p:spPr>
      </p:sp>
      <p:sp>
        <p:nvSpPr>
          <p:cNvPr id="18" name="Shape 16"/>
          <p:cNvSpPr/>
          <p:nvPr/>
        </p:nvSpPr>
        <p:spPr>
          <a:xfrm>
            <a:off x="8732520" y="1965960"/>
            <a:ext cx="2514600" cy="0"/>
          </a:xfrm>
          <a:prstGeom prst="line">
            <a:avLst/>
          </a:prstGeom>
          <a:noFill/>
          <a:ln w="38100">
            <a:solidFill>
              <a:srgbClr val="533AFD"/>
            </a:solidFill>
            <a:prstDash val="solid"/>
            <a:headEnd type="none"/>
            <a:tailEnd type="none"/>
          </a:ln>
        </p:spPr>
      </p:sp>
      <p:sp>
        <p:nvSpPr>
          <p:cNvPr id="19" name="Text 17"/>
          <p:cNvSpPr txBox="1"/>
          <p:nvPr/>
        </p:nvSpPr>
        <p:spPr>
          <a:xfrm>
            <a:off x="8915400" y="2112264"/>
            <a:ext cx="214884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대법원 전자소송</a:t>
            </a:r>
            <a:endParaRPr lang="en-US" sz="1400" dirty="0"/>
          </a:p>
        </p:txBody>
      </p:sp>
      <p:sp>
        <p:nvSpPr>
          <p:cNvPr id="20" name="Shape 18"/>
          <p:cNvSpPr/>
          <p:nvPr/>
        </p:nvSpPr>
        <p:spPr>
          <a:xfrm>
            <a:off x="777240" y="4251960"/>
            <a:ext cx="2514600" cy="841248"/>
          </a:xfrm>
          <a:prstGeom prst="roundRect">
            <a:avLst>
              <a:gd name="adj" fmla="val 6522"/>
            </a:avLst>
          </a:prstGeom>
          <a:solidFill>
            <a:srgbClr val="FFFFFF"/>
          </a:solidFill>
          <a:ln w="10160">
            <a:solidFill>
              <a:srgbClr val="DCE5EE"/>
            </a:solidFill>
            <a:prstDash val="solid"/>
          </a:ln>
        </p:spPr>
      </p:sp>
      <p:sp>
        <p:nvSpPr>
          <p:cNvPr id="21" name="Shape 19"/>
          <p:cNvSpPr/>
          <p:nvPr/>
        </p:nvSpPr>
        <p:spPr>
          <a:xfrm>
            <a:off x="777240" y="4251960"/>
            <a:ext cx="2514600" cy="0"/>
          </a:xfrm>
          <a:prstGeom prst="line">
            <a:avLst/>
          </a:prstGeom>
          <a:noFill/>
          <a:ln w="38100">
            <a:solidFill>
              <a:srgbClr val="533AFD"/>
            </a:solidFill>
            <a:prstDash val="solid"/>
            <a:headEnd type="none"/>
            <a:tailEnd type="none"/>
          </a:ln>
        </p:spPr>
      </p:sp>
      <p:sp>
        <p:nvSpPr>
          <p:cNvPr id="22" name="Text 20"/>
          <p:cNvSpPr txBox="1"/>
          <p:nvPr/>
        </p:nvSpPr>
        <p:spPr>
          <a:xfrm>
            <a:off x="960120" y="4398264"/>
            <a:ext cx="214884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소비자24</a:t>
            </a:r>
            <a:endParaRPr lang="en-US" sz="1400" dirty="0"/>
          </a:p>
        </p:txBody>
      </p:sp>
      <p:sp>
        <p:nvSpPr>
          <p:cNvPr id="23" name="Shape 21"/>
          <p:cNvSpPr/>
          <p:nvPr/>
        </p:nvSpPr>
        <p:spPr>
          <a:xfrm>
            <a:off x="8915400" y="4251960"/>
            <a:ext cx="2514600" cy="841248"/>
          </a:xfrm>
          <a:prstGeom prst="roundRect">
            <a:avLst>
              <a:gd name="adj" fmla="val 6522"/>
            </a:avLst>
          </a:prstGeom>
          <a:solidFill>
            <a:srgbClr val="FFFFFF"/>
          </a:solidFill>
          <a:ln w="10160">
            <a:solidFill>
              <a:srgbClr val="DCE5EE"/>
            </a:solidFill>
            <a:prstDash val="solid"/>
          </a:ln>
        </p:spPr>
      </p:sp>
      <p:sp>
        <p:nvSpPr>
          <p:cNvPr id="24" name="Shape 22"/>
          <p:cNvSpPr/>
          <p:nvPr/>
        </p:nvSpPr>
        <p:spPr>
          <a:xfrm>
            <a:off x="8915400" y="4251960"/>
            <a:ext cx="2514600" cy="0"/>
          </a:xfrm>
          <a:prstGeom prst="line">
            <a:avLst/>
          </a:prstGeom>
          <a:noFill/>
          <a:ln w="38100">
            <a:solidFill>
              <a:srgbClr val="533AFD"/>
            </a:solidFill>
            <a:prstDash val="solid"/>
            <a:headEnd type="none"/>
            <a:tailEnd type="none"/>
          </a:ln>
        </p:spPr>
      </p:sp>
      <p:sp>
        <p:nvSpPr>
          <p:cNvPr id="25" name="Text 23"/>
          <p:cNvSpPr txBox="1"/>
          <p:nvPr/>
        </p:nvSpPr>
        <p:spPr>
          <a:xfrm>
            <a:off x="9098280" y="4398264"/>
            <a:ext cx="214884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법률구조공단</a:t>
            </a:r>
            <a:endParaRPr lang="en-US" sz="1400" dirty="0"/>
          </a:p>
        </p:txBody>
      </p:sp>
      <p:sp>
        <p:nvSpPr>
          <p:cNvPr id="26" name="Shape 24"/>
          <p:cNvSpPr/>
          <p:nvPr/>
        </p:nvSpPr>
        <p:spPr>
          <a:xfrm>
            <a:off x="4617720" y="4800600"/>
            <a:ext cx="2514600" cy="841248"/>
          </a:xfrm>
          <a:prstGeom prst="roundRect">
            <a:avLst>
              <a:gd name="adj" fmla="val 6522"/>
            </a:avLst>
          </a:prstGeom>
          <a:solidFill>
            <a:srgbClr val="FFFFFF"/>
          </a:solidFill>
          <a:ln w="10160">
            <a:solidFill>
              <a:srgbClr val="DCE5EE"/>
            </a:solidFill>
            <a:prstDash val="solid"/>
          </a:ln>
        </p:spPr>
      </p:sp>
      <p:sp>
        <p:nvSpPr>
          <p:cNvPr id="27" name="Shape 25"/>
          <p:cNvSpPr/>
          <p:nvPr/>
        </p:nvSpPr>
        <p:spPr>
          <a:xfrm>
            <a:off x="4617720" y="4800600"/>
            <a:ext cx="2514600" cy="0"/>
          </a:xfrm>
          <a:prstGeom prst="line">
            <a:avLst/>
          </a:prstGeom>
          <a:noFill/>
          <a:ln w="38100">
            <a:solidFill>
              <a:srgbClr val="533AFD"/>
            </a:solidFill>
            <a:prstDash val="solid"/>
            <a:headEnd type="none"/>
            <a:tailEnd type="none"/>
          </a:ln>
        </p:spPr>
      </p:sp>
      <p:sp>
        <p:nvSpPr>
          <p:cNvPr id="28" name="Text 26"/>
          <p:cNvSpPr txBox="1"/>
          <p:nvPr/>
        </p:nvSpPr>
        <p:spPr>
          <a:xfrm>
            <a:off x="4800600" y="4946904"/>
            <a:ext cx="214884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전자거래 조정</a:t>
            </a:r>
            <a:endParaRPr lang="en-US" sz="1400" dirty="0"/>
          </a:p>
        </p:txBody>
      </p:sp>
      <p:sp>
        <p:nvSpPr>
          <p:cNvPr id="25" name="Slide Number Placeholder 0"/>
          <p:cNvSpPr>
            <a:spLocks noGrp="1"/>
          </p:cNvSpPr>
          <p:nvPr>
            <p:ph type="sldNum" sz="quarter" idx="4294967295"/>
          </p:nvPr>
        </p:nvSpPr>
        <p:spPr>
          <a:xfrm>
            <a:off x="530352" y="6556248"/>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8A97A5"/>
                </a:solidFill>
                <a:latin typeface="Source Code Pro"/>
                <a:ea typeface="Source Code Pro"/>
                <a:cs typeface="Source Code Pro"/>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30352" y="310896"/>
            <a:ext cx="4389120" cy="210312"/>
          </a:xfrm>
          <a:prstGeom prst="rect">
            <a:avLst/>
          </a:prstGeom>
          <a:noFill/>
          <a:ln/>
        </p:spPr>
        <p:txBody>
          <a:bodyPr wrap="square" lIns="0" tIns="0" rIns="0" bIns="0" rtlCol="0" anchor="ctr">
            <a:normAutofit/>
          </a:bodyPr>
          <a:lstStyle/>
          <a:p>
            <a:pPr algn="l" indent="0" marL="0">
              <a:lnSpc>
                <a:spcPct val="92000"/>
              </a:lnSpc>
              <a:buNone/>
            </a:pPr>
            <a:r>
              <a:rPr lang="en-US" sz="900" b="1" spc="140" kern="0" dirty="0">
                <a:solidFill>
                  <a:srgbClr val="533AFD"/>
                </a:solidFill>
                <a:latin typeface="Source Code Pro" pitchFamily="34" charset="0"/>
                <a:ea typeface="Source Code Pro" pitchFamily="34" charset="-122"/>
                <a:cs typeface="Source Code Pro" pitchFamily="34" charset="-120"/>
              </a:rPr>
              <a:t>5단계 실현 로드맵</a:t>
            </a:r>
            <a:endParaRPr lang="en-US" sz="900" dirty="0"/>
          </a:p>
        </p:txBody>
      </p:sp>
      <p:sp>
        <p:nvSpPr>
          <p:cNvPr id="3" name="Text 1"/>
          <p:cNvSpPr txBox="1"/>
          <p:nvPr/>
        </p:nvSpPr>
        <p:spPr>
          <a:xfrm>
            <a:off x="530352" y="566928"/>
            <a:ext cx="11018520" cy="512064"/>
          </a:xfrm>
          <a:prstGeom prst="rect">
            <a:avLst/>
          </a:prstGeom>
          <a:noFill/>
          <a:ln/>
        </p:spPr>
        <p:txBody>
          <a:bodyPr wrap="square" lIns="0" tIns="0" rIns="0" bIns="0" rtlCol="0" anchor="ctr">
            <a:normAutofit/>
          </a:bodyPr>
          <a:lstStyle/>
          <a:p>
            <a:pPr algn="l" indent="0" marL="0">
              <a:lnSpc>
                <a:spcPct val="92000"/>
              </a:lnSpc>
              <a:buNone/>
            </a:pPr>
            <a:r>
              <a:rPr lang="en-US" sz="2400" b="1" dirty="0">
                <a:solidFill>
                  <a:srgbClr val="061B31"/>
                </a:solidFill>
                <a:latin typeface="Noto Sans CJK KR" pitchFamily="34" charset="0"/>
                <a:ea typeface="Noto Sans CJK KR" pitchFamily="34" charset="-122"/>
                <a:cs typeface="Noto Sans CJK KR" pitchFamily="34" charset="-120"/>
              </a:rPr>
              <a:t>Phase 0부터 4까지의 단계별 실현 로드맵</a:t>
            </a:r>
            <a:endParaRPr lang="en-US" sz="2400" dirty="0"/>
          </a:p>
        </p:txBody>
      </p:sp>
      <p:sp>
        <p:nvSpPr>
          <p:cNvPr id="4" name="Shape 2"/>
          <p:cNvSpPr/>
          <p:nvPr/>
        </p:nvSpPr>
        <p:spPr>
          <a:xfrm>
            <a:off x="530352" y="1124712"/>
            <a:ext cx="960120" cy="0"/>
          </a:xfrm>
          <a:prstGeom prst="line">
            <a:avLst/>
          </a:prstGeom>
          <a:noFill/>
          <a:ln w="38100">
            <a:solidFill>
              <a:srgbClr val="533AFD"/>
            </a:solidFill>
            <a:prstDash val="solid"/>
            <a:headEnd type="none"/>
            <a:tailEnd type="none"/>
          </a:ln>
        </p:spPr>
      </p:sp>
      <p:sp>
        <p:nvSpPr>
          <p:cNvPr id="5" name="Text 3"/>
          <p:cNvSpPr txBox="1"/>
          <p:nvPr/>
        </p:nvSpPr>
        <p:spPr>
          <a:xfrm>
            <a:off x="4754880" y="6291072"/>
            <a:ext cx="6903720" cy="182880"/>
          </a:xfrm>
          <a:prstGeom prst="rect">
            <a:avLst/>
          </a:prstGeom>
          <a:noFill/>
          <a:ln/>
        </p:spPr>
        <p:txBody>
          <a:bodyPr wrap="square" lIns="0" tIns="0" rIns="0" bIns="0" rtlCol="0" anchor="ctr">
            <a:normAutofit/>
          </a:bodyPr>
          <a:lstStyle/>
          <a:p>
            <a:pPr algn="r" indent="0" marL="0">
              <a:lnSpc>
                <a:spcPct val="92000"/>
              </a:lnSpc>
              <a:buNone/>
            </a:pPr>
            <a:r>
              <a:rPr lang="en-US" sz="900" dirty="0">
                <a:solidFill>
                  <a:srgbClr val="8A97A5"/>
                </a:solidFill>
                <a:latin typeface="Source Code Pro" pitchFamily="34" charset="0"/>
                <a:ea typeface="Source Code Pro" pitchFamily="34" charset="-122"/>
                <a:cs typeface="Source Code Pro" pitchFamily="34" charset="-120"/>
              </a:rPr>
              <a:t>[S070] [S089] [S093] [S094]</a:t>
            </a:r>
            <a:endParaRPr lang="en-US" sz="900" dirty="0"/>
          </a:p>
        </p:txBody>
      </p:sp>
      <p:sp>
        <p:nvSpPr>
          <p:cNvPr id="6" name="Text 4"/>
          <p:cNvSpPr txBox="1"/>
          <p:nvPr/>
        </p:nvSpPr>
        <p:spPr>
          <a:xfrm>
            <a:off x="530352" y="1325880"/>
            <a:ext cx="11018520" cy="502920"/>
          </a:xfrm>
          <a:prstGeom prst="rect">
            <a:avLst/>
          </a:prstGeom>
          <a:noFill/>
          <a:ln/>
        </p:spPr>
        <p:txBody>
          <a:bodyPr wrap="square" lIns="0" tIns="0" rIns="0" bIns="0" rtlCol="0" anchor="t">
            <a:normAutofit/>
          </a:bodyPr>
          <a:lstStyle/>
          <a:p>
            <a:pPr algn="l" indent="0" marL="0">
              <a:lnSpc>
                <a:spcPct val="92000"/>
              </a:lnSpc>
              <a:buNone/>
            </a:pPr>
            <a:r>
              <a:rPr lang="en-US" sz="2000" b="1" dirty="0">
                <a:solidFill>
                  <a:srgbClr val="061B31"/>
                </a:solidFill>
                <a:latin typeface="Noto Sans CJK KR" pitchFamily="34" charset="0"/>
                <a:ea typeface="Noto Sans CJK KR" pitchFamily="34" charset="-122"/>
                <a:cs typeface="Noto Sans CJK KR" pitchFamily="34" charset="-120"/>
              </a:rPr>
              <a:t>법률 위험 경계를 우선 검토하며 5단계 순차 검증을 이행한다.</a:t>
            </a:r>
            <a:endParaRPr lang="en-US" sz="2000" dirty="0"/>
          </a:p>
        </p:txBody>
      </p:sp>
      <p:sp>
        <p:nvSpPr>
          <p:cNvPr id="7" name="Shape 5"/>
          <p:cNvSpPr/>
          <p:nvPr/>
        </p:nvSpPr>
        <p:spPr>
          <a:xfrm>
            <a:off x="1529243" y="2697480"/>
            <a:ext cx="9103035" cy="0"/>
          </a:xfrm>
          <a:prstGeom prst="line">
            <a:avLst/>
          </a:prstGeom>
          <a:noFill/>
          <a:ln w="29210">
            <a:solidFill>
              <a:srgbClr val="533AFD"/>
            </a:solidFill>
            <a:prstDash val="solid"/>
            <a:tailEnd type="triangle"/>
          </a:ln>
        </p:spPr>
      </p:sp>
      <p:sp>
        <p:nvSpPr>
          <p:cNvPr id="8" name="Shape 6"/>
          <p:cNvSpPr/>
          <p:nvPr/>
        </p:nvSpPr>
        <p:spPr>
          <a:xfrm>
            <a:off x="594360" y="2240280"/>
            <a:ext cx="2077517" cy="914400"/>
          </a:xfrm>
          <a:prstGeom prst="roundRect">
            <a:avLst>
              <a:gd name="adj" fmla="val 6000"/>
            </a:avLst>
          </a:prstGeom>
          <a:solidFill>
            <a:srgbClr val="E9E7FF"/>
          </a:solidFill>
          <a:ln w="10160">
            <a:solidFill>
              <a:srgbClr val="533AFD"/>
            </a:solidFill>
            <a:prstDash val="solid"/>
          </a:ln>
        </p:spPr>
      </p:sp>
      <p:sp>
        <p:nvSpPr>
          <p:cNvPr id="9" name="Text 7"/>
          <p:cNvSpPr txBox="1"/>
          <p:nvPr/>
        </p:nvSpPr>
        <p:spPr>
          <a:xfrm>
            <a:off x="685800" y="2313432"/>
            <a:ext cx="1894637" cy="137160"/>
          </a:xfrm>
          <a:prstGeom prst="rect">
            <a:avLst/>
          </a:prstGeom>
          <a:noFill/>
          <a:ln/>
        </p:spPr>
        <p:txBody>
          <a:bodyPr wrap="square" lIns="0" tIns="0" rIns="0" bIns="0" rtlCol="0" anchor="ctr">
            <a:normAutofit/>
          </a:bodyPr>
          <a:lstStyle/>
          <a:p>
            <a:pPr algn="l" indent="0" marL="0">
              <a:lnSpc>
                <a:spcPct val="92000"/>
              </a:lnSpc>
              <a:buNone/>
            </a:pPr>
            <a:r>
              <a:rPr lang="en-US" sz="750" dirty="0">
                <a:solidFill>
                  <a:srgbClr val="533AFD"/>
                </a:solidFill>
                <a:latin typeface="Source Code Pro" pitchFamily="34" charset="0"/>
                <a:ea typeface="Source Code Pro" pitchFamily="34" charset="-122"/>
                <a:cs typeface="Source Code Pro" pitchFamily="34" charset="-120"/>
              </a:rPr>
              <a:t>01</a:t>
            </a:r>
            <a:endParaRPr lang="en-US" sz="750" dirty="0"/>
          </a:p>
        </p:txBody>
      </p:sp>
      <p:sp>
        <p:nvSpPr>
          <p:cNvPr id="10" name="Text 8"/>
          <p:cNvSpPr txBox="1"/>
          <p:nvPr/>
        </p:nvSpPr>
        <p:spPr>
          <a:xfrm>
            <a:off x="685800" y="2459736"/>
            <a:ext cx="1894637" cy="658368"/>
          </a:xfrm>
          <a:prstGeom prst="rect">
            <a:avLst/>
          </a:prstGeom>
          <a:noFill/>
          <a:ln/>
        </p:spPr>
        <p:txBody>
          <a:bodyPr wrap="square" lIns="0" tIns="0" rIns="0" bIns="0" rtlCol="0" anchor="ctr">
            <a:normAutofit/>
          </a:bodyPr>
          <a:lstStyle/>
          <a:p>
            <a:pPr algn="ctr" indent="0" marL="0">
              <a:lnSpc>
                <a:spcPct val="92000"/>
              </a:lnSpc>
              <a:buNone/>
            </a:pPr>
            <a:r>
              <a:rPr lang="en-US" sz="1200" b="1" dirty="0">
                <a:solidFill>
                  <a:srgbClr val="061B31"/>
                </a:solidFill>
                <a:latin typeface="Noto Sans CJK KR" pitchFamily="34" charset="0"/>
                <a:ea typeface="Noto Sans CJK KR" pitchFamily="34" charset="-122"/>
                <a:cs typeface="Noto Sans CJK KR" pitchFamily="34" charset="-120"/>
              </a:rPr>
              <a:t>P0 경계 검토</a:t>
            </a:r>
            <a:endParaRPr lang="en-US" sz="1200" dirty="0"/>
          </a:p>
        </p:txBody>
      </p:sp>
      <p:sp>
        <p:nvSpPr>
          <p:cNvPr id="11" name="Shape 9"/>
          <p:cNvSpPr/>
          <p:nvPr/>
        </p:nvSpPr>
        <p:spPr>
          <a:xfrm>
            <a:off x="2818181" y="2240280"/>
            <a:ext cx="2077517" cy="914400"/>
          </a:xfrm>
          <a:prstGeom prst="roundRect">
            <a:avLst>
              <a:gd name="adj" fmla="val 6000"/>
            </a:avLst>
          </a:prstGeom>
          <a:solidFill>
            <a:srgbClr val="FFFFFF"/>
          </a:solidFill>
          <a:ln w="10160">
            <a:solidFill>
              <a:srgbClr val="DCE5EE"/>
            </a:solidFill>
            <a:prstDash val="solid"/>
          </a:ln>
        </p:spPr>
      </p:sp>
      <p:sp>
        <p:nvSpPr>
          <p:cNvPr id="12" name="Text 10"/>
          <p:cNvSpPr txBox="1"/>
          <p:nvPr/>
        </p:nvSpPr>
        <p:spPr>
          <a:xfrm>
            <a:off x="2909621" y="2313432"/>
            <a:ext cx="1894637" cy="137160"/>
          </a:xfrm>
          <a:prstGeom prst="rect">
            <a:avLst/>
          </a:prstGeom>
          <a:noFill/>
          <a:ln/>
        </p:spPr>
        <p:txBody>
          <a:bodyPr wrap="square" lIns="0" tIns="0" rIns="0" bIns="0" rtlCol="0" anchor="ctr">
            <a:normAutofit/>
          </a:bodyPr>
          <a:lstStyle/>
          <a:p>
            <a:pPr algn="l" indent="0" marL="0">
              <a:lnSpc>
                <a:spcPct val="92000"/>
              </a:lnSpc>
              <a:buNone/>
            </a:pPr>
            <a:r>
              <a:rPr lang="en-US" sz="750" dirty="0">
                <a:solidFill>
                  <a:srgbClr val="533AFD"/>
                </a:solidFill>
                <a:latin typeface="Source Code Pro" pitchFamily="34" charset="0"/>
                <a:ea typeface="Source Code Pro" pitchFamily="34" charset="-122"/>
                <a:cs typeface="Source Code Pro" pitchFamily="34" charset="-120"/>
              </a:rPr>
              <a:t>02</a:t>
            </a:r>
            <a:endParaRPr lang="en-US" sz="750" dirty="0"/>
          </a:p>
        </p:txBody>
      </p:sp>
      <p:sp>
        <p:nvSpPr>
          <p:cNvPr id="13" name="Text 11"/>
          <p:cNvSpPr txBox="1"/>
          <p:nvPr/>
        </p:nvSpPr>
        <p:spPr>
          <a:xfrm>
            <a:off x="2909621" y="2459736"/>
            <a:ext cx="1894637" cy="658368"/>
          </a:xfrm>
          <a:prstGeom prst="rect">
            <a:avLst/>
          </a:prstGeom>
          <a:noFill/>
          <a:ln/>
        </p:spPr>
        <p:txBody>
          <a:bodyPr wrap="square" lIns="0" tIns="0" rIns="0" bIns="0" rtlCol="0" anchor="ctr">
            <a:normAutofit/>
          </a:bodyPr>
          <a:lstStyle/>
          <a:p>
            <a:pPr algn="ctr" indent="0" marL="0">
              <a:lnSpc>
                <a:spcPct val="92000"/>
              </a:lnSpc>
              <a:buNone/>
            </a:pPr>
            <a:r>
              <a:rPr lang="en-US" sz="1200" b="1" dirty="0">
                <a:solidFill>
                  <a:srgbClr val="061B31"/>
                </a:solidFill>
                <a:latin typeface="Noto Sans CJK KR" pitchFamily="34" charset="0"/>
                <a:ea typeface="Noto Sans CJK KR" pitchFamily="34" charset="-122"/>
                <a:cs typeface="Noto Sans CJK KR" pitchFamily="34" charset="-120"/>
              </a:rPr>
              <a:t>P1 증거 정리</a:t>
            </a:r>
            <a:endParaRPr lang="en-US" sz="1200" dirty="0"/>
          </a:p>
        </p:txBody>
      </p:sp>
      <p:sp>
        <p:nvSpPr>
          <p:cNvPr id="14" name="Shape 12"/>
          <p:cNvSpPr/>
          <p:nvPr/>
        </p:nvSpPr>
        <p:spPr>
          <a:xfrm>
            <a:off x="5042002" y="2240280"/>
            <a:ext cx="2077517" cy="914400"/>
          </a:xfrm>
          <a:prstGeom prst="roundRect">
            <a:avLst>
              <a:gd name="adj" fmla="val 6000"/>
            </a:avLst>
          </a:prstGeom>
          <a:solidFill>
            <a:srgbClr val="FFFFFF"/>
          </a:solidFill>
          <a:ln w="10160">
            <a:solidFill>
              <a:srgbClr val="DCE5EE"/>
            </a:solidFill>
            <a:prstDash val="solid"/>
          </a:ln>
        </p:spPr>
      </p:sp>
      <p:sp>
        <p:nvSpPr>
          <p:cNvPr id="15" name="Text 13"/>
          <p:cNvSpPr txBox="1"/>
          <p:nvPr/>
        </p:nvSpPr>
        <p:spPr>
          <a:xfrm>
            <a:off x="5133442" y="2313432"/>
            <a:ext cx="1894637" cy="137160"/>
          </a:xfrm>
          <a:prstGeom prst="rect">
            <a:avLst/>
          </a:prstGeom>
          <a:noFill/>
          <a:ln/>
        </p:spPr>
        <p:txBody>
          <a:bodyPr wrap="square" lIns="0" tIns="0" rIns="0" bIns="0" rtlCol="0" anchor="ctr">
            <a:normAutofit/>
          </a:bodyPr>
          <a:lstStyle/>
          <a:p>
            <a:pPr algn="l" indent="0" marL="0">
              <a:lnSpc>
                <a:spcPct val="92000"/>
              </a:lnSpc>
              <a:buNone/>
            </a:pPr>
            <a:r>
              <a:rPr lang="en-US" sz="750" dirty="0">
                <a:solidFill>
                  <a:srgbClr val="533AFD"/>
                </a:solidFill>
                <a:latin typeface="Source Code Pro" pitchFamily="34" charset="0"/>
                <a:ea typeface="Source Code Pro" pitchFamily="34" charset="-122"/>
                <a:cs typeface="Source Code Pro" pitchFamily="34" charset="-120"/>
              </a:rPr>
              <a:t>03</a:t>
            </a:r>
            <a:endParaRPr lang="en-US" sz="750" dirty="0"/>
          </a:p>
        </p:txBody>
      </p:sp>
      <p:sp>
        <p:nvSpPr>
          <p:cNvPr id="16" name="Text 14"/>
          <p:cNvSpPr txBox="1"/>
          <p:nvPr/>
        </p:nvSpPr>
        <p:spPr>
          <a:xfrm>
            <a:off x="5133442" y="2459736"/>
            <a:ext cx="1894637" cy="658368"/>
          </a:xfrm>
          <a:prstGeom prst="rect">
            <a:avLst/>
          </a:prstGeom>
          <a:noFill/>
          <a:ln/>
        </p:spPr>
        <p:txBody>
          <a:bodyPr wrap="square" lIns="0" tIns="0" rIns="0" bIns="0" rtlCol="0" anchor="ctr">
            <a:normAutofit/>
          </a:bodyPr>
          <a:lstStyle/>
          <a:p>
            <a:pPr algn="ctr" indent="0" marL="0">
              <a:lnSpc>
                <a:spcPct val="92000"/>
              </a:lnSpc>
              <a:buNone/>
            </a:pPr>
            <a:r>
              <a:rPr lang="en-US" sz="1200" b="1" dirty="0">
                <a:solidFill>
                  <a:srgbClr val="061B31"/>
                </a:solidFill>
                <a:latin typeface="Noto Sans CJK KR" pitchFamily="34" charset="0"/>
                <a:ea typeface="Noto Sans CJK KR" pitchFamily="34" charset="-122"/>
                <a:cs typeface="Noto Sans CJK KR" pitchFamily="34" charset="-120"/>
              </a:rPr>
              <a:t>P2 절차 안내</a:t>
            </a:r>
            <a:endParaRPr lang="en-US" sz="1200" dirty="0"/>
          </a:p>
        </p:txBody>
      </p:sp>
      <p:sp>
        <p:nvSpPr>
          <p:cNvPr id="17" name="Shape 15"/>
          <p:cNvSpPr/>
          <p:nvPr/>
        </p:nvSpPr>
        <p:spPr>
          <a:xfrm>
            <a:off x="7265822" y="2240280"/>
            <a:ext cx="2077517" cy="914400"/>
          </a:xfrm>
          <a:prstGeom prst="roundRect">
            <a:avLst>
              <a:gd name="adj" fmla="val 6000"/>
            </a:avLst>
          </a:prstGeom>
          <a:solidFill>
            <a:srgbClr val="FFFFFF"/>
          </a:solidFill>
          <a:ln w="10160">
            <a:solidFill>
              <a:srgbClr val="DCE5EE"/>
            </a:solidFill>
            <a:prstDash val="solid"/>
          </a:ln>
        </p:spPr>
      </p:sp>
      <p:sp>
        <p:nvSpPr>
          <p:cNvPr id="18" name="Text 16"/>
          <p:cNvSpPr txBox="1"/>
          <p:nvPr/>
        </p:nvSpPr>
        <p:spPr>
          <a:xfrm>
            <a:off x="7357262" y="2313432"/>
            <a:ext cx="1894637" cy="137160"/>
          </a:xfrm>
          <a:prstGeom prst="rect">
            <a:avLst/>
          </a:prstGeom>
          <a:noFill/>
          <a:ln/>
        </p:spPr>
        <p:txBody>
          <a:bodyPr wrap="square" lIns="0" tIns="0" rIns="0" bIns="0" rtlCol="0" anchor="ctr">
            <a:normAutofit/>
          </a:bodyPr>
          <a:lstStyle/>
          <a:p>
            <a:pPr algn="l" indent="0" marL="0">
              <a:lnSpc>
                <a:spcPct val="92000"/>
              </a:lnSpc>
              <a:buNone/>
            </a:pPr>
            <a:r>
              <a:rPr lang="en-US" sz="750" dirty="0">
                <a:solidFill>
                  <a:srgbClr val="533AFD"/>
                </a:solidFill>
                <a:latin typeface="Source Code Pro" pitchFamily="34" charset="0"/>
                <a:ea typeface="Source Code Pro" pitchFamily="34" charset="-122"/>
                <a:cs typeface="Source Code Pro" pitchFamily="34" charset="-120"/>
              </a:rPr>
              <a:t>04</a:t>
            </a:r>
            <a:endParaRPr lang="en-US" sz="750" dirty="0"/>
          </a:p>
        </p:txBody>
      </p:sp>
      <p:sp>
        <p:nvSpPr>
          <p:cNvPr id="19" name="Text 17"/>
          <p:cNvSpPr txBox="1"/>
          <p:nvPr/>
        </p:nvSpPr>
        <p:spPr>
          <a:xfrm>
            <a:off x="7357262" y="2459736"/>
            <a:ext cx="1894637" cy="658368"/>
          </a:xfrm>
          <a:prstGeom prst="rect">
            <a:avLst/>
          </a:prstGeom>
          <a:noFill/>
          <a:ln/>
        </p:spPr>
        <p:txBody>
          <a:bodyPr wrap="square" lIns="0" tIns="0" rIns="0" bIns="0" rtlCol="0" anchor="ctr">
            <a:normAutofit/>
          </a:bodyPr>
          <a:lstStyle/>
          <a:p>
            <a:pPr algn="ctr" indent="0" marL="0">
              <a:lnSpc>
                <a:spcPct val="92000"/>
              </a:lnSpc>
              <a:buNone/>
            </a:pPr>
            <a:r>
              <a:rPr lang="en-US" sz="1200" b="1" dirty="0">
                <a:solidFill>
                  <a:srgbClr val="061B31"/>
                </a:solidFill>
                <a:latin typeface="Noto Sans CJK KR" pitchFamily="34" charset="0"/>
                <a:ea typeface="Noto Sans CJK KR" pitchFamily="34" charset="-122"/>
                <a:cs typeface="Noto Sans CJK KR" pitchFamily="34" charset="-120"/>
              </a:rPr>
              <a:t>P3 실증 검증</a:t>
            </a:r>
            <a:endParaRPr lang="en-US" sz="1200" dirty="0"/>
          </a:p>
        </p:txBody>
      </p:sp>
      <p:sp>
        <p:nvSpPr>
          <p:cNvPr id="20" name="Shape 18"/>
          <p:cNvSpPr/>
          <p:nvPr/>
        </p:nvSpPr>
        <p:spPr>
          <a:xfrm>
            <a:off x="9489643" y="2240280"/>
            <a:ext cx="2077517" cy="914400"/>
          </a:xfrm>
          <a:prstGeom prst="roundRect">
            <a:avLst>
              <a:gd name="adj" fmla="val 6000"/>
            </a:avLst>
          </a:prstGeom>
          <a:solidFill>
            <a:srgbClr val="FFFFFF"/>
          </a:solidFill>
          <a:ln w="10160">
            <a:solidFill>
              <a:srgbClr val="DCE5EE"/>
            </a:solidFill>
            <a:prstDash val="solid"/>
          </a:ln>
        </p:spPr>
      </p:sp>
      <p:sp>
        <p:nvSpPr>
          <p:cNvPr id="21" name="Text 19"/>
          <p:cNvSpPr txBox="1"/>
          <p:nvPr/>
        </p:nvSpPr>
        <p:spPr>
          <a:xfrm>
            <a:off x="9581083" y="2313432"/>
            <a:ext cx="1894637" cy="137160"/>
          </a:xfrm>
          <a:prstGeom prst="rect">
            <a:avLst/>
          </a:prstGeom>
          <a:noFill/>
          <a:ln/>
        </p:spPr>
        <p:txBody>
          <a:bodyPr wrap="square" lIns="0" tIns="0" rIns="0" bIns="0" rtlCol="0" anchor="ctr">
            <a:normAutofit/>
          </a:bodyPr>
          <a:lstStyle/>
          <a:p>
            <a:pPr algn="l" indent="0" marL="0">
              <a:lnSpc>
                <a:spcPct val="92000"/>
              </a:lnSpc>
              <a:buNone/>
            </a:pPr>
            <a:r>
              <a:rPr lang="en-US" sz="750" dirty="0">
                <a:solidFill>
                  <a:srgbClr val="533AFD"/>
                </a:solidFill>
                <a:latin typeface="Source Code Pro" pitchFamily="34" charset="0"/>
                <a:ea typeface="Source Code Pro" pitchFamily="34" charset="-122"/>
                <a:cs typeface="Source Code Pro" pitchFamily="34" charset="-120"/>
              </a:rPr>
              <a:t>05</a:t>
            </a:r>
            <a:endParaRPr lang="en-US" sz="750" dirty="0"/>
          </a:p>
        </p:txBody>
      </p:sp>
      <p:sp>
        <p:nvSpPr>
          <p:cNvPr id="22" name="Text 20"/>
          <p:cNvSpPr txBox="1"/>
          <p:nvPr/>
        </p:nvSpPr>
        <p:spPr>
          <a:xfrm>
            <a:off x="9581083" y="2459736"/>
            <a:ext cx="1894637" cy="658368"/>
          </a:xfrm>
          <a:prstGeom prst="rect">
            <a:avLst/>
          </a:prstGeom>
          <a:noFill/>
          <a:ln/>
        </p:spPr>
        <p:txBody>
          <a:bodyPr wrap="square" lIns="0" tIns="0" rIns="0" bIns="0" rtlCol="0" anchor="ctr">
            <a:normAutofit/>
          </a:bodyPr>
          <a:lstStyle/>
          <a:p>
            <a:pPr algn="ctr" indent="0" marL="0">
              <a:lnSpc>
                <a:spcPct val="92000"/>
              </a:lnSpc>
              <a:buNone/>
            </a:pPr>
            <a:r>
              <a:rPr lang="en-US" sz="1200" b="1" dirty="0">
                <a:solidFill>
                  <a:srgbClr val="061B31"/>
                </a:solidFill>
                <a:latin typeface="Noto Sans CJK KR" pitchFamily="34" charset="0"/>
                <a:ea typeface="Noto Sans CJK KR" pitchFamily="34" charset="-122"/>
                <a:cs typeface="Noto Sans CJK KR" pitchFamily="34" charset="-120"/>
              </a:rPr>
              <a:t>P4 실질 지휘</a:t>
            </a:r>
            <a:endParaRPr lang="en-US" sz="1200" dirty="0"/>
          </a:p>
        </p:txBody>
      </p:sp>
      <p:sp>
        <p:nvSpPr>
          <p:cNvPr id="23" name="Shape 21"/>
          <p:cNvSpPr/>
          <p:nvPr/>
        </p:nvSpPr>
        <p:spPr>
          <a:xfrm>
            <a:off x="914400" y="3931920"/>
            <a:ext cx="82296" cy="82296"/>
          </a:xfrm>
          <a:prstGeom prst="ellipse">
            <a:avLst/>
          </a:prstGeom>
          <a:solidFill>
            <a:srgbClr val="533AFD"/>
          </a:solidFill>
          <a:ln w="12700">
            <a:solidFill>
              <a:srgbClr val="533AFD"/>
            </a:solidFill>
            <a:prstDash val="solid"/>
          </a:ln>
        </p:spPr>
      </p:sp>
      <p:sp>
        <p:nvSpPr>
          <p:cNvPr id="24" name="Text 22"/>
          <p:cNvSpPr txBox="1"/>
          <p:nvPr/>
        </p:nvSpPr>
        <p:spPr>
          <a:xfrm>
            <a:off x="1097280" y="3794760"/>
            <a:ext cx="10058400" cy="518160"/>
          </a:xfrm>
          <a:prstGeom prst="rect">
            <a:avLst/>
          </a:prstGeom>
          <a:noFill/>
          <a:ln/>
        </p:spPr>
        <p:txBody>
          <a:bodyPr wrap="square" lIns="0" tIns="0" rIns="0" bIns="0" rtlCol="0" anchor="ctr">
            <a:normAutofit/>
          </a:bodyPr>
          <a:lstStyle/>
          <a:p>
            <a:pPr algn="l" indent="0" marL="0">
              <a:lnSpc>
                <a:spcPct val="92000"/>
              </a:lnSpc>
              <a:buNone/>
            </a:pPr>
            <a:r>
              <a:rPr lang="en-US" sz="1350" dirty="0">
                <a:solidFill>
                  <a:srgbClr val="526274"/>
                </a:solidFill>
                <a:latin typeface="Noto Sans CJK KR" pitchFamily="34" charset="0"/>
                <a:ea typeface="Noto Sans CJK KR" pitchFamily="34" charset="-122"/>
                <a:cs typeface="Noto Sans CJK KR" pitchFamily="34" charset="-120"/>
              </a:rPr>
              <a:t>P0~1: 위험 경계 확정 후 증거 정리 프로토타입 구축.</a:t>
            </a:r>
            <a:endParaRPr lang="en-US" sz="1350" dirty="0"/>
          </a:p>
        </p:txBody>
      </p:sp>
      <p:sp>
        <p:nvSpPr>
          <p:cNvPr id="25" name="Shape 23"/>
          <p:cNvSpPr/>
          <p:nvPr/>
        </p:nvSpPr>
        <p:spPr>
          <a:xfrm>
            <a:off x="914400" y="4450080"/>
            <a:ext cx="82296" cy="82296"/>
          </a:xfrm>
          <a:prstGeom prst="ellipse">
            <a:avLst/>
          </a:prstGeom>
          <a:solidFill>
            <a:srgbClr val="533AFD"/>
          </a:solidFill>
          <a:ln w="12700">
            <a:solidFill>
              <a:srgbClr val="533AFD"/>
            </a:solidFill>
            <a:prstDash val="solid"/>
          </a:ln>
        </p:spPr>
      </p:sp>
      <p:sp>
        <p:nvSpPr>
          <p:cNvPr id="26" name="Text 24"/>
          <p:cNvSpPr txBox="1"/>
          <p:nvPr/>
        </p:nvSpPr>
        <p:spPr>
          <a:xfrm>
            <a:off x="1097280" y="4312920"/>
            <a:ext cx="10058400" cy="518160"/>
          </a:xfrm>
          <a:prstGeom prst="rect">
            <a:avLst/>
          </a:prstGeom>
          <a:noFill/>
          <a:ln/>
        </p:spPr>
        <p:txBody>
          <a:bodyPr wrap="square" lIns="0" tIns="0" rIns="0" bIns="0" rtlCol="0" anchor="ctr">
            <a:normAutofit/>
          </a:bodyPr>
          <a:lstStyle/>
          <a:p>
            <a:pPr algn="l" indent="0" marL="0">
              <a:lnSpc>
                <a:spcPct val="92000"/>
              </a:lnSpc>
              <a:buNone/>
            </a:pPr>
            <a:r>
              <a:rPr lang="en-US" sz="1350" dirty="0">
                <a:solidFill>
                  <a:srgbClr val="526274"/>
                </a:solidFill>
                <a:latin typeface="Noto Sans CJK KR" pitchFamily="34" charset="0"/>
                <a:ea typeface="Noto Sans CJK KR" pitchFamily="34" charset="-122"/>
                <a:cs typeface="Noto Sans CJK KR" pitchFamily="34" charset="-120"/>
              </a:rPr>
              <a:t>P2~3: 공공 Handoff 개발과 인젝션 방어 시험</a:t>
            </a:r>
            <a:endParaRPr lang="en-US" sz="1350" dirty="0"/>
          </a:p>
        </p:txBody>
      </p:sp>
      <p:sp>
        <p:nvSpPr>
          <p:cNvPr id="27" name="Shape 25"/>
          <p:cNvSpPr/>
          <p:nvPr/>
        </p:nvSpPr>
        <p:spPr>
          <a:xfrm>
            <a:off x="914400" y="4968240"/>
            <a:ext cx="82296" cy="82296"/>
          </a:xfrm>
          <a:prstGeom prst="ellipse">
            <a:avLst/>
          </a:prstGeom>
          <a:solidFill>
            <a:srgbClr val="533AFD"/>
          </a:solidFill>
          <a:ln w="12700">
            <a:solidFill>
              <a:srgbClr val="533AFD"/>
            </a:solidFill>
            <a:prstDash val="solid"/>
          </a:ln>
        </p:spPr>
      </p:sp>
      <p:sp>
        <p:nvSpPr>
          <p:cNvPr id="28" name="Text 26"/>
          <p:cNvSpPr txBox="1"/>
          <p:nvPr/>
        </p:nvSpPr>
        <p:spPr>
          <a:xfrm>
            <a:off x="1097280" y="4831080"/>
            <a:ext cx="10058400" cy="518160"/>
          </a:xfrm>
          <a:prstGeom prst="rect">
            <a:avLst/>
          </a:prstGeom>
          <a:noFill/>
          <a:ln/>
        </p:spPr>
        <p:txBody>
          <a:bodyPr wrap="square" lIns="0" tIns="0" rIns="0" bIns="0" rtlCol="0" anchor="ctr">
            <a:normAutofit/>
          </a:bodyPr>
          <a:lstStyle/>
          <a:p>
            <a:pPr algn="l" indent="0" marL="0">
              <a:lnSpc>
                <a:spcPct val="92000"/>
              </a:lnSpc>
              <a:buNone/>
            </a:pPr>
            <a:r>
              <a:rPr lang="en-US" sz="1350" dirty="0">
                <a:solidFill>
                  <a:srgbClr val="526274"/>
                </a:solidFill>
                <a:latin typeface="Noto Sans CJK KR" pitchFamily="34" charset="0"/>
                <a:ea typeface="Noto Sans CJK KR" pitchFamily="34" charset="-122"/>
                <a:cs typeface="Noto Sans CJK KR" pitchFamily="34" charset="-120"/>
              </a:rPr>
              <a:t>P4: 알선 대가 없이 변호사 감독 아래 시범 검토</a:t>
            </a:r>
            <a:endParaRPr lang="en-US" sz="1350" dirty="0"/>
          </a:p>
        </p:txBody>
      </p:sp>
      <p:sp>
        <p:nvSpPr>
          <p:cNvPr id="25" name="Slide Number Placeholder 0"/>
          <p:cNvSpPr>
            <a:spLocks noGrp="1"/>
          </p:cNvSpPr>
          <p:nvPr>
            <p:ph type="sldNum" sz="quarter" idx="4294967295"/>
          </p:nvPr>
        </p:nvSpPr>
        <p:spPr>
          <a:xfrm>
            <a:off x="530352" y="6556248"/>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8A97A5"/>
                </a:solidFill>
                <a:latin typeface="Source Code Pro"/>
                <a:ea typeface="Source Code Pro"/>
                <a:cs typeface="Source Code Pro"/>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30352" y="310896"/>
            <a:ext cx="4389120" cy="210312"/>
          </a:xfrm>
          <a:prstGeom prst="rect">
            <a:avLst/>
          </a:prstGeom>
          <a:noFill/>
          <a:ln/>
        </p:spPr>
        <p:txBody>
          <a:bodyPr wrap="square" lIns="0" tIns="0" rIns="0" bIns="0" rtlCol="0" anchor="ctr">
            <a:normAutofit/>
          </a:bodyPr>
          <a:lstStyle/>
          <a:p>
            <a:pPr algn="l" indent="0" marL="0">
              <a:lnSpc>
                <a:spcPct val="92000"/>
              </a:lnSpc>
              <a:buNone/>
            </a:pPr>
            <a:r>
              <a:rPr lang="en-US" sz="900" b="1" spc="140" kern="0" dirty="0">
                <a:solidFill>
                  <a:srgbClr val="533AFD"/>
                </a:solidFill>
                <a:latin typeface="Source Code Pro" pitchFamily="34" charset="0"/>
                <a:ea typeface="Source Code Pro" pitchFamily="34" charset="-122"/>
                <a:cs typeface="Source Code Pro" pitchFamily="34" charset="-120"/>
              </a:rPr>
              <a:t>Go/No-Go 통제 지표</a:t>
            </a:r>
            <a:endParaRPr lang="en-US" sz="900" dirty="0"/>
          </a:p>
        </p:txBody>
      </p:sp>
      <p:sp>
        <p:nvSpPr>
          <p:cNvPr id="3" name="Text 1"/>
          <p:cNvSpPr txBox="1"/>
          <p:nvPr/>
        </p:nvSpPr>
        <p:spPr>
          <a:xfrm>
            <a:off x="530352" y="566928"/>
            <a:ext cx="11018520" cy="512064"/>
          </a:xfrm>
          <a:prstGeom prst="rect">
            <a:avLst/>
          </a:prstGeom>
          <a:noFill/>
          <a:ln/>
        </p:spPr>
        <p:txBody>
          <a:bodyPr wrap="square" lIns="0" tIns="0" rIns="0" bIns="0" rtlCol="0" anchor="ctr">
            <a:normAutofit/>
          </a:bodyPr>
          <a:lstStyle/>
          <a:p>
            <a:pPr algn="l" indent="0" marL="0">
              <a:lnSpc>
                <a:spcPct val="92000"/>
              </a:lnSpc>
              <a:buNone/>
            </a:pPr>
            <a:r>
              <a:rPr lang="en-US" sz="2400" b="1" dirty="0">
                <a:solidFill>
                  <a:srgbClr val="061B31"/>
                </a:solidFill>
                <a:latin typeface="Noto Sans CJK KR" pitchFamily="34" charset="0"/>
                <a:ea typeface="Noto Sans CJK KR" pitchFamily="34" charset="-122"/>
                <a:cs typeface="Noto Sans CJK KR" pitchFamily="34" charset="-120"/>
              </a:rPr>
              <a:t>출시 조건은 기능 수가 아니라 오류 0건이다</a:t>
            </a:r>
            <a:endParaRPr lang="en-US" sz="2400" dirty="0"/>
          </a:p>
        </p:txBody>
      </p:sp>
      <p:sp>
        <p:nvSpPr>
          <p:cNvPr id="4" name="Shape 2"/>
          <p:cNvSpPr/>
          <p:nvPr/>
        </p:nvSpPr>
        <p:spPr>
          <a:xfrm>
            <a:off x="530352" y="1124712"/>
            <a:ext cx="960120" cy="0"/>
          </a:xfrm>
          <a:prstGeom prst="line">
            <a:avLst/>
          </a:prstGeom>
          <a:noFill/>
          <a:ln w="38100">
            <a:solidFill>
              <a:srgbClr val="533AFD"/>
            </a:solidFill>
            <a:prstDash val="solid"/>
            <a:headEnd type="none"/>
            <a:tailEnd type="none"/>
          </a:ln>
        </p:spPr>
      </p:sp>
      <p:sp>
        <p:nvSpPr>
          <p:cNvPr id="5" name="Text 3"/>
          <p:cNvSpPr txBox="1"/>
          <p:nvPr/>
        </p:nvSpPr>
        <p:spPr>
          <a:xfrm>
            <a:off x="4754880" y="6291072"/>
            <a:ext cx="6903720" cy="182880"/>
          </a:xfrm>
          <a:prstGeom prst="rect">
            <a:avLst/>
          </a:prstGeom>
          <a:noFill/>
          <a:ln/>
        </p:spPr>
        <p:txBody>
          <a:bodyPr wrap="square" lIns="0" tIns="0" rIns="0" bIns="0" rtlCol="0" anchor="ctr">
            <a:normAutofit/>
          </a:bodyPr>
          <a:lstStyle/>
          <a:p>
            <a:pPr algn="r" indent="0" marL="0">
              <a:lnSpc>
                <a:spcPct val="92000"/>
              </a:lnSpc>
              <a:buNone/>
            </a:pPr>
            <a:r>
              <a:rPr lang="en-US" sz="900" dirty="0">
                <a:solidFill>
                  <a:srgbClr val="8A97A5"/>
                </a:solidFill>
                <a:latin typeface="Source Code Pro" pitchFamily="34" charset="0"/>
                <a:ea typeface="Source Code Pro" pitchFamily="34" charset="-122"/>
                <a:cs typeface="Source Code Pro" pitchFamily="34" charset="-120"/>
              </a:rPr>
              <a:t>[S070] [S089]</a:t>
            </a:r>
            <a:endParaRPr lang="en-US" sz="900" dirty="0"/>
          </a:p>
        </p:txBody>
      </p:sp>
      <p:sp>
        <p:nvSpPr>
          <p:cNvPr id="6" name="Text 4"/>
          <p:cNvSpPr txBox="1"/>
          <p:nvPr/>
        </p:nvSpPr>
        <p:spPr>
          <a:xfrm>
            <a:off x="530352" y="1325880"/>
            <a:ext cx="11018520" cy="502920"/>
          </a:xfrm>
          <a:prstGeom prst="rect">
            <a:avLst/>
          </a:prstGeom>
          <a:noFill/>
          <a:ln/>
        </p:spPr>
        <p:txBody>
          <a:bodyPr wrap="square" lIns="0" tIns="0" rIns="0" bIns="0" rtlCol="0" anchor="t">
            <a:normAutofit/>
          </a:bodyPr>
          <a:lstStyle/>
          <a:p>
            <a:pPr algn="l" indent="0" marL="0">
              <a:lnSpc>
                <a:spcPct val="92000"/>
              </a:lnSpc>
              <a:buNone/>
            </a:pPr>
            <a:r>
              <a:rPr lang="en-US" sz="2000" b="1" dirty="0">
                <a:solidFill>
                  <a:srgbClr val="061B31"/>
                </a:solidFill>
                <a:latin typeface="Noto Sans CJK KR" pitchFamily="34" charset="0"/>
                <a:ea typeface="Noto Sans CJK KR" pitchFamily="34" charset="-122"/>
                <a:cs typeface="Noto Sans CJK KR" pitchFamily="34" charset="-120"/>
              </a:rPr>
              <a:t>5가지 통제 지표를 100% 충족하지 못하면 이행을 즉시 중단한다.</a:t>
            </a:r>
            <a:endParaRPr lang="en-US" sz="2000" dirty="0"/>
          </a:p>
        </p:txBody>
      </p:sp>
      <p:sp>
        <p:nvSpPr>
          <p:cNvPr id="7" name="Shape 5"/>
          <p:cNvSpPr/>
          <p:nvPr/>
        </p:nvSpPr>
        <p:spPr>
          <a:xfrm>
            <a:off x="640080" y="1965960"/>
            <a:ext cx="3429000" cy="1261872"/>
          </a:xfrm>
          <a:prstGeom prst="roundRect">
            <a:avLst>
              <a:gd name="adj" fmla="val 4348"/>
            </a:avLst>
          </a:prstGeom>
          <a:solidFill>
            <a:srgbClr val="FFFFFF"/>
          </a:solidFill>
          <a:ln w="10160">
            <a:solidFill>
              <a:srgbClr val="DCE5EE"/>
            </a:solidFill>
            <a:prstDash val="solid"/>
          </a:ln>
        </p:spPr>
      </p:sp>
      <p:sp>
        <p:nvSpPr>
          <p:cNvPr id="8" name="Shape 6"/>
          <p:cNvSpPr/>
          <p:nvPr/>
        </p:nvSpPr>
        <p:spPr>
          <a:xfrm>
            <a:off x="640080" y="1965960"/>
            <a:ext cx="3429000" cy="0"/>
          </a:xfrm>
          <a:prstGeom prst="line">
            <a:avLst/>
          </a:prstGeom>
          <a:noFill/>
          <a:ln w="38100">
            <a:solidFill>
              <a:srgbClr val="533AFD"/>
            </a:solidFill>
            <a:prstDash val="solid"/>
            <a:headEnd type="none"/>
            <a:tailEnd type="none"/>
          </a:ln>
        </p:spPr>
      </p:sp>
      <p:sp>
        <p:nvSpPr>
          <p:cNvPr id="9" name="Text 7"/>
          <p:cNvSpPr txBox="1"/>
          <p:nvPr/>
        </p:nvSpPr>
        <p:spPr>
          <a:xfrm>
            <a:off x="822960" y="2112264"/>
            <a:ext cx="306324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해시 무결성 100</a:t>
            </a:r>
            <a:endParaRPr lang="en-US" sz="1400" dirty="0"/>
          </a:p>
        </p:txBody>
      </p:sp>
      <p:sp>
        <p:nvSpPr>
          <p:cNvPr id="10" name="Text 8"/>
          <p:cNvSpPr txBox="1"/>
          <p:nvPr/>
        </p:nvSpPr>
        <p:spPr>
          <a:xfrm>
            <a:off x="822960" y="2478024"/>
            <a:ext cx="3063240" cy="603504"/>
          </a:xfrm>
          <a:prstGeom prst="rect">
            <a:avLst/>
          </a:prstGeom>
          <a:noFill/>
          <a:ln/>
        </p:spPr>
        <p:txBody>
          <a:bodyPr wrap="square" lIns="0" tIns="0" rIns="0" bIns="0" rtlCol="0" anchor="t">
            <a:normAutofit/>
          </a:bodyPr>
          <a:lstStyle/>
          <a:p>
            <a:pPr algn="l" indent="0" marL="0">
              <a:lnSpc>
                <a:spcPct val="92000"/>
              </a:lnSpc>
              <a:buNone/>
            </a:pPr>
            <a:r>
              <a:rPr lang="en-US" sz="1250" dirty="0">
                <a:solidFill>
                  <a:srgbClr val="526274"/>
                </a:solidFill>
                <a:latin typeface="Noto Sans CJK KR" pitchFamily="34" charset="0"/>
                <a:ea typeface="Noto Sans CJK KR" pitchFamily="34" charset="-122"/>
                <a:cs typeface="Noto Sans CJK KR" pitchFamily="34" charset="-120"/>
              </a:rPr>
              <a:t>증거 무결성 해시와 사용자 확인 준수율 100% 요구.</a:t>
            </a:r>
            <a:endParaRPr lang="en-US" sz="1250" dirty="0"/>
          </a:p>
        </p:txBody>
      </p:sp>
      <p:sp>
        <p:nvSpPr>
          <p:cNvPr id="11" name="Shape 9"/>
          <p:cNvSpPr/>
          <p:nvPr/>
        </p:nvSpPr>
        <p:spPr>
          <a:xfrm>
            <a:off x="4480560" y="1965960"/>
            <a:ext cx="3429000" cy="1261872"/>
          </a:xfrm>
          <a:prstGeom prst="roundRect">
            <a:avLst>
              <a:gd name="adj" fmla="val 4348"/>
            </a:avLst>
          </a:prstGeom>
          <a:solidFill>
            <a:srgbClr val="FFFFFF"/>
          </a:solidFill>
          <a:ln w="10160">
            <a:solidFill>
              <a:srgbClr val="DCE5EE"/>
            </a:solidFill>
            <a:prstDash val="solid"/>
          </a:ln>
        </p:spPr>
      </p:sp>
      <p:sp>
        <p:nvSpPr>
          <p:cNvPr id="12" name="Shape 10"/>
          <p:cNvSpPr/>
          <p:nvPr/>
        </p:nvSpPr>
        <p:spPr>
          <a:xfrm>
            <a:off x="4480560" y="1965960"/>
            <a:ext cx="3429000" cy="0"/>
          </a:xfrm>
          <a:prstGeom prst="line">
            <a:avLst/>
          </a:prstGeom>
          <a:noFill/>
          <a:ln w="38100">
            <a:solidFill>
              <a:srgbClr val="533AFD"/>
            </a:solidFill>
            <a:prstDash val="solid"/>
            <a:headEnd type="none"/>
            <a:tailEnd type="none"/>
          </a:ln>
        </p:spPr>
      </p:sp>
      <p:sp>
        <p:nvSpPr>
          <p:cNvPr id="13" name="Text 11"/>
          <p:cNvSpPr txBox="1"/>
          <p:nvPr/>
        </p:nvSpPr>
        <p:spPr>
          <a:xfrm>
            <a:off x="4663440" y="2112264"/>
            <a:ext cx="306324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사용자 승인 100</a:t>
            </a:r>
            <a:endParaRPr lang="en-US" sz="1400" dirty="0"/>
          </a:p>
        </p:txBody>
      </p:sp>
      <p:sp>
        <p:nvSpPr>
          <p:cNvPr id="14" name="Text 12"/>
          <p:cNvSpPr txBox="1"/>
          <p:nvPr/>
        </p:nvSpPr>
        <p:spPr>
          <a:xfrm>
            <a:off x="4663440" y="2478024"/>
            <a:ext cx="3063240" cy="603504"/>
          </a:xfrm>
          <a:prstGeom prst="rect">
            <a:avLst/>
          </a:prstGeom>
          <a:noFill/>
          <a:ln/>
        </p:spPr>
        <p:txBody>
          <a:bodyPr wrap="square" lIns="0" tIns="0" rIns="0" bIns="0" rtlCol="0" anchor="t">
            <a:normAutofit/>
          </a:bodyPr>
          <a:lstStyle/>
          <a:p>
            <a:pPr algn="l" indent="0" marL="0">
              <a:lnSpc>
                <a:spcPct val="92000"/>
              </a:lnSpc>
              <a:buNone/>
            </a:pPr>
            <a:r>
              <a:rPr lang="en-US" sz="1250" dirty="0">
                <a:solidFill>
                  <a:srgbClr val="526274"/>
                </a:solidFill>
                <a:latin typeface="Noto Sans CJK KR" pitchFamily="34" charset="0"/>
                <a:ea typeface="Noto Sans CJK KR" pitchFamily="34" charset="-122"/>
                <a:cs typeface="Noto Sans CJK KR" pitchFamily="34" charset="-120"/>
              </a:rPr>
              <a:t>프롬프트 인젝션 공격 시 권한 탈취 및 오안내 0건.</a:t>
            </a:r>
            <a:endParaRPr lang="en-US" sz="1250" dirty="0"/>
          </a:p>
        </p:txBody>
      </p:sp>
      <p:sp>
        <p:nvSpPr>
          <p:cNvPr id="15" name="Shape 13"/>
          <p:cNvSpPr/>
          <p:nvPr/>
        </p:nvSpPr>
        <p:spPr>
          <a:xfrm>
            <a:off x="8321040" y="1965960"/>
            <a:ext cx="3429000" cy="1261872"/>
          </a:xfrm>
          <a:prstGeom prst="roundRect">
            <a:avLst>
              <a:gd name="adj" fmla="val 4348"/>
            </a:avLst>
          </a:prstGeom>
          <a:solidFill>
            <a:srgbClr val="FFFFFF"/>
          </a:solidFill>
          <a:ln w="10160">
            <a:solidFill>
              <a:srgbClr val="DCE5EE"/>
            </a:solidFill>
            <a:prstDash val="solid"/>
          </a:ln>
        </p:spPr>
      </p:sp>
      <p:sp>
        <p:nvSpPr>
          <p:cNvPr id="16" name="Shape 14"/>
          <p:cNvSpPr/>
          <p:nvPr/>
        </p:nvSpPr>
        <p:spPr>
          <a:xfrm>
            <a:off x="8321040" y="1965960"/>
            <a:ext cx="3429000" cy="0"/>
          </a:xfrm>
          <a:prstGeom prst="line">
            <a:avLst/>
          </a:prstGeom>
          <a:noFill/>
          <a:ln w="38100">
            <a:solidFill>
              <a:srgbClr val="533AFD"/>
            </a:solidFill>
            <a:prstDash val="solid"/>
            <a:headEnd type="none"/>
            <a:tailEnd type="none"/>
          </a:ln>
        </p:spPr>
      </p:sp>
      <p:sp>
        <p:nvSpPr>
          <p:cNvPr id="17" name="Text 15"/>
          <p:cNvSpPr txBox="1"/>
          <p:nvPr/>
        </p:nvSpPr>
        <p:spPr>
          <a:xfrm>
            <a:off x="8503920" y="2112264"/>
            <a:ext cx="306324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보안 공격 0건</a:t>
            </a:r>
            <a:endParaRPr lang="en-US" sz="1400" dirty="0"/>
          </a:p>
        </p:txBody>
      </p:sp>
      <p:sp>
        <p:nvSpPr>
          <p:cNvPr id="18" name="Text 16"/>
          <p:cNvSpPr txBox="1"/>
          <p:nvPr/>
        </p:nvSpPr>
        <p:spPr>
          <a:xfrm>
            <a:off x="8503920" y="2478024"/>
            <a:ext cx="3063240" cy="603504"/>
          </a:xfrm>
          <a:prstGeom prst="rect">
            <a:avLst/>
          </a:prstGeom>
          <a:noFill/>
          <a:ln/>
        </p:spPr>
        <p:txBody>
          <a:bodyPr wrap="square" lIns="0" tIns="0" rIns="0" bIns="0" rtlCol="0" anchor="t">
            <a:normAutofit/>
          </a:bodyPr>
          <a:lstStyle/>
          <a:p>
            <a:pPr algn="l" indent="0" marL="0">
              <a:lnSpc>
                <a:spcPct val="92000"/>
              </a:lnSpc>
              <a:buNone/>
            </a:pPr>
            <a:r>
              <a:rPr lang="en-US" sz="1250" dirty="0">
                <a:solidFill>
                  <a:srgbClr val="526274"/>
                </a:solidFill>
                <a:latin typeface="Noto Sans CJK KR" pitchFamily="34" charset="0"/>
                <a:ea typeface="Noto Sans CJK KR" pitchFamily="34" charset="-122"/>
                <a:cs typeface="Noto Sans CJK KR" pitchFamily="34" charset="-120"/>
              </a:rPr>
              <a:t>미검증 법률 주장 0건과 알선 수익 모델 부존재 검증.</a:t>
            </a:r>
            <a:endParaRPr lang="en-US" sz="1250" dirty="0"/>
          </a:p>
        </p:txBody>
      </p:sp>
      <p:sp>
        <p:nvSpPr>
          <p:cNvPr id="19" name="Shape 17"/>
          <p:cNvSpPr/>
          <p:nvPr/>
        </p:nvSpPr>
        <p:spPr>
          <a:xfrm>
            <a:off x="640080" y="3566160"/>
            <a:ext cx="5394960" cy="1261872"/>
          </a:xfrm>
          <a:prstGeom prst="roundRect">
            <a:avLst>
              <a:gd name="adj" fmla="val 4348"/>
            </a:avLst>
          </a:prstGeom>
          <a:solidFill>
            <a:srgbClr val="FFFFFF"/>
          </a:solidFill>
          <a:ln w="10160">
            <a:solidFill>
              <a:srgbClr val="DCE5EE"/>
            </a:solidFill>
            <a:prstDash val="solid"/>
          </a:ln>
        </p:spPr>
      </p:sp>
      <p:sp>
        <p:nvSpPr>
          <p:cNvPr id="20" name="Shape 18"/>
          <p:cNvSpPr/>
          <p:nvPr/>
        </p:nvSpPr>
        <p:spPr>
          <a:xfrm>
            <a:off x="640080" y="3566160"/>
            <a:ext cx="5394960" cy="0"/>
          </a:xfrm>
          <a:prstGeom prst="line">
            <a:avLst/>
          </a:prstGeom>
          <a:noFill/>
          <a:ln w="38100">
            <a:solidFill>
              <a:srgbClr val="533AFD"/>
            </a:solidFill>
            <a:prstDash val="solid"/>
            <a:headEnd type="none"/>
            <a:tailEnd type="none"/>
          </a:ln>
        </p:spPr>
      </p:sp>
      <p:sp>
        <p:nvSpPr>
          <p:cNvPr id="21" name="Text 19"/>
          <p:cNvSpPr txBox="1"/>
          <p:nvPr/>
        </p:nvSpPr>
        <p:spPr>
          <a:xfrm>
            <a:off x="822960" y="3712464"/>
            <a:ext cx="502920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미검증 주장 0건</a:t>
            </a:r>
            <a:endParaRPr lang="en-US" sz="1400" dirty="0"/>
          </a:p>
        </p:txBody>
      </p:sp>
      <p:sp>
        <p:nvSpPr>
          <p:cNvPr id="22" name="Shape 20"/>
          <p:cNvSpPr/>
          <p:nvPr/>
        </p:nvSpPr>
        <p:spPr>
          <a:xfrm>
            <a:off x="4480560" y="3566160"/>
            <a:ext cx="5394960" cy="1261872"/>
          </a:xfrm>
          <a:prstGeom prst="roundRect">
            <a:avLst>
              <a:gd name="adj" fmla="val 4348"/>
            </a:avLst>
          </a:prstGeom>
          <a:solidFill>
            <a:srgbClr val="FFFFFF"/>
          </a:solidFill>
          <a:ln w="10160">
            <a:solidFill>
              <a:srgbClr val="DCE5EE"/>
            </a:solidFill>
            <a:prstDash val="solid"/>
          </a:ln>
        </p:spPr>
      </p:sp>
      <p:sp>
        <p:nvSpPr>
          <p:cNvPr id="23" name="Shape 21"/>
          <p:cNvSpPr/>
          <p:nvPr/>
        </p:nvSpPr>
        <p:spPr>
          <a:xfrm>
            <a:off x="4480560" y="3566160"/>
            <a:ext cx="5394960" cy="0"/>
          </a:xfrm>
          <a:prstGeom prst="line">
            <a:avLst/>
          </a:prstGeom>
          <a:noFill/>
          <a:ln w="38100">
            <a:solidFill>
              <a:srgbClr val="C73555"/>
            </a:solidFill>
            <a:prstDash val="solid"/>
            <a:headEnd type="none"/>
            <a:tailEnd type="none"/>
          </a:ln>
        </p:spPr>
      </p:sp>
      <p:sp>
        <p:nvSpPr>
          <p:cNvPr id="24" name="Text 22"/>
          <p:cNvSpPr txBox="1"/>
          <p:nvPr/>
        </p:nvSpPr>
        <p:spPr>
          <a:xfrm>
            <a:off x="4663440" y="3712464"/>
            <a:ext cx="502920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알선 수수료 0원</a:t>
            </a:r>
            <a:endParaRPr lang="en-US" sz="1400" dirty="0"/>
          </a:p>
        </p:txBody>
      </p:sp>
      <p:sp>
        <p:nvSpPr>
          <p:cNvPr id="25" name="Slide Number Placeholder 0"/>
          <p:cNvSpPr>
            <a:spLocks noGrp="1"/>
          </p:cNvSpPr>
          <p:nvPr>
            <p:ph type="sldNum" sz="quarter" idx="4294967295"/>
          </p:nvPr>
        </p:nvSpPr>
        <p:spPr>
          <a:xfrm>
            <a:off x="530352" y="6556248"/>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8A97A5"/>
                </a:solidFill>
                <a:latin typeface="Source Code Pro"/>
                <a:ea typeface="Source Code Pro"/>
                <a:cs typeface="Source Code Pro"/>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30352" y="310896"/>
            <a:ext cx="4389120" cy="210312"/>
          </a:xfrm>
          <a:prstGeom prst="rect">
            <a:avLst/>
          </a:prstGeom>
          <a:noFill/>
          <a:ln/>
        </p:spPr>
        <p:txBody>
          <a:bodyPr wrap="square" lIns="0" tIns="0" rIns="0" bIns="0" rtlCol="0" anchor="ctr">
            <a:normAutofit/>
          </a:bodyPr>
          <a:lstStyle/>
          <a:p>
            <a:pPr algn="l" indent="0" marL="0">
              <a:lnSpc>
                <a:spcPct val="92000"/>
              </a:lnSpc>
              <a:buNone/>
            </a:pPr>
            <a:r>
              <a:rPr lang="en-US" sz="900" b="1" spc="140" kern="0" dirty="0">
                <a:solidFill>
                  <a:srgbClr val="533AFD"/>
                </a:solidFill>
                <a:latin typeface="Source Code Pro" pitchFamily="34" charset="0"/>
                <a:ea typeface="Source Code Pro" pitchFamily="34" charset="-122"/>
                <a:cs typeface="Source Code Pro" pitchFamily="34" charset="-120"/>
              </a:rPr>
              <a:t>결론 및 7대 부인 사항</a:t>
            </a:r>
            <a:endParaRPr lang="en-US" sz="900" dirty="0"/>
          </a:p>
        </p:txBody>
      </p:sp>
      <p:sp>
        <p:nvSpPr>
          <p:cNvPr id="3" name="Text 1"/>
          <p:cNvSpPr txBox="1"/>
          <p:nvPr/>
        </p:nvSpPr>
        <p:spPr>
          <a:xfrm>
            <a:off x="530352" y="566928"/>
            <a:ext cx="11018520" cy="512064"/>
          </a:xfrm>
          <a:prstGeom prst="rect">
            <a:avLst/>
          </a:prstGeom>
          <a:noFill/>
          <a:ln/>
        </p:spPr>
        <p:txBody>
          <a:bodyPr wrap="square" lIns="0" tIns="0" rIns="0" bIns="0" rtlCol="0" anchor="ctr">
            <a:normAutofit/>
          </a:bodyPr>
          <a:lstStyle/>
          <a:p>
            <a:pPr algn="l" indent="0" marL="0">
              <a:lnSpc>
                <a:spcPct val="92000"/>
              </a:lnSpc>
              <a:buNone/>
            </a:pPr>
            <a:r>
              <a:rPr lang="en-US" sz="2400" b="1" dirty="0">
                <a:solidFill>
                  <a:srgbClr val="061B31"/>
                </a:solidFill>
                <a:latin typeface="Noto Sans CJK KR" pitchFamily="34" charset="0"/>
                <a:ea typeface="Noto Sans CJK KR" pitchFamily="34" charset="-122"/>
                <a:cs typeface="Noto Sans CJK KR" pitchFamily="34" charset="-120"/>
              </a:rPr>
              <a:t>검증된 결론과 7대 명시적 부인 사항</a:t>
            </a:r>
            <a:endParaRPr lang="en-US" sz="2400" dirty="0"/>
          </a:p>
        </p:txBody>
      </p:sp>
      <p:sp>
        <p:nvSpPr>
          <p:cNvPr id="4" name="Shape 2"/>
          <p:cNvSpPr/>
          <p:nvPr/>
        </p:nvSpPr>
        <p:spPr>
          <a:xfrm>
            <a:off x="530352" y="1124712"/>
            <a:ext cx="960120" cy="0"/>
          </a:xfrm>
          <a:prstGeom prst="line">
            <a:avLst/>
          </a:prstGeom>
          <a:noFill/>
          <a:ln w="38100">
            <a:solidFill>
              <a:srgbClr val="533AFD"/>
            </a:solidFill>
            <a:prstDash val="solid"/>
            <a:headEnd type="none"/>
            <a:tailEnd type="none"/>
          </a:ln>
        </p:spPr>
      </p:sp>
      <p:sp>
        <p:nvSpPr>
          <p:cNvPr id="5" name="Text 3"/>
          <p:cNvSpPr txBox="1"/>
          <p:nvPr/>
        </p:nvSpPr>
        <p:spPr>
          <a:xfrm>
            <a:off x="4754880" y="6291072"/>
            <a:ext cx="6903720" cy="182880"/>
          </a:xfrm>
          <a:prstGeom prst="rect">
            <a:avLst/>
          </a:prstGeom>
          <a:noFill/>
          <a:ln/>
        </p:spPr>
        <p:txBody>
          <a:bodyPr wrap="square" lIns="0" tIns="0" rIns="0" bIns="0" rtlCol="0" anchor="ctr">
            <a:normAutofit/>
          </a:bodyPr>
          <a:lstStyle/>
          <a:p>
            <a:pPr algn="r" indent="0" marL="0">
              <a:lnSpc>
                <a:spcPct val="92000"/>
              </a:lnSpc>
              <a:buNone/>
            </a:pPr>
            <a:r>
              <a:rPr lang="en-US" sz="900" dirty="0">
                <a:solidFill>
                  <a:srgbClr val="8A97A5"/>
                </a:solidFill>
                <a:latin typeface="Source Code Pro" pitchFamily="34" charset="0"/>
                <a:ea typeface="Source Code Pro" pitchFamily="34" charset="-122"/>
                <a:cs typeface="Source Code Pro" pitchFamily="34" charset="-120"/>
              </a:rPr>
              <a:t>[S001] [S002] [S018] [S042] [S048] [S063–S069] [S078] [S089] [S093] [S094] [S099]</a:t>
            </a:r>
            <a:endParaRPr lang="en-US" sz="900" dirty="0"/>
          </a:p>
        </p:txBody>
      </p:sp>
      <p:sp>
        <p:nvSpPr>
          <p:cNvPr id="6" name="Text 4"/>
          <p:cNvSpPr txBox="1"/>
          <p:nvPr/>
        </p:nvSpPr>
        <p:spPr>
          <a:xfrm>
            <a:off x="530352" y="1325880"/>
            <a:ext cx="11018520" cy="502920"/>
          </a:xfrm>
          <a:prstGeom prst="rect">
            <a:avLst/>
          </a:prstGeom>
          <a:noFill/>
          <a:ln/>
        </p:spPr>
        <p:txBody>
          <a:bodyPr wrap="square" lIns="0" tIns="0" rIns="0" bIns="0" rtlCol="0" anchor="t">
            <a:normAutofit/>
          </a:bodyPr>
          <a:lstStyle/>
          <a:p>
            <a:pPr algn="l" indent="0" marL="0">
              <a:lnSpc>
                <a:spcPct val="92000"/>
              </a:lnSpc>
              <a:buNone/>
            </a:pPr>
            <a:r>
              <a:rPr lang="en-US" sz="2000" b="1" dirty="0">
                <a:solidFill>
                  <a:srgbClr val="061B31"/>
                </a:solidFill>
                <a:latin typeface="Noto Sans CJK KR" pitchFamily="34" charset="0"/>
                <a:ea typeface="Noto Sans CJK KR" pitchFamily="34" charset="-122"/>
                <a:cs typeface="Noto Sans CJK KR" pitchFamily="34" charset="-120"/>
              </a:rPr>
              <a:t>제품은 절차적 단절 완화를 도울 뿐 완전히 해결하지는 못한다.</a:t>
            </a:r>
            <a:endParaRPr lang="en-US" sz="2000" dirty="0"/>
          </a:p>
        </p:txBody>
      </p:sp>
      <p:sp>
        <p:nvSpPr>
          <p:cNvPr id="7" name="Shape 5"/>
          <p:cNvSpPr/>
          <p:nvPr/>
        </p:nvSpPr>
        <p:spPr>
          <a:xfrm>
            <a:off x="640080" y="1965960"/>
            <a:ext cx="5349240" cy="1417320"/>
          </a:xfrm>
          <a:prstGeom prst="roundRect">
            <a:avLst>
              <a:gd name="adj" fmla="val 3871"/>
            </a:avLst>
          </a:prstGeom>
          <a:solidFill>
            <a:srgbClr val="FFFFFF"/>
          </a:solidFill>
          <a:ln w="10160">
            <a:solidFill>
              <a:srgbClr val="DCE5EE"/>
            </a:solidFill>
            <a:prstDash val="solid"/>
          </a:ln>
        </p:spPr>
      </p:sp>
      <p:sp>
        <p:nvSpPr>
          <p:cNvPr id="8" name="Shape 6"/>
          <p:cNvSpPr/>
          <p:nvPr/>
        </p:nvSpPr>
        <p:spPr>
          <a:xfrm>
            <a:off x="640080" y="1965960"/>
            <a:ext cx="5349240" cy="0"/>
          </a:xfrm>
          <a:prstGeom prst="line">
            <a:avLst/>
          </a:prstGeom>
          <a:noFill/>
          <a:ln w="38100">
            <a:solidFill>
              <a:srgbClr val="168A52"/>
            </a:solidFill>
            <a:prstDash val="solid"/>
            <a:headEnd type="none"/>
            <a:tailEnd type="none"/>
          </a:ln>
        </p:spPr>
      </p:sp>
      <p:sp>
        <p:nvSpPr>
          <p:cNvPr id="9" name="Text 7"/>
          <p:cNvSpPr txBox="1"/>
          <p:nvPr/>
        </p:nvSpPr>
        <p:spPr>
          <a:xfrm>
            <a:off x="822960" y="2112264"/>
            <a:ext cx="498348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변경 감지·추적</a:t>
            </a:r>
            <a:endParaRPr lang="en-US" sz="1400" dirty="0"/>
          </a:p>
        </p:txBody>
      </p:sp>
      <p:sp>
        <p:nvSpPr>
          <p:cNvPr id="10" name="Text 8"/>
          <p:cNvSpPr txBox="1"/>
          <p:nvPr/>
        </p:nvSpPr>
        <p:spPr>
          <a:xfrm>
            <a:off x="822960" y="2478024"/>
            <a:ext cx="4983480" cy="758952"/>
          </a:xfrm>
          <a:prstGeom prst="rect">
            <a:avLst/>
          </a:prstGeom>
          <a:noFill/>
          <a:ln/>
        </p:spPr>
        <p:txBody>
          <a:bodyPr wrap="square" lIns="0" tIns="0" rIns="0" bIns="0" rtlCol="0" anchor="t">
            <a:normAutofit/>
          </a:bodyPr>
          <a:lstStyle/>
          <a:p>
            <a:pPr algn="l" indent="0" marL="0">
              <a:lnSpc>
                <a:spcPct val="92000"/>
              </a:lnSpc>
              <a:buNone/>
            </a:pPr>
            <a:r>
              <a:rPr lang="en-US" sz="1250" dirty="0">
                <a:solidFill>
                  <a:srgbClr val="526274"/>
                </a:solidFill>
                <a:latin typeface="Noto Sans CJK KR" pitchFamily="34" charset="0"/>
                <a:ea typeface="Noto Sans CJK KR" pitchFamily="34" charset="-122"/>
                <a:cs typeface="Noto Sans CJK KR" pitchFamily="34" charset="-120"/>
              </a:rPr>
              <a:t>핵심은 수집 후 변경 감지·출처 추적이며 무결성 보장이 아니다.</a:t>
            </a:r>
            <a:endParaRPr lang="en-US" sz="1250" dirty="0"/>
          </a:p>
        </p:txBody>
      </p:sp>
      <p:sp>
        <p:nvSpPr>
          <p:cNvPr id="11" name="Shape 9"/>
          <p:cNvSpPr/>
          <p:nvPr/>
        </p:nvSpPr>
        <p:spPr>
          <a:xfrm>
            <a:off x="6355080" y="1965960"/>
            <a:ext cx="5349240" cy="1417320"/>
          </a:xfrm>
          <a:prstGeom prst="roundRect">
            <a:avLst>
              <a:gd name="adj" fmla="val 3871"/>
            </a:avLst>
          </a:prstGeom>
          <a:solidFill>
            <a:srgbClr val="FFFFFF"/>
          </a:solidFill>
          <a:ln w="10160">
            <a:solidFill>
              <a:srgbClr val="DCE5EE"/>
            </a:solidFill>
            <a:prstDash val="solid"/>
          </a:ln>
        </p:spPr>
      </p:sp>
      <p:sp>
        <p:nvSpPr>
          <p:cNvPr id="12" name="Shape 10"/>
          <p:cNvSpPr/>
          <p:nvPr/>
        </p:nvSpPr>
        <p:spPr>
          <a:xfrm>
            <a:off x="6355080" y="1965960"/>
            <a:ext cx="5349240" cy="0"/>
          </a:xfrm>
          <a:prstGeom prst="line">
            <a:avLst/>
          </a:prstGeom>
          <a:noFill/>
          <a:ln w="38100">
            <a:solidFill>
              <a:srgbClr val="168A52"/>
            </a:solidFill>
            <a:prstDash val="solid"/>
            <a:headEnd type="none"/>
            <a:tailEnd type="none"/>
          </a:ln>
        </p:spPr>
      </p:sp>
      <p:sp>
        <p:nvSpPr>
          <p:cNvPr id="13" name="Text 11"/>
          <p:cNvSpPr txBox="1"/>
          <p:nvPr/>
        </p:nvSpPr>
        <p:spPr>
          <a:xfrm>
            <a:off x="6537960" y="2112264"/>
            <a:ext cx="498348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면책 규정 미발견</a:t>
            </a:r>
            <a:endParaRPr lang="en-US" sz="1400" dirty="0"/>
          </a:p>
        </p:txBody>
      </p:sp>
      <p:sp>
        <p:nvSpPr>
          <p:cNvPr id="14" name="Text 12"/>
          <p:cNvSpPr txBox="1"/>
          <p:nvPr/>
        </p:nvSpPr>
        <p:spPr>
          <a:xfrm>
            <a:off x="6537960" y="2478024"/>
            <a:ext cx="4983480" cy="758952"/>
          </a:xfrm>
          <a:prstGeom prst="rect">
            <a:avLst/>
          </a:prstGeom>
          <a:noFill/>
          <a:ln/>
        </p:spPr>
        <p:txBody>
          <a:bodyPr wrap="square" lIns="0" tIns="0" rIns="0" bIns="0" rtlCol="0" anchor="t">
            <a:normAutofit/>
          </a:bodyPr>
          <a:lstStyle/>
          <a:p>
            <a:pPr algn="l" indent="0" marL="0">
              <a:lnSpc>
                <a:spcPct val="92000"/>
              </a:lnSpc>
              <a:buNone/>
            </a:pPr>
            <a:r>
              <a:rPr lang="en-US" sz="1250" dirty="0">
                <a:solidFill>
                  <a:srgbClr val="526274"/>
                </a:solidFill>
                <a:latin typeface="Noto Sans CJK KR" pitchFamily="34" charset="0"/>
                <a:ea typeface="Noto Sans CJK KR" pitchFamily="34" charset="-122"/>
                <a:cs typeface="Noto Sans CJK KR" pitchFamily="34" charset="-120"/>
              </a:rPr>
              <a:t>AI 전용 Safe Harbor 미발견 및 회수 효과 증가 미검증.</a:t>
            </a:r>
            <a:endParaRPr lang="en-US" sz="1250" dirty="0"/>
          </a:p>
        </p:txBody>
      </p:sp>
      <p:sp>
        <p:nvSpPr>
          <p:cNvPr id="15" name="Shape 13"/>
          <p:cNvSpPr/>
          <p:nvPr/>
        </p:nvSpPr>
        <p:spPr>
          <a:xfrm>
            <a:off x="640080" y="3703320"/>
            <a:ext cx="5349240" cy="1417320"/>
          </a:xfrm>
          <a:prstGeom prst="roundRect">
            <a:avLst>
              <a:gd name="adj" fmla="val 3871"/>
            </a:avLst>
          </a:prstGeom>
          <a:solidFill>
            <a:srgbClr val="FFFFFF"/>
          </a:solidFill>
          <a:ln w="10160">
            <a:solidFill>
              <a:srgbClr val="DCE5EE"/>
            </a:solidFill>
            <a:prstDash val="solid"/>
          </a:ln>
        </p:spPr>
      </p:sp>
      <p:sp>
        <p:nvSpPr>
          <p:cNvPr id="16" name="Shape 14"/>
          <p:cNvSpPr/>
          <p:nvPr/>
        </p:nvSpPr>
        <p:spPr>
          <a:xfrm>
            <a:off x="640080" y="3703320"/>
            <a:ext cx="5349240" cy="0"/>
          </a:xfrm>
          <a:prstGeom prst="line">
            <a:avLst/>
          </a:prstGeom>
          <a:noFill/>
          <a:ln w="38100">
            <a:solidFill>
              <a:srgbClr val="A66712"/>
            </a:solidFill>
            <a:prstDash val="solid"/>
            <a:headEnd type="none"/>
            <a:tailEnd type="none"/>
          </a:ln>
        </p:spPr>
      </p:sp>
      <p:sp>
        <p:nvSpPr>
          <p:cNvPr id="17" name="Text 15"/>
          <p:cNvSpPr txBox="1"/>
          <p:nvPr/>
        </p:nvSpPr>
        <p:spPr>
          <a:xfrm>
            <a:off x="822960" y="3849624"/>
            <a:ext cx="498348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회수 효과 미검증</a:t>
            </a:r>
            <a:endParaRPr lang="en-US" sz="1400" dirty="0"/>
          </a:p>
        </p:txBody>
      </p:sp>
      <p:sp>
        <p:nvSpPr>
          <p:cNvPr id="18" name="Text 16"/>
          <p:cNvSpPr txBox="1"/>
          <p:nvPr/>
        </p:nvSpPr>
        <p:spPr>
          <a:xfrm>
            <a:off x="822960" y="4215384"/>
            <a:ext cx="4983480" cy="758952"/>
          </a:xfrm>
          <a:prstGeom prst="rect">
            <a:avLst/>
          </a:prstGeom>
          <a:noFill/>
          <a:ln/>
        </p:spPr>
        <p:txBody>
          <a:bodyPr wrap="square" lIns="0" tIns="0" rIns="0" bIns="0" rtlCol="0" anchor="t">
            <a:normAutofit/>
          </a:bodyPr>
          <a:lstStyle/>
          <a:p>
            <a:pPr algn="l" indent="0" marL="0">
              <a:lnSpc>
                <a:spcPct val="92000"/>
              </a:lnSpc>
              <a:buNone/>
            </a:pPr>
            <a:r>
              <a:rPr lang="en-US" sz="1250" dirty="0">
                <a:solidFill>
                  <a:srgbClr val="526274"/>
                </a:solidFill>
                <a:latin typeface="Noto Sans CJK KR" pitchFamily="34" charset="0"/>
                <a:ea typeface="Noto Sans CJK KR" pitchFamily="34" charset="-122"/>
                <a:cs typeface="Noto Sans CJK KR" pitchFamily="34" charset="-120"/>
              </a:rPr>
              <a:t>절차 단절 완화를 도울 뿐 법적·기술적 7대 한계를 명시한다.</a:t>
            </a:r>
            <a:endParaRPr lang="en-US" sz="1250" dirty="0"/>
          </a:p>
        </p:txBody>
      </p:sp>
      <p:sp>
        <p:nvSpPr>
          <p:cNvPr id="19" name="Shape 17"/>
          <p:cNvSpPr/>
          <p:nvPr/>
        </p:nvSpPr>
        <p:spPr>
          <a:xfrm>
            <a:off x="6355080" y="3703320"/>
            <a:ext cx="5349240" cy="1417320"/>
          </a:xfrm>
          <a:prstGeom prst="roundRect">
            <a:avLst>
              <a:gd name="adj" fmla="val 3871"/>
            </a:avLst>
          </a:prstGeom>
          <a:solidFill>
            <a:srgbClr val="FFFFFF"/>
          </a:solidFill>
          <a:ln w="10160">
            <a:solidFill>
              <a:srgbClr val="DCE5EE"/>
            </a:solidFill>
            <a:prstDash val="solid"/>
          </a:ln>
        </p:spPr>
      </p:sp>
      <p:sp>
        <p:nvSpPr>
          <p:cNvPr id="20" name="Shape 18"/>
          <p:cNvSpPr/>
          <p:nvPr/>
        </p:nvSpPr>
        <p:spPr>
          <a:xfrm>
            <a:off x="6355080" y="3703320"/>
            <a:ext cx="5349240" cy="0"/>
          </a:xfrm>
          <a:prstGeom prst="line">
            <a:avLst/>
          </a:prstGeom>
          <a:noFill/>
          <a:ln w="38100">
            <a:solidFill>
              <a:srgbClr val="A66712"/>
            </a:solidFill>
            <a:prstDash val="solid"/>
            <a:headEnd type="none"/>
            <a:tailEnd type="none"/>
          </a:ln>
        </p:spPr>
      </p:sp>
      <p:sp>
        <p:nvSpPr>
          <p:cNvPr id="21" name="Text 19"/>
          <p:cNvSpPr txBox="1"/>
          <p:nvPr/>
        </p:nvSpPr>
        <p:spPr>
          <a:xfrm>
            <a:off x="6537960" y="3849624"/>
            <a:ext cx="4983480" cy="301752"/>
          </a:xfrm>
          <a:prstGeom prst="rect">
            <a:avLst/>
          </a:prstGeom>
          <a:noFill/>
          <a:ln/>
        </p:spPr>
        <p:txBody>
          <a:bodyPr wrap="square" lIns="0" tIns="0" rIns="0" bIns="0" rtlCol="0" anchor="ctr">
            <a:normAutofit/>
          </a:bodyPr>
          <a:lstStyle/>
          <a:p>
            <a:pPr algn="l" indent="0" marL="0">
              <a:lnSpc>
                <a:spcPct val="92000"/>
              </a:lnSpc>
              <a:buNone/>
            </a:pPr>
            <a:r>
              <a:rPr lang="en-US" sz="1400" b="1" dirty="0">
                <a:solidFill>
                  <a:srgbClr val="061B31"/>
                </a:solidFill>
                <a:latin typeface="Noto Sans CJK KR" pitchFamily="34" charset="0"/>
                <a:ea typeface="Noto Sans CJK KR" pitchFamily="34" charset="-122"/>
                <a:cs typeface="Noto Sans CJK KR" pitchFamily="34" charset="-120"/>
              </a:rPr>
              <a:t>단절 완화 도모</a:t>
            </a:r>
            <a:endParaRPr lang="en-US" sz="1400" dirty="0"/>
          </a:p>
        </p:txBody>
      </p:sp>
      <p:sp>
        <p:nvSpPr>
          <p:cNvPr id="25" name="Slide Number Placeholder 0"/>
          <p:cNvSpPr>
            <a:spLocks noGrp="1"/>
          </p:cNvSpPr>
          <p:nvPr>
            <p:ph type="sldNum" sz="quarter" idx="4294967295"/>
          </p:nvPr>
        </p:nvSpPr>
        <p:spPr>
          <a:xfrm>
            <a:off x="530352" y="6556248"/>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8A97A5"/>
                </a:solidFill>
                <a:latin typeface="Source Code Pro"/>
                <a:ea typeface="Source Code Pro"/>
                <a:cs typeface="Source Code Pro"/>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30352" y="310896"/>
            <a:ext cx="4389120" cy="210312"/>
          </a:xfrm>
          <a:prstGeom prst="rect">
            <a:avLst/>
          </a:prstGeom>
          <a:noFill/>
          <a:ln/>
        </p:spPr>
        <p:txBody>
          <a:bodyPr wrap="square" lIns="0" tIns="0" rIns="0" bIns="0" rtlCol="0" anchor="ctr">
            <a:normAutofit/>
          </a:bodyPr>
          <a:lstStyle/>
          <a:p>
            <a:pPr algn="l" indent="0" marL="0">
              <a:lnSpc>
                <a:spcPct val="92000"/>
              </a:lnSpc>
              <a:buNone/>
            </a:pPr>
            <a:r>
              <a:rPr lang="en-US" sz="900" b="1" spc="140" kern="0" dirty="0">
                <a:solidFill>
                  <a:srgbClr val="533AFD"/>
                </a:solidFill>
                <a:latin typeface="Source Code Pro" pitchFamily="34" charset="0"/>
                <a:ea typeface="Source Code Pro" pitchFamily="34" charset="-122"/>
                <a:cs typeface="Source Code Pro" pitchFamily="34" charset="-120"/>
              </a:rPr>
              <a:t>연구 방법론 및 토론</a:t>
            </a:r>
            <a:endParaRPr lang="en-US" sz="900" dirty="0"/>
          </a:p>
        </p:txBody>
      </p:sp>
      <p:sp>
        <p:nvSpPr>
          <p:cNvPr id="3" name="Text 1"/>
          <p:cNvSpPr txBox="1"/>
          <p:nvPr/>
        </p:nvSpPr>
        <p:spPr>
          <a:xfrm>
            <a:off x="530352" y="566928"/>
            <a:ext cx="11018520" cy="512064"/>
          </a:xfrm>
          <a:prstGeom prst="rect">
            <a:avLst/>
          </a:prstGeom>
          <a:noFill/>
          <a:ln/>
        </p:spPr>
        <p:txBody>
          <a:bodyPr wrap="square" lIns="0" tIns="0" rIns="0" bIns="0" rtlCol="0" anchor="ctr">
            <a:normAutofit/>
          </a:bodyPr>
          <a:lstStyle/>
          <a:p>
            <a:pPr algn="l" indent="0" marL="0">
              <a:lnSpc>
                <a:spcPct val="92000"/>
              </a:lnSpc>
              <a:buNone/>
            </a:pPr>
            <a:r>
              <a:rPr lang="en-US" sz="2400" b="1" dirty="0">
                <a:solidFill>
                  <a:srgbClr val="061B31"/>
                </a:solidFill>
                <a:latin typeface="Noto Sans CJK KR" pitchFamily="34" charset="0"/>
                <a:ea typeface="Noto Sans CJK KR" pitchFamily="34" charset="-122"/>
                <a:cs typeface="Noto Sans CJK KR" pitchFamily="34" charset="-120"/>
              </a:rPr>
              <a:t>보고서 기재: 14인 연구진·2회 조사</a:t>
            </a:r>
            <a:endParaRPr lang="en-US" sz="2400" dirty="0"/>
          </a:p>
        </p:txBody>
      </p:sp>
      <p:sp>
        <p:nvSpPr>
          <p:cNvPr id="4" name="Shape 2"/>
          <p:cNvSpPr/>
          <p:nvPr/>
        </p:nvSpPr>
        <p:spPr>
          <a:xfrm>
            <a:off x="530352" y="1124712"/>
            <a:ext cx="960120" cy="0"/>
          </a:xfrm>
          <a:prstGeom prst="line">
            <a:avLst/>
          </a:prstGeom>
          <a:noFill/>
          <a:ln w="38100">
            <a:solidFill>
              <a:srgbClr val="533AFD"/>
            </a:solidFill>
            <a:prstDash val="solid"/>
            <a:headEnd type="none"/>
            <a:tailEnd type="none"/>
          </a:ln>
        </p:spPr>
      </p:sp>
      <p:sp>
        <p:nvSpPr>
          <p:cNvPr id="5" name="Text 3"/>
          <p:cNvSpPr txBox="1"/>
          <p:nvPr/>
        </p:nvSpPr>
        <p:spPr>
          <a:xfrm>
            <a:off x="4754880" y="6291072"/>
            <a:ext cx="6903720" cy="182880"/>
          </a:xfrm>
          <a:prstGeom prst="rect">
            <a:avLst/>
          </a:prstGeom>
          <a:noFill/>
          <a:ln/>
        </p:spPr>
        <p:txBody>
          <a:bodyPr wrap="square" lIns="0" tIns="0" rIns="0" bIns="0" rtlCol="0" anchor="ctr">
            <a:normAutofit/>
          </a:bodyPr>
          <a:lstStyle/>
          <a:p>
            <a:pPr algn="r" indent="0" marL="0">
              <a:lnSpc>
                <a:spcPct val="92000"/>
              </a:lnSpc>
              <a:buNone/>
            </a:pPr>
            <a:r>
              <a:rPr lang="en-US" sz="900" dirty="0">
                <a:solidFill>
                  <a:srgbClr val="8A97A5"/>
                </a:solidFill>
                <a:latin typeface="Source Code Pro" pitchFamily="34" charset="0"/>
                <a:ea typeface="Source Code Pro" pitchFamily="34" charset="-122"/>
                <a:cs typeface="Source Code Pro" pitchFamily="34" charset="-120"/>
              </a:rPr>
              <a:t>[S001] [S002]</a:t>
            </a:r>
            <a:endParaRPr lang="en-US" sz="900" dirty="0"/>
          </a:p>
        </p:txBody>
      </p:sp>
      <p:sp>
        <p:nvSpPr>
          <p:cNvPr id="6" name="Text 4"/>
          <p:cNvSpPr txBox="1"/>
          <p:nvPr/>
        </p:nvSpPr>
        <p:spPr>
          <a:xfrm>
            <a:off x="530352" y="1325880"/>
            <a:ext cx="11018520" cy="502920"/>
          </a:xfrm>
          <a:prstGeom prst="rect">
            <a:avLst/>
          </a:prstGeom>
          <a:noFill/>
          <a:ln/>
        </p:spPr>
        <p:txBody>
          <a:bodyPr wrap="square" lIns="0" tIns="0" rIns="0" bIns="0" rtlCol="0" anchor="t">
            <a:normAutofit/>
          </a:bodyPr>
          <a:lstStyle/>
          <a:p>
            <a:pPr algn="l" indent="0" marL="0">
              <a:lnSpc>
                <a:spcPct val="92000"/>
              </a:lnSpc>
              <a:buNone/>
            </a:pPr>
            <a:r>
              <a:rPr lang="en-US" sz="2000" b="1" dirty="0">
                <a:solidFill>
                  <a:srgbClr val="061B31"/>
                </a:solidFill>
                <a:latin typeface="Noto Sans CJK KR" pitchFamily="34" charset="0"/>
                <a:ea typeface="Noto Sans CJK KR" pitchFamily="34" charset="-122"/>
                <a:cs typeface="Noto Sans CJK KR" pitchFamily="34" charset="-120"/>
              </a:rPr>
              <a:t>S001-S102 출처 레저는 동등 품질 증명이 아니며 3가지 토론을 제안한다.</a:t>
            </a:r>
            <a:endParaRPr lang="en-US" sz="2000" dirty="0"/>
          </a:p>
        </p:txBody>
      </p:sp>
      <p:sp>
        <p:nvSpPr>
          <p:cNvPr id="7" name="Shape 5"/>
          <p:cNvSpPr/>
          <p:nvPr/>
        </p:nvSpPr>
        <p:spPr>
          <a:xfrm>
            <a:off x="594360" y="1874520"/>
            <a:ext cx="1828800" cy="1234440"/>
          </a:xfrm>
          <a:prstGeom prst="roundRect">
            <a:avLst>
              <a:gd name="adj" fmla="val 4444"/>
            </a:avLst>
          </a:prstGeom>
          <a:solidFill>
            <a:srgbClr val="1C1E54"/>
          </a:solidFill>
          <a:ln w="10160">
            <a:solidFill>
              <a:srgbClr val="1C1E54"/>
            </a:solidFill>
            <a:prstDash val="solid"/>
          </a:ln>
        </p:spPr>
      </p:sp>
      <p:sp>
        <p:nvSpPr>
          <p:cNvPr id="8" name="Text 6"/>
          <p:cNvSpPr txBox="1"/>
          <p:nvPr/>
        </p:nvSpPr>
        <p:spPr>
          <a:xfrm>
            <a:off x="731520" y="2121408"/>
            <a:ext cx="1554480" cy="640080"/>
          </a:xfrm>
          <a:prstGeom prst="rect">
            <a:avLst/>
          </a:prstGeom>
          <a:noFill/>
          <a:ln/>
        </p:spPr>
        <p:txBody>
          <a:bodyPr wrap="square" lIns="0" tIns="0" rIns="0" bIns="0" rtlCol="0" anchor="ctr">
            <a:normAutofit/>
          </a:bodyPr>
          <a:lstStyle/>
          <a:p>
            <a:pPr algn="ctr" indent="0" marL="0">
              <a:lnSpc>
                <a:spcPct val="92000"/>
              </a:lnSpc>
              <a:buNone/>
            </a:pPr>
            <a:r>
              <a:rPr lang="en-US" sz="1800" b="1" dirty="0">
                <a:solidFill>
                  <a:srgbClr val="FFFFFF"/>
                </a:solidFill>
                <a:latin typeface="Source Code Pro" pitchFamily="34" charset="0"/>
                <a:ea typeface="Source Code Pro" pitchFamily="34" charset="-122"/>
                <a:cs typeface="Source Code Pro" pitchFamily="34" charset="-120"/>
              </a:rPr>
              <a:t>14인·2회 조사</a:t>
            </a:r>
            <a:endParaRPr lang="en-US" sz="1800" dirty="0"/>
          </a:p>
        </p:txBody>
      </p:sp>
      <p:sp>
        <p:nvSpPr>
          <p:cNvPr id="9" name="Shape 7"/>
          <p:cNvSpPr/>
          <p:nvPr/>
        </p:nvSpPr>
        <p:spPr>
          <a:xfrm>
            <a:off x="2651760" y="1874520"/>
            <a:ext cx="1828800" cy="1234440"/>
          </a:xfrm>
          <a:prstGeom prst="roundRect">
            <a:avLst>
              <a:gd name="adj" fmla="val 4444"/>
            </a:avLst>
          </a:prstGeom>
          <a:solidFill>
            <a:srgbClr val="1C1E54"/>
          </a:solidFill>
          <a:ln w="10160">
            <a:solidFill>
              <a:srgbClr val="1C1E54"/>
            </a:solidFill>
            <a:prstDash val="solid"/>
          </a:ln>
        </p:spPr>
      </p:sp>
      <p:sp>
        <p:nvSpPr>
          <p:cNvPr id="10" name="Text 8"/>
          <p:cNvSpPr txBox="1"/>
          <p:nvPr/>
        </p:nvSpPr>
        <p:spPr>
          <a:xfrm>
            <a:off x="2788920" y="2121408"/>
            <a:ext cx="1554480" cy="640080"/>
          </a:xfrm>
          <a:prstGeom prst="rect">
            <a:avLst/>
          </a:prstGeom>
          <a:noFill/>
          <a:ln/>
        </p:spPr>
        <p:txBody>
          <a:bodyPr wrap="square" lIns="0" tIns="0" rIns="0" bIns="0" rtlCol="0" anchor="ctr">
            <a:normAutofit/>
          </a:bodyPr>
          <a:lstStyle/>
          <a:p>
            <a:pPr algn="ctr" indent="0" marL="0">
              <a:lnSpc>
                <a:spcPct val="92000"/>
              </a:lnSpc>
              <a:buNone/>
            </a:pPr>
            <a:r>
              <a:rPr lang="en-US" sz="1800" b="1" dirty="0">
                <a:solidFill>
                  <a:srgbClr val="FFFFFF"/>
                </a:solidFill>
                <a:latin typeface="Source Code Pro" pitchFamily="34" charset="0"/>
                <a:ea typeface="Source Code Pro" pitchFamily="34" charset="-122"/>
                <a:cs typeface="Source Code Pro" pitchFamily="34" charset="-120"/>
              </a:rPr>
              <a:t>102개 출처</a:t>
            </a:r>
            <a:endParaRPr lang="en-US" sz="1800" dirty="0"/>
          </a:p>
        </p:txBody>
      </p:sp>
      <p:sp>
        <p:nvSpPr>
          <p:cNvPr id="11" name="Shape 9"/>
          <p:cNvSpPr/>
          <p:nvPr/>
        </p:nvSpPr>
        <p:spPr>
          <a:xfrm>
            <a:off x="4709160" y="1874520"/>
            <a:ext cx="1828800" cy="1234440"/>
          </a:xfrm>
          <a:prstGeom prst="roundRect">
            <a:avLst>
              <a:gd name="adj" fmla="val 4444"/>
            </a:avLst>
          </a:prstGeom>
          <a:solidFill>
            <a:srgbClr val="1C1E54"/>
          </a:solidFill>
          <a:ln w="10160">
            <a:solidFill>
              <a:srgbClr val="1C1E54"/>
            </a:solidFill>
            <a:prstDash val="solid"/>
          </a:ln>
        </p:spPr>
      </p:sp>
      <p:sp>
        <p:nvSpPr>
          <p:cNvPr id="12" name="Text 10"/>
          <p:cNvSpPr txBox="1"/>
          <p:nvPr/>
        </p:nvSpPr>
        <p:spPr>
          <a:xfrm>
            <a:off x="4846320" y="2121408"/>
            <a:ext cx="1554480" cy="640080"/>
          </a:xfrm>
          <a:prstGeom prst="rect">
            <a:avLst/>
          </a:prstGeom>
          <a:noFill/>
          <a:ln/>
        </p:spPr>
        <p:txBody>
          <a:bodyPr wrap="square" lIns="0" tIns="0" rIns="0" bIns="0" rtlCol="0" anchor="ctr">
            <a:normAutofit/>
          </a:bodyPr>
          <a:lstStyle/>
          <a:p>
            <a:pPr algn="ctr" indent="0" marL="0">
              <a:lnSpc>
                <a:spcPct val="92000"/>
              </a:lnSpc>
              <a:buNone/>
            </a:pPr>
            <a:r>
              <a:rPr lang="en-US" sz="1800" b="1" dirty="0">
                <a:solidFill>
                  <a:srgbClr val="FFFFFF"/>
                </a:solidFill>
                <a:latin typeface="Source Code Pro" pitchFamily="34" charset="0"/>
                <a:ea typeface="Source Code Pro" pitchFamily="34" charset="-122"/>
                <a:cs typeface="Source Code Pro" pitchFamily="34" charset="-120"/>
              </a:rPr>
              <a:t>동등 품질 미증명</a:t>
            </a:r>
            <a:endParaRPr lang="en-US" sz="1800" dirty="0"/>
          </a:p>
        </p:txBody>
      </p:sp>
      <p:sp>
        <p:nvSpPr>
          <p:cNvPr id="13" name="Text 11"/>
          <p:cNvSpPr txBox="1"/>
          <p:nvPr/>
        </p:nvSpPr>
        <p:spPr>
          <a:xfrm>
            <a:off x="7086600" y="1874520"/>
            <a:ext cx="4297680" cy="365760"/>
          </a:xfrm>
          <a:prstGeom prst="rect">
            <a:avLst/>
          </a:prstGeom>
          <a:noFill/>
          <a:ln/>
        </p:spPr>
        <p:txBody>
          <a:bodyPr wrap="square" lIns="0" tIns="0" rIns="0" bIns="0" rtlCol="0" anchor="ctr">
            <a:normAutofit/>
          </a:bodyPr>
          <a:lstStyle/>
          <a:p>
            <a:pPr algn="l" indent="0" marL="0">
              <a:lnSpc>
                <a:spcPct val="92000"/>
              </a:lnSpc>
              <a:buNone/>
            </a:pPr>
            <a:r>
              <a:rPr lang="en-US" sz="1500" b="1" dirty="0">
                <a:solidFill>
                  <a:srgbClr val="533AFD"/>
                </a:solidFill>
                <a:latin typeface="Noto Sans CJK KR" pitchFamily="34" charset="0"/>
                <a:ea typeface="Noto Sans CJK KR" pitchFamily="34" charset="-122"/>
                <a:cs typeface="Noto Sans CJK KR" pitchFamily="34" charset="-120"/>
              </a:rPr>
              <a:t>토론 질문</a:t>
            </a:r>
            <a:endParaRPr lang="en-US" sz="1500" dirty="0"/>
          </a:p>
        </p:txBody>
      </p:sp>
      <p:sp>
        <p:nvSpPr>
          <p:cNvPr id="14" name="Shape 12"/>
          <p:cNvSpPr/>
          <p:nvPr/>
        </p:nvSpPr>
        <p:spPr>
          <a:xfrm>
            <a:off x="7086600" y="2468880"/>
            <a:ext cx="82296" cy="82296"/>
          </a:xfrm>
          <a:prstGeom prst="ellipse">
            <a:avLst/>
          </a:prstGeom>
          <a:solidFill>
            <a:srgbClr val="533AFD"/>
          </a:solidFill>
          <a:ln w="12700">
            <a:solidFill>
              <a:srgbClr val="533AFD"/>
            </a:solidFill>
            <a:prstDash val="solid"/>
          </a:ln>
        </p:spPr>
      </p:sp>
      <p:sp>
        <p:nvSpPr>
          <p:cNvPr id="15" name="Text 13"/>
          <p:cNvSpPr txBox="1"/>
          <p:nvPr/>
        </p:nvSpPr>
        <p:spPr>
          <a:xfrm>
            <a:off x="7269480" y="2331720"/>
            <a:ext cx="4023360" cy="868680"/>
          </a:xfrm>
          <a:prstGeom prst="rect">
            <a:avLst/>
          </a:prstGeom>
          <a:noFill/>
          <a:ln/>
        </p:spPr>
        <p:txBody>
          <a:bodyPr wrap="square" lIns="0" tIns="0" rIns="0" bIns="0" rtlCol="0" anchor="ctr">
            <a:normAutofit/>
          </a:bodyPr>
          <a:lstStyle/>
          <a:p>
            <a:pPr algn="l" indent="0" marL="0">
              <a:lnSpc>
                <a:spcPct val="92000"/>
              </a:lnSpc>
              <a:buNone/>
            </a:pPr>
            <a:r>
              <a:rPr lang="en-US" sz="1350" dirty="0">
                <a:solidFill>
                  <a:srgbClr val="526274"/>
                </a:solidFill>
                <a:latin typeface="Noto Sans CJK KR" pitchFamily="34" charset="0"/>
                <a:ea typeface="Noto Sans CJK KR" pitchFamily="34" charset="-122"/>
                <a:cs typeface="Noto Sans CJK KR" pitchFamily="34" charset="-120"/>
              </a:rPr>
              <a:t>Q1. 비변호사 AI의 법률 안내 허용 경계는 어디까지인가?</a:t>
            </a:r>
            <a:endParaRPr lang="en-US" sz="1350" dirty="0"/>
          </a:p>
        </p:txBody>
      </p:sp>
      <p:sp>
        <p:nvSpPr>
          <p:cNvPr id="16" name="Shape 14"/>
          <p:cNvSpPr/>
          <p:nvPr/>
        </p:nvSpPr>
        <p:spPr>
          <a:xfrm>
            <a:off x="7086600" y="3337560"/>
            <a:ext cx="82296" cy="82296"/>
          </a:xfrm>
          <a:prstGeom prst="ellipse">
            <a:avLst/>
          </a:prstGeom>
          <a:solidFill>
            <a:srgbClr val="533AFD"/>
          </a:solidFill>
          <a:ln w="12700">
            <a:solidFill>
              <a:srgbClr val="533AFD"/>
            </a:solidFill>
            <a:prstDash val="solid"/>
          </a:ln>
        </p:spPr>
      </p:sp>
      <p:sp>
        <p:nvSpPr>
          <p:cNvPr id="17" name="Text 15"/>
          <p:cNvSpPr txBox="1"/>
          <p:nvPr/>
        </p:nvSpPr>
        <p:spPr>
          <a:xfrm>
            <a:off x="7269480" y="3200400"/>
            <a:ext cx="4023360" cy="868680"/>
          </a:xfrm>
          <a:prstGeom prst="rect">
            <a:avLst/>
          </a:prstGeom>
          <a:noFill/>
          <a:ln/>
        </p:spPr>
        <p:txBody>
          <a:bodyPr wrap="square" lIns="0" tIns="0" rIns="0" bIns="0" rtlCol="0" anchor="ctr">
            <a:normAutofit/>
          </a:bodyPr>
          <a:lstStyle/>
          <a:p>
            <a:pPr algn="l" indent="0" marL="0">
              <a:lnSpc>
                <a:spcPct val="92000"/>
              </a:lnSpc>
              <a:buNone/>
            </a:pPr>
            <a:r>
              <a:rPr lang="en-US" sz="1350" dirty="0">
                <a:solidFill>
                  <a:srgbClr val="526274"/>
                </a:solidFill>
                <a:latin typeface="Noto Sans CJK KR" pitchFamily="34" charset="0"/>
                <a:ea typeface="Noto Sans CJK KR" pitchFamily="34" charset="-122"/>
                <a:cs typeface="Noto Sans CJK KR" pitchFamily="34" charset="-120"/>
              </a:rPr>
              <a:t>Q2. 수집 후 해시·Provenance의 전자증거 신뢰성 의미는?</a:t>
            </a:r>
            <a:endParaRPr lang="en-US" sz="1350" dirty="0"/>
          </a:p>
        </p:txBody>
      </p:sp>
      <p:sp>
        <p:nvSpPr>
          <p:cNvPr id="18" name="Shape 16"/>
          <p:cNvSpPr/>
          <p:nvPr/>
        </p:nvSpPr>
        <p:spPr>
          <a:xfrm>
            <a:off x="7086600" y="4206240"/>
            <a:ext cx="82296" cy="82296"/>
          </a:xfrm>
          <a:prstGeom prst="ellipse">
            <a:avLst/>
          </a:prstGeom>
          <a:solidFill>
            <a:srgbClr val="533AFD"/>
          </a:solidFill>
          <a:ln w="12700">
            <a:solidFill>
              <a:srgbClr val="533AFD"/>
            </a:solidFill>
            <a:prstDash val="solid"/>
          </a:ln>
        </p:spPr>
      </p:sp>
      <p:sp>
        <p:nvSpPr>
          <p:cNvPr id="19" name="Text 17"/>
          <p:cNvSpPr txBox="1"/>
          <p:nvPr/>
        </p:nvSpPr>
        <p:spPr>
          <a:xfrm>
            <a:off x="7269480" y="4069080"/>
            <a:ext cx="4023360" cy="868680"/>
          </a:xfrm>
          <a:prstGeom prst="rect">
            <a:avLst/>
          </a:prstGeom>
          <a:noFill/>
          <a:ln/>
        </p:spPr>
        <p:txBody>
          <a:bodyPr wrap="square" lIns="0" tIns="0" rIns="0" bIns="0" rtlCol="0" anchor="ctr">
            <a:normAutofit/>
          </a:bodyPr>
          <a:lstStyle/>
          <a:p>
            <a:pPr algn="l" indent="0" marL="0">
              <a:lnSpc>
                <a:spcPct val="92000"/>
              </a:lnSpc>
              <a:buNone/>
            </a:pPr>
            <a:r>
              <a:rPr lang="en-US" sz="1350" dirty="0">
                <a:solidFill>
                  <a:srgbClr val="526274"/>
                </a:solidFill>
                <a:latin typeface="Noto Sans CJK KR" pitchFamily="34" charset="0"/>
                <a:ea typeface="Noto Sans CJK KR" pitchFamily="34" charset="-122"/>
                <a:cs typeface="Noto Sans CJK KR" pitchFamily="34" charset="-120"/>
              </a:rPr>
              <a:t>Q3. 공공 이관 패키지(Handoff) 표준화 방안은?</a:t>
            </a:r>
            <a:endParaRPr lang="en-US" sz="1350" dirty="0"/>
          </a:p>
        </p:txBody>
      </p:sp>
      <p:sp>
        <p:nvSpPr>
          <p:cNvPr id="20" name="Text 18"/>
          <p:cNvSpPr txBox="1"/>
          <p:nvPr/>
        </p:nvSpPr>
        <p:spPr>
          <a:xfrm>
            <a:off x="594360" y="3749040"/>
            <a:ext cx="5577840" cy="914400"/>
          </a:xfrm>
          <a:prstGeom prst="rect">
            <a:avLst/>
          </a:prstGeom>
          <a:noFill/>
          <a:ln/>
        </p:spPr>
        <p:txBody>
          <a:bodyPr wrap="square" lIns="0" tIns="0" rIns="0" bIns="0" rtlCol="0" anchor="t">
            <a:normAutofit/>
          </a:bodyPr>
          <a:lstStyle/>
          <a:p>
            <a:pPr algn="l" indent="0" marL="0">
              <a:lnSpc>
                <a:spcPct val="92000"/>
              </a:lnSpc>
              <a:buNone/>
            </a:pPr>
            <a:r>
              <a:rPr lang="en-US" sz="1700" b="1" dirty="0">
                <a:solidFill>
                  <a:srgbClr val="061B31"/>
                </a:solidFill>
                <a:latin typeface="Noto Sans CJK KR" pitchFamily="34" charset="0"/>
                <a:ea typeface="Noto Sans CJK KR" pitchFamily="34" charset="-122"/>
                <a:cs typeface="Noto Sans CJK KR" pitchFamily="34" charset="-120"/>
              </a:rPr>
              <a:t>S001-S102 출처 레저는 동등 품질 증명이 아니며 3가지 토론을 제안한다.</a:t>
            </a:r>
            <a:endParaRPr lang="en-US" sz="1700" dirty="0"/>
          </a:p>
        </p:txBody>
      </p:sp>
      <p:sp>
        <p:nvSpPr>
          <p:cNvPr id="25" name="Slide Number Placeholder 0"/>
          <p:cNvSpPr>
            <a:spLocks noGrp="1"/>
          </p:cNvSpPr>
          <p:nvPr>
            <p:ph type="sldNum" sz="quarter" idx="4294967295"/>
          </p:nvPr>
        </p:nvSpPr>
        <p:spPr>
          <a:xfrm>
            <a:off x="530352" y="6556248"/>
            <a:ext cx="457200" cy="146304"/>
          </a:xfrm>
          <a:prstGeom prst="rect">
            <a:avLst/>
          </a:prstGeom>
          <a:extLst>
            <a:ext uri="{C572A759-6A51-4108-AA02-DFA0A04FC94B}">
              <ma14:wrappingTextBoxFlag xmlns:ma14="http://schemas.microsoft.com/office/mac/drawingml/2011/main" val="0"/>
            </a:ext>
          </a:extLst>
        </p:spPr>
        <p:txBody>
          <a:bodyPr/>
          <a:lstStyle>
            <a:lvl1pPr>
              <a:defRPr sz="800">
                <a:solidFill>
                  <a:srgbClr val="8A97A5"/>
                </a:solidFill>
                <a:latin typeface="Source Code Pro"/>
                <a:ea typeface="Source Code Pro"/>
                <a:cs typeface="Source Code Pro"/>
              </a:defRPr>
            </a:lvl1pPr>
          </a:lstStyle>
          <a:p>
            <a:pPr algn="l"/>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학술소모임</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사용자 통제형 AI 증거·절차 내비게이터</dc:title>
  <dc:subject>소액 전자상거래 선입금 사기 피해 구제 AI 서비스</dc:subject>
  <dc:creator>이태규</dc:creator>
  <cp:lastModifiedBy>이태규</cp:lastModifiedBy>
  <cp:revision>1</cp:revision>
  <dcterms:created xsi:type="dcterms:W3CDTF">2026-08-11T10:33:24Z</dcterms:created>
  <dcterms:modified xsi:type="dcterms:W3CDTF">2026-08-11T10:33:24Z</dcterms:modified>
</cp:coreProperties>
</file>